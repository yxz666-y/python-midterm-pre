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08a8040180b49e2" Type="http://schemas.openxmlformats.org/package/2006/relationships/metadata/core-properties" Target="docProps/core.xml"/><Relationship Id="Rc1c81d22e2a24911" Type="http://schemas.openxmlformats.org/officeDocument/2006/relationships/extended-properties" Target="docProps/app.xml"/><Relationship Id="Rfff8833e216247a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d0008e3e3da04991"/>
  </p:sldMasterIdLst>
  <p:notesMasterIdLst>
    <p:notesMasterId xmlns:r="http://schemas.openxmlformats.org/officeDocument/2006/relationships" r:id="Rbae406bf48744422"/>
  </p:notesMasterIdLst>
  <p:sldIdLst>
    <p:sldId xmlns:r="http://schemas.openxmlformats.org/officeDocument/2006/relationships" id="256" r:id="R3ba92a64286447ad"/>
    <p:sldId xmlns:r="http://schemas.openxmlformats.org/officeDocument/2006/relationships" id="257" r:id="Rfd637bf3867e4fb4"/>
    <p:sldId xmlns:r="http://schemas.openxmlformats.org/officeDocument/2006/relationships" id="258" r:id="R2ab3a4dec0be43af"/>
    <p:sldId xmlns:r="http://schemas.openxmlformats.org/officeDocument/2006/relationships" id="259" r:id="Rf338326240344237"/>
    <p:sldId xmlns:r="http://schemas.openxmlformats.org/officeDocument/2006/relationships" id="260" r:id="R358d8b69a7d540ed"/>
    <p:sldId xmlns:r="http://schemas.openxmlformats.org/officeDocument/2006/relationships" id="261" r:id="Re377051b89414d2a"/>
    <p:sldId xmlns:r="http://schemas.openxmlformats.org/officeDocument/2006/relationships" id="262" r:id="R92a74af5dbe844a6"/>
    <p:sldId xmlns:r="http://schemas.openxmlformats.org/officeDocument/2006/relationships" id="263" r:id="R758081c1b8c848c6"/>
    <p:sldId xmlns:r="http://schemas.openxmlformats.org/officeDocument/2006/relationships" id="264" r:id="R57bb1ca1a0a84e58"/>
    <p:sldId xmlns:r="http://schemas.openxmlformats.org/officeDocument/2006/relationships" id="265" r:id="Rc73553a888d7468f"/>
    <p:sldId xmlns:r="http://schemas.openxmlformats.org/officeDocument/2006/relationships" id="266" r:id="R34ebc032c856472e"/>
    <p:sldId xmlns:r="http://schemas.openxmlformats.org/officeDocument/2006/relationships" id="267" r:id="R077df06c52394dc1"/>
    <p:sldId xmlns:r="http://schemas.openxmlformats.org/officeDocument/2006/relationships" id="268" r:id="R1b50c60a0fff4e72"/>
    <p:sldId xmlns:r="http://schemas.openxmlformats.org/officeDocument/2006/relationships" id="269" r:id="Rf920ad4b5ae7479e"/>
    <p:sldId xmlns:r="http://schemas.openxmlformats.org/officeDocument/2006/relationships" id="270" r:id="R1736fe5089c0479e"/>
    <p:sldId xmlns:r="http://schemas.openxmlformats.org/officeDocument/2006/relationships" id="271" r:id="Re27df1d571cf4362"/>
    <p:sldId xmlns:r="http://schemas.openxmlformats.org/officeDocument/2006/relationships" id="272" r:id="Rc369c5564d6a4fbe"/>
    <p:sldId xmlns:r="http://schemas.openxmlformats.org/officeDocument/2006/relationships" id="273" r:id="Rc1566b9650654ca4"/>
    <p:sldId xmlns:r="http://schemas.openxmlformats.org/officeDocument/2006/relationships" id="274" r:id="R9e6f19e38e9b403f"/>
    <p:sldId xmlns:r="http://schemas.openxmlformats.org/officeDocument/2006/relationships" id="275" r:id="R0cd6f7eed1874029"/>
    <p:sldId xmlns:r="http://schemas.openxmlformats.org/officeDocument/2006/relationships" id="276" r:id="R97488197f0374528"/>
    <p:sldId xmlns:ns0="http://schemas.openxmlformats.org/officeDocument/2006/relationships" id="277" ns0:id="rId27"/>
    <p:sldId xmlns:ns0="http://schemas.openxmlformats.org/officeDocument/2006/relationships" id="278" ns0:id="rId28"/>
    <p:sldId xmlns:ns0="http://schemas.openxmlformats.org/officeDocument/2006/relationships" id="279" ns0:id="rId2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7df06c52394dc1" Type="http://schemas.openxmlformats.org/officeDocument/2006/relationships/slide" Target="slides/slide12.xml"/><Relationship Id="R0cd6f7eed1874029" Type="http://schemas.openxmlformats.org/officeDocument/2006/relationships/slide" Target="slides/slide20.xml"/><Relationship Id="R1736fe5089c0479e" Type="http://schemas.openxmlformats.org/officeDocument/2006/relationships/slide" Target="slides/slide15.xml"/><Relationship Id="R1b50c60a0fff4e72" Type="http://schemas.openxmlformats.org/officeDocument/2006/relationships/slide" Target="slides/slide13.xml"/><Relationship Id="R2ab3a4dec0be43af" Type="http://schemas.openxmlformats.org/officeDocument/2006/relationships/slide" Target="slides/slide3.xml"/><Relationship Id="R34ebc032c856472e" Type="http://schemas.openxmlformats.org/officeDocument/2006/relationships/slide" Target="slides/slide11.xml"/><Relationship Id="R358d8b69a7d540ed" Type="http://schemas.openxmlformats.org/officeDocument/2006/relationships/slide" Target="slides/slide5.xml"/><Relationship Id="R3ba92a64286447ad" Type="http://schemas.openxmlformats.org/officeDocument/2006/relationships/slide" Target="slides/slide1.xml"/><Relationship Id="R57bb1ca1a0a84e58" Type="http://schemas.openxmlformats.org/officeDocument/2006/relationships/slide" Target="slides/slide9.xml"/><Relationship Id="R61b057dc0ce6478a" Type="http://schemas.openxmlformats.org/officeDocument/2006/relationships/presProps" Target="presProps.xml"/><Relationship Id="R758081c1b8c848c6" Type="http://schemas.openxmlformats.org/officeDocument/2006/relationships/slide" Target="slides/slide8.xml"/><Relationship Id="R92a74af5dbe844a6" Type="http://schemas.openxmlformats.org/officeDocument/2006/relationships/slide" Target="slides/slide7.xml"/><Relationship Id="R97488197f0374528" Type="http://schemas.openxmlformats.org/officeDocument/2006/relationships/slide" Target="slides/slide21.xml"/><Relationship Id="R9e6f19e38e9b403f" Type="http://schemas.openxmlformats.org/officeDocument/2006/relationships/slide" Target="slides/slide19.xml"/><Relationship Id="Rbae406bf48744422" Type="http://schemas.openxmlformats.org/officeDocument/2006/relationships/notesMaster" Target="notesMasters/notesMaster1.xml"/><Relationship Id="Rc1566b9650654ca4" Type="http://schemas.openxmlformats.org/officeDocument/2006/relationships/slide" Target="slides/slide18.xml"/><Relationship Id="Rc369c5564d6a4fbe" Type="http://schemas.openxmlformats.org/officeDocument/2006/relationships/slide" Target="slides/slide17.xml"/><Relationship Id="Rc4dfd5ff7d4d4f5e" Type="http://schemas.openxmlformats.org/officeDocument/2006/relationships/theme" Target="theme/theme1.xml"/><Relationship Id="Rc73553a888d7468f" Type="http://schemas.openxmlformats.org/officeDocument/2006/relationships/slide" Target="slides/slide10.xml"/><Relationship Id="Rcda09e429aff4ed3" Type="http://schemas.openxmlformats.org/officeDocument/2006/relationships/tableStyles" Target="tableStyles.xml"/><Relationship Id="Rd0008e3e3da04991" Type="http://schemas.openxmlformats.org/officeDocument/2006/relationships/slideMaster" Target="slideMasters/slideMaster1.xml"/><Relationship Id="Re27df1d571cf4362" Type="http://schemas.openxmlformats.org/officeDocument/2006/relationships/slide" Target="slides/slide16.xml"/><Relationship Id="Re377051b89414d2a" Type="http://schemas.openxmlformats.org/officeDocument/2006/relationships/slide" Target="slides/slide6.xml"/><Relationship Id="Rf338326240344237" Type="http://schemas.openxmlformats.org/officeDocument/2006/relationships/slide" Target="slides/slide4.xml"/><Relationship Id="Rf920ad4b5ae7479e" Type="http://schemas.openxmlformats.org/officeDocument/2006/relationships/slide" Target="slides/slide14.xml"/><Relationship Id="Rfd637bf3867e4fb4" Type="http://schemas.openxmlformats.org/officeDocument/2006/relationships/slide" Target="slides/slide2.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0128502a49a5468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d7289c9a906b4993" Type="http://schemas.openxmlformats.org/officeDocument/2006/relationships/notesMaster" Target="../notesMasters/notesMaster1.xml"/><Relationship Id="Rfc00198911674e9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203b97ac6d84a11" Type="http://schemas.openxmlformats.org/officeDocument/2006/relationships/notesMaster" Target="../notesMasters/notesMaster1.xml"/><Relationship Id="R98744ed644284c9c"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b96f29e25234cdf" Type="http://schemas.openxmlformats.org/officeDocument/2006/relationships/slide" Target="../slides/slide3.xml"/><Relationship Id="R965cda117f994f90"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c4e4fb41cdd41f1" Type="http://schemas.openxmlformats.org/officeDocument/2006/relationships/notesMaster" Target="../notesMasters/notesMaster1.xml"/><Relationship Id="R63e14d9906514896"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9ca2f5223fa4c36" Type="http://schemas.openxmlformats.org/officeDocument/2006/relationships/notesMaster" Target="../notesMasters/notesMaster1.xml"/><Relationship Id="Rc722a05ca826429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252fb29242146b5" Type="http://schemas.openxmlformats.org/officeDocument/2006/relationships/slide" Target="../slides/slide6.xml"/><Relationship Id="Rb7a78b0327d944e7"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1dc95424eee4d84" Type="http://schemas.openxmlformats.org/officeDocument/2006/relationships/slide" Target="../slides/slide7.xml"/><Relationship Id="R79fbc8a473f444f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7009082bce94e1b" Type="http://schemas.openxmlformats.org/officeDocument/2006/relationships/slide" Target="../slides/slide8.xml"/><Relationship Id="R25dec93f6d2b45e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a001103df0944e3" Type="http://schemas.openxmlformats.org/officeDocument/2006/relationships/slide" Target="../slides/slide9.xml"/><Relationship Id="Ree8e74addf66409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23de73809d34fdc" Type="http://schemas.openxmlformats.org/officeDocument/2006/relationships/slide" Target="../slides/slide10.xml"/><Relationship Id="Rf401e6f2367f4c4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402a3ccbd2214145" Type="http://schemas.openxmlformats.org/officeDocument/2006/relationships/slide" Target="../slides/slide11.xml"/><Relationship Id="R4c410928a5434b9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33d22af959b4a40" Type="http://schemas.openxmlformats.org/officeDocument/2006/relationships/notesMaster" Target="../notesMasters/notesMaster1.xml"/><Relationship Id="Rd82af6c67faf466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60df605f093343b0" Type="http://schemas.openxmlformats.org/officeDocument/2006/relationships/slide" Target="../slides/slide13.xml"/><Relationship Id="Rebe02bfba9c7489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d28feb0504784f58" Type="http://schemas.openxmlformats.org/officeDocument/2006/relationships/notesMaster" Target="../notesMasters/notesMaster1.xml"/><Relationship Id="Rfa433d66772b454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309e98ba6c748cf" Type="http://schemas.openxmlformats.org/officeDocument/2006/relationships/notesMaster" Target="../notesMasters/notesMaster1.xml"/><Relationship Id="Raabe2b18a7fa465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5d835c679694692" Type="http://schemas.openxmlformats.org/officeDocument/2006/relationships/notesMaster" Target="../notesMasters/notesMaster1.xml"/><Relationship Id="R73cdba58d4014bc0"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550058de8e44911" Type="http://schemas.openxmlformats.org/officeDocument/2006/relationships/slide" Target="../slides/slide17.xml"/><Relationship Id="Rc65178e6914f460a"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0358c51b646421d" Type="http://schemas.openxmlformats.org/officeDocument/2006/relationships/slide" Target="../slides/slide18.xml"/><Relationship Id="Ra4a96be9b9a1460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f3642e6a7494c89" Type="http://schemas.openxmlformats.org/officeDocument/2006/relationships/slide" Target="../slides/slide19.xml"/><Relationship Id="Rd951ff2062fa4f8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9c8263958124fda" Type="http://schemas.openxmlformats.org/officeDocument/2006/relationships/slide" Target="../slides/slide20.xml"/><Relationship Id="R47af0e03fa934aca"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ec81933f713d4a07" Type="http://schemas.openxmlformats.org/officeDocument/2006/relationships/notesMaster" Target="../notesMasters/notesMaster1.xml"/><Relationship Id="Rf951dacc65054837" Type="http://schemas.openxmlformats.org/officeDocument/2006/relationships/slide" Target="../slides/slide2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项目使用普通线性回归与随机森林两种主要模型。容量保持仅作为比较基线。过程包括数据读取清洗、退化差异、统计跳变、历史特征、时间划分、建模与评估。</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读取data/battery.csv，636条记录，每行代表某电池一次放电循环，四列分别为电池编号、循环、容量和环境温度。来源src/01_read_and_clean.py。</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检查类型、缺失、重复、主键和循环连续性，全部636条保留。无缺失不等于不存在局部跳变，后续单独核查。来源results/step01。</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完整曲线与共同前132次窗口分开比较，相对容量按各电池首循环归一化。来源src/02_visualize_degradation.py。</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前三块电池记录到168次。此图为实际观测容量，不包含任何预测。来源results/step02/curve_data.csv。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B0018记录到132次。观测结束不代表电池已经失效。来源data/battery.csv。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相同前132次窗口归一化比较，B0006下降最多，B0007最少。来源results/step02/common_window_comparison.csv。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下降比例按首循环和第132次容量计算，比较间隔均为131个循环。来源results/step02/common_window_comparison.csv。</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容量整体下降并存在局部回升。缺少电流、负载等观测，不能判定回升原因。来源原始数据和第二步曲线。</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前两步完成数据检查与退化差异。当前建模对象为普通线性回归与随机森林，两者统一预测下一次容量。</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统计跳变阈值仅从每电池前60%记录的容量变化计算。58条待核查，其中30条极端，尚未证实为测量错误。来源src/01b_check_capacity_jumps.py和results/step01b。</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极端点按上一循环原值加限幅变化量生成独立对照，保留全部记录，不递归修改后续历史。当前两个模型使用原值保留版。</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处理可能削弱真实容量恢复峰值。图只展示统计限幅对照，未改变普通回归或随机森林的训练和测试目标。</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两种模型共用src/comparison_common.py提取四个特征。先shift(1)再rolling(5)，目标t的容量窗口只到t−1。616条建模样本。</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同一时间划分用于普通回归和森林。森林只按验证段选参，测试前用训练加验证重拟合。测试估计器固定，可以逐次获得此前真实容量。</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普通回归学习四输入的加权和，森林训练300棵树并对叶均值预测平均。普通回归也是监督学习，此处按课程口径区分简单回归与树集成。来源src/06_linear_regression.py、src/07_random_forest.py。</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普通回归没有正则化或参数搜索，标准化参数仅来自拟合段。129个测试目标，B0006回归略优于容量保持，其余三个基线更低。来源results/step06。算法版本a1a2940。</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固定300树、seed25121619。树深2、4、None与叶最少样本3、8共6组合，只按验证RMSE选择。24候选记录全部保留。来源results/step07。算法版本8e4d38e。</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四电池等权平均RMSE为基线0.014425、回归0.017370、森林0.058766 Ah。基线仅作比较，不是第三个主要模型。所有方法使用同一129个目标。来源results/step08。</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B0006测试33/34个容量低于拟合最小容量1.3156Ah。森林直接预测绝对容量，在此电池全部测试点上高估，受叶均值外推范围限制。普通回归RMSE0.011730Ah，森林0.100671Ah。</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当前保留普通线性回归与随机森林两种主要模型及容量保持比较基线。12项代码检查通过，24组误差另从逐点预测重算。同四块24℃电池的一次时间划分不能证明新电池泛化或寿命预测准确。</a:t>
            </a:r>
          </a:p>
          <a:p xmlns:a="http://schemas.openxmlformats.org/drawingml/2006/main">
            <a:r>
              <a:t>仓库：https://github.com/yxz666-Y/python-midterm-pre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9a711cf98d44bf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58fccd463ba4468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3ba552d23284537"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29d8c76bed8b42f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6e8d5e6a8bfd451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02dbf6bd70874ce6"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FCB2CD-8DC5-4720-8DC2-CAB734B0A1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1C950A2-974D-4A1D-ADBD-5CD268D2CD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88924F7-1B2C-4D12-B1C1-86161B27B6D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6BCE2C-9EB5-4421-AECE-9FE7411C9B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E161C7-471E-40B2-AACA-621233C60F7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FBDA9C-7903-4A9A-9660-D6B256592B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6B3884-07F7-4785-9893-3245F7AD6A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7C4C3A-8C90-40E8-AB94-4B417975D18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0B4185-6724-49B1-AD1D-CA1F4C62F7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70E85E-62AE-402A-B083-161FC781E7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95c2170e5954dcd" Type="http://schemas.openxmlformats.org/officeDocument/2006/relationships/theme" Target="theme/theme2.xml"/><Relationship Id="R2d59699bb581475d" Type="http://schemas.openxmlformats.org/officeDocument/2006/relationships/slideLayout" Target="../slideLayouts/slideLayout4.xml"/><Relationship Id="R3a2f8ef813d94ff5" Type="http://schemas.openxmlformats.org/officeDocument/2006/relationships/slideLayout" Target="../slideLayouts/slideLayout5.xml"/><Relationship Id="R52d1468b25394a56" Type="http://schemas.openxmlformats.org/officeDocument/2006/relationships/slideLayout" Target="../slideLayouts/slideLayout1.xml"/><Relationship Id="R700e01ce6f9a4474" Type="http://schemas.openxmlformats.org/officeDocument/2006/relationships/slideLayout" Target="../slideLayouts/slideLayout2.xml"/><Relationship Id="Ra81ed3af64ed450c" Type="http://schemas.openxmlformats.org/officeDocument/2006/relationships/slideLayout" Target="../slideLayouts/slideLayout6.xml"/><Relationship Id="Rf64e1bb5a46a45f0" Type="http://schemas.openxmlformats.org/officeDocument/2006/relationships/slideLayout" Target="../slideLayouts/slideLayout3.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d1468b25394a56"/>
    <p:sldLayoutId xmlns:r="http://schemas.openxmlformats.org/officeDocument/2006/relationships" id="2147483650" r:id="R700e01ce6f9a4474"/>
    <p:sldLayoutId xmlns:r="http://schemas.openxmlformats.org/officeDocument/2006/relationships" id="2147483651" r:id="Rf64e1bb5a46a45f0"/>
    <p:sldLayoutId xmlns:r="http://schemas.openxmlformats.org/officeDocument/2006/relationships" id="2147483652" r:id="R2d59699bb581475d"/>
    <p:sldLayoutId xmlns:r="http://schemas.openxmlformats.org/officeDocument/2006/relationships" id="2147483653" r:id="R3a2f8ef813d94ff5"/>
    <p:sldLayoutId xmlns:r="http://schemas.openxmlformats.org/officeDocument/2006/relationships" id="2147483654" r:id="Ra81ed3af64ed45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9e83e01f0ad4902" Type="http://schemas.openxmlformats.org/officeDocument/2006/relationships/slideLayout" Target="../slideLayouts/slideLayout6.xml"/><Relationship Id="Rcefa638c89a343bd"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7fd8b27c15f432e" Type="http://schemas.openxmlformats.org/officeDocument/2006/relationships/notesSlide" Target="../notesSlides/notesSlide2.xml"/><Relationship Id="Ra019920526564d1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262c705c84e4dbc" Type="http://schemas.openxmlformats.org/officeDocument/2006/relationships/slideLayout" Target="../slideLayouts/slideLayout6.xml"/><Relationship Id="Rde88b3b16b80499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118d4e593e54619" Type="http://schemas.openxmlformats.org/officeDocument/2006/relationships/slideLayout" Target="../slideLayouts/slideLayout6.xml"/><Relationship Id="R4f0146d143694b4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0164c49df9d4329" Type="http://schemas.openxmlformats.org/officeDocument/2006/relationships/chart" Target="charts/chart1.xml"/><Relationship Id="R7812fff31ef04120" Type="http://schemas.openxmlformats.org/officeDocument/2006/relationships/notesSlide" Target="../notesSlides/notesSlide5.xml"/><Relationship Id="Ra9eebe93dce54dd9"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54cfbea7451f45e7" Type="http://schemas.openxmlformats.org/officeDocument/2006/relationships/notesSlide" Target="../notesSlides/notesSlide6.xml"/><Relationship Id="R746180ebde9e47ef" Type="http://schemas.openxmlformats.org/officeDocument/2006/relationships/chart" Target="charts/chart2.xml"/><Relationship Id="Rc6f2c698fd3c44b5"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232028f7d4fb4d95" Type="http://schemas.openxmlformats.org/officeDocument/2006/relationships/slideLayout" Target="../slideLayouts/slideLayout6.xml"/><Relationship Id="R87f2fc7a4d0748f3" Type="http://schemas.openxmlformats.org/officeDocument/2006/relationships/chart" Target="charts/chart3.xml"/><Relationship Id="Rfb44ff39265f4dff"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2a64539e3304762" Type="http://schemas.openxmlformats.org/officeDocument/2006/relationships/notesSlide" Target="../notesSlides/notesSlide8.xml"/><Relationship Id="Rbe30e366d56d4864" Type="http://schemas.openxmlformats.org/officeDocument/2006/relationships/slideLayout" Target="../slideLayouts/slideLayout6.xml"/><Relationship Id="Rdb891f5f04a44bf0" Type="http://schemas.openxmlformats.org/officeDocument/2006/relationships/chart" Target="charts/chart4.xml"/></Relationships>
</file>

<file path=ppt/slides/_rels/slide9.xml.rels><?xml version='1.0' encoding='UTF-8' standalone='yes'?>
<Relationships xmlns="http://schemas.openxmlformats.org/package/2006/relationships"><Relationship Id="R1d415d7bbfe8436a" Type="http://schemas.openxmlformats.org/officeDocument/2006/relationships/slideLayout" Target="../slideLayouts/slideLayout6.xml"/><Relationship Id="R389919ee749d4c4f"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9a7c4d9857842c3" Type="http://schemas.openxmlformats.org/officeDocument/2006/relationships/notesSlide" Target="../notesSlides/notesSlide10.xml"/><Relationship Id="Rf3e717b2fa06459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213522cc3caa44c8" Type="http://schemas.openxmlformats.org/officeDocument/2006/relationships/slideLayout" Target="../slideLayouts/slideLayout6.xml"/><Relationship Id="Rb5c2f7c16afe4c9c"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c77be1a6143946b9" Type="http://schemas.openxmlformats.org/officeDocument/2006/relationships/slideLayout" Target="../slideLayouts/slideLayout6.xml"/><Relationship Id="Rd795f8af3d19450b"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5cdfbed710284f72" Type="http://schemas.openxmlformats.org/officeDocument/2006/relationships/slideLayout" Target="../slideLayouts/slideLayout6.xml"/><Relationship Id="R655b77b6cde04004" Type="http://schemas.openxmlformats.org/officeDocument/2006/relationships/notesSlide" Target="../notesSlides/notesSlide13.xml"/><Relationship Id="R7ebeeccc0893436d" Type="http://schemas.openxmlformats.org/officeDocument/2006/relationships/chart" Target="charts/chart6.xml"/><Relationship Id="Rb9628cd570554c69" Type="http://schemas.openxmlformats.org/officeDocument/2006/relationships/chart" Target="charts/chart5.xml"/></Relationships>
</file>

<file path=ppt/slides/_rels/slide14.xml.rels><?xml version='1.0' encoding='UTF-8' standalone='yes'?>
<Relationships xmlns="http://schemas.openxmlformats.org/package/2006/relationships"><Relationship Id="R25ffeb7960e0445a" Type="http://schemas.openxmlformats.org/officeDocument/2006/relationships/notesSlide" Target="../notesSlides/notesSlide14.xml"/><Relationship Id="Rb9e658d5f3b84a52"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58f8faa725ce4a00" Type="http://schemas.openxmlformats.org/officeDocument/2006/relationships/slideLayout" Target="../slideLayouts/slideLayout6.xml"/><Relationship Id="R8a1056884e0d47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0c8ab07989442c" Type="http://schemas.openxmlformats.org/officeDocument/2006/relationships/notesSlide" Target="../notesSlides/notesSlide16.xml"/><Relationship Id="Rb03e3d185ae8426a"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26c356563ba54b08" Type="http://schemas.openxmlformats.org/officeDocument/2006/relationships/notesSlide" Target="../notesSlides/notesSlide17.xml"/><Relationship Id="Rb765c74b886d460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8ff065565894de2" Type="http://schemas.openxmlformats.org/officeDocument/2006/relationships/notesSlide" Target="../notesSlides/notesSlide18.xml"/><Relationship Id="R844193d12e344ef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9a50f2954fbe4523" Type="http://schemas.openxmlformats.org/officeDocument/2006/relationships/chart" Target="charts/chart7.xml"/><Relationship Id="Rb46a6e740fda4134" Type="http://schemas.openxmlformats.org/officeDocument/2006/relationships/notesSlide" Target="../notesSlides/notesSlide19.xml"/><Relationship Id="Rde02808729a843f2"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556caffeb45e466b" Type="http://schemas.openxmlformats.org/officeDocument/2006/relationships/chart" Target="charts/chart8.xml"/><Relationship Id="Rb4022992119a463d" Type="http://schemas.openxmlformats.org/officeDocument/2006/relationships/slideLayout" Target="../slideLayouts/slideLayout6.xml"/><Relationship Id="Rd2ce13975f59427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8f4e7ebadf2e41c9" Type="http://schemas.openxmlformats.org/officeDocument/2006/relationships/notesSlide" Target="../notesSlides/notesSlide21.xml"/><Relationship Id="Reb3fa19115e64a20"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_rels/chart4.xml.rels><?xml version='1.0' encoding='UTF-8' standalone='yes'?>
<Relationships xmlns="http://schemas.openxmlformats.org/package/2006/relationships"><Relationship Id="rIdChartSnapshot1" Type="http://schemas.openxmlformats.org/officeDocument/2006/relationships/package" Target="../../embeddings/chart-data-snapshot-004.xlsx"/></Relationships>
</file>

<file path=ppt/slides/charts/_rels/chart5.xml.rels><?xml version='1.0' encoding='UTF-8' standalone='yes'?>
<Relationships xmlns="http://schemas.openxmlformats.org/package/2006/relationships"><Relationship Id="rIdChartSnapshot1" Type="http://schemas.openxmlformats.org/officeDocument/2006/relationships/package" Target="../../embeddings/chart-data-snapshot-011.xlsx"/></Relationships>
</file>

<file path=ppt/slides/charts/_rels/chart6.xml.rels><?xml version='1.0' encoding='UTF-8' standalone='yes'?>
<Relationships xmlns="http://schemas.openxmlformats.org/package/2006/relationships"><Relationship Id="rIdChartSnapshot1" Type="http://schemas.openxmlformats.org/officeDocument/2006/relationships/package" Target="../../embeddings/chart-data-snapshot-012.xlsx"/></Relationships>
</file>

<file path=ppt/slides/charts/_rels/chart7.xml.rels><?xml version='1.0' encoding='UTF-8' standalone='yes'?>
<Relationships xmlns="http://schemas.openxmlformats.org/package/2006/relationships"><Relationship Id="rIdChartSnapshot1" Type="http://schemas.openxmlformats.org/officeDocument/2006/relationships/package" Target="../../embeddings/chart-data-snapshot-014.xlsx"/></Relationships>
</file>

<file path=ppt/slides/charts/_rels/chart8.xml.rels><?xml version='1.0' encoding='UTF-8' standalone='yes'?>
<Relationships xmlns="http://schemas.openxmlformats.org/package/2006/relationships"><Relationship Id="rIdChartSnapshot1" Type="http://schemas.openxmlformats.org/officeDocument/2006/relationships/package" Target="../../embeddings/chart-data-snapshot-015.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B0005</c:v>
          </c:tx>
          <c:spPr>
            <a:solidFill xmlns:a="http://schemas.openxmlformats.org/drawingml/2006/main">
              <a:srgbClr val="176B87"/>
            </a:solidFill>
          </c:spPr>
          <c:marker>
            <c:symbol val="none"/>
          </c:marker>
          <c:cat>
            <c:numRef>
              <c:f>'Chart Data'!$A$2:$A$169</c:f>
              <c:numCache>
                <c:formatCode>General</c:formatCode>
                <c:ptCount val="16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numCache>
            </c:numRef>
          </c:cat>
          <c:val>
            <c:numRef>
              <c:f>'Chart Data'!$B$2:$B$169</c:f>
              <c:numCache>
                <c:formatCode>General</c:formatCode>
                <c:ptCount val="168"/>
                <c:pt idx="0">
                  <c:v>1.8565</c:v>
                </c:pt>
                <c:pt idx="1">
                  <c:v>1.8463</c:v>
                </c:pt>
                <c:pt idx="2">
                  <c:v>1.8353</c:v>
                </c:pt>
                <c:pt idx="3">
                  <c:v>1.8353</c:v>
                </c:pt>
                <c:pt idx="4">
                  <c:v>1.8346</c:v>
                </c:pt>
                <c:pt idx="5">
                  <c:v>1.8357</c:v>
                </c:pt>
                <c:pt idx="6">
                  <c:v>1.8351</c:v>
                </c:pt>
                <c:pt idx="7">
                  <c:v>1.8258</c:v>
                </c:pt>
                <c:pt idx="8">
                  <c:v>1.8248</c:v>
                </c:pt>
                <c:pt idx="9">
                  <c:v>1.8246</c:v>
                </c:pt>
                <c:pt idx="10">
                  <c:v>1.8246</c:v>
                </c:pt>
                <c:pt idx="11">
                  <c:v>1.8142</c:v>
                </c:pt>
                <c:pt idx="12">
                  <c:v>1.8138</c:v>
                </c:pt>
                <c:pt idx="13">
                  <c:v>1.8134</c:v>
                </c:pt>
                <c:pt idx="14">
                  <c:v>1.8026</c:v>
                </c:pt>
                <c:pt idx="15">
                  <c:v>1.8021</c:v>
                </c:pt>
                <c:pt idx="16">
                  <c:v>1.8026</c:v>
                </c:pt>
                <c:pt idx="17">
                  <c:v>1.8031</c:v>
                </c:pt>
                <c:pt idx="18">
                  <c:v>1.8028</c:v>
                </c:pt>
                <c:pt idx="19">
                  <c:v>1.847</c:v>
                </c:pt>
                <c:pt idx="20">
                  <c:v>1.8474</c:v>
                </c:pt>
                <c:pt idx="21">
                  <c:v>1.8362</c:v>
                </c:pt>
                <c:pt idx="22">
                  <c:v>1.8258</c:v>
                </c:pt>
                <c:pt idx="23">
                  <c:v>1.8251</c:v>
                </c:pt>
                <c:pt idx="24">
                  <c:v>1.8256</c:v>
                </c:pt>
                <c:pt idx="25">
                  <c:v>1.814</c:v>
                </c:pt>
                <c:pt idx="26">
                  <c:v>1.8148</c:v>
                </c:pt>
                <c:pt idx="27">
                  <c:v>1.814</c:v>
                </c:pt>
                <c:pt idx="28">
                  <c:v>1.8028</c:v>
                </c:pt>
                <c:pt idx="29">
                  <c:v>1.8041</c:v>
                </c:pt>
                <c:pt idx="30">
                  <c:v>1.8518</c:v>
                </c:pt>
                <c:pt idx="31">
                  <c:v>1.8307</c:v>
                </c:pt>
                <c:pt idx="32">
                  <c:v>1.8199</c:v>
                </c:pt>
                <c:pt idx="33">
                  <c:v>1.8093</c:v>
                </c:pt>
                <c:pt idx="34">
                  <c:v>1.8046</c:v>
                </c:pt>
                <c:pt idx="35">
                  <c:v>1.7994</c:v>
                </c:pt>
                <c:pt idx="36">
                  <c:v>1.7884</c:v>
                </c:pt>
                <c:pt idx="37">
                  <c:v>1.7829</c:v>
                </c:pt>
                <c:pt idx="38">
                  <c:v>1.773</c:v>
                </c:pt>
                <c:pt idx="39">
                  <c:v>1.773</c:v>
                </c:pt>
                <c:pt idx="40">
                  <c:v>1.7679</c:v>
                </c:pt>
                <c:pt idx="41">
                  <c:v>1.7623</c:v>
                </c:pt>
                <c:pt idx="42">
                  <c:v>1.7676</c:v>
                </c:pt>
                <c:pt idx="43">
                  <c:v>1.7627</c:v>
                </c:pt>
                <c:pt idx="44">
                  <c:v>1.7517</c:v>
                </c:pt>
                <c:pt idx="45">
                  <c:v>1.7418</c:v>
                </c:pt>
                <c:pt idx="46">
                  <c:v>1.7361</c:v>
                </c:pt>
                <c:pt idx="47">
                  <c:v>1.7936</c:v>
                </c:pt>
                <c:pt idx="48">
                  <c:v>1.7832</c:v>
                </c:pt>
                <c:pt idx="49">
                  <c:v>1.7674</c:v>
                </c:pt>
                <c:pt idx="50">
                  <c:v>1.757</c:v>
                </c:pt>
                <c:pt idx="51">
                  <c:v>1.7469</c:v>
                </c:pt>
                <c:pt idx="52">
                  <c:v>1.7417</c:v>
                </c:pt>
                <c:pt idx="53">
                  <c:v>1.7364</c:v>
                </c:pt>
                <c:pt idx="54">
                  <c:v>1.7263</c:v>
                </c:pt>
                <c:pt idx="55">
                  <c:v>1.7158</c:v>
                </c:pt>
                <c:pt idx="56">
                  <c:v>1.7105</c:v>
                </c:pt>
                <c:pt idx="57">
                  <c:v>1.706</c:v>
                </c:pt>
                <c:pt idx="58">
                  <c:v>1.7003</c:v>
                </c:pt>
                <c:pt idx="59">
                  <c:v>1.6946</c:v>
                </c:pt>
                <c:pt idx="60">
                  <c:v>1.6849</c:v>
                </c:pt>
                <c:pt idx="61">
                  <c:v>1.6745</c:v>
                </c:pt>
                <c:pt idx="62">
                  <c:v>1.6746</c:v>
                </c:pt>
                <c:pt idx="63">
                  <c:v>1.6637</c:v>
                </c:pt>
                <c:pt idx="64">
                  <c:v>1.659</c:v>
                </c:pt>
                <c:pt idx="65">
                  <c:v>1.6539</c:v>
                </c:pt>
                <c:pt idx="66">
                  <c:v>1.6427</c:v>
                </c:pt>
                <c:pt idx="67">
                  <c:v>1.6379</c:v>
                </c:pt>
                <c:pt idx="68">
                  <c:v>1.6327</c:v>
                </c:pt>
                <c:pt idx="69">
                  <c:v>1.6278</c:v>
                </c:pt>
                <c:pt idx="70">
                  <c:v>1.6221</c:v>
                </c:pt>
                <c:pt idx="71">
                  <c:v>1.6113</c:v>
                </c:pt>
                <c:pt idx="72">
                  <c:v>1.6066</c:v>
                </c:pt>
                <c:pt idx="73">
                  <c:v>1.6015</c:v>
                </c:pt>
                <c:pt idx="74">
                  <c:v>1.5904</c:v>
                </c:pt>
                <c:pt idx="75">
                  <c:v>1.5858</c:v>
                </c:pt>
                <c:pt idx="76">
                  <c:v>1.5849</c:v>
                </c:pt>
                <c:pt idx="77">
                  <c:v>1.5955</c:v>
                </c:pt>
                <c:pt idx="78">
                  <c:v>1.5747</c:v>
                </c:pt>
                <c:pt idx="79">
                  <c:v>1.5649</c:v>
                </c:pt>
                <c:pt idx="80">
                  <c:v>1.5598</c:v>
                </c:pt>
                <c:pt idx="81">
                  <c:v>1.5595</c:v>
                </c:pt>
                <c:pt idx="82">
                  <c:v>1.5547</c:v>
                </c:pt>
                <c:pt idx="83">
                  <c:v>1.5489</c:v>
                </c:pt>
                <c:pt idx="84">
                  <c:v>1.5382</c:v>
                </c:pt>
                <c:pt idx="85">
                  <c:v>1.5279</c:v>
                </c:pt>
                <c:pt idx="86">
                  <c:v>1.5285</c:v>
                </c:pt>
                <c:pt idx="87">
                  <c:v>1.5226</c:v>
                </c:pt>
                <c:pt idx="88">
                  <c:v>1.5175</c:v>
                </c:pt>
                <c:pt idx="89">
                  <c:v>1.6058</c:v>
                </c:pt>
                <c:pt idx="90">
                  <c:v>1.5638</c:v>
                </c:pt>
                <c:pt idx="91">
                  <c:v>1.5481</c:v>
                </c:pt>
                <c:pt idx="92">
                  <c:v>1.5324</c:v>
                </c:pt>
                <c:pt idx="93">
                  <c:v>1.527</c:v>
                </c:pt>
                <c:pt idx="94">
                  <c:v>1.517</c:v>
                </c:pt>
                <c:pt idx="95">
                  <c:v>1.5119</c:v>
                </c:pt>
                <c:pt idx="96">
                  <c:v>1.5066</c:v>
                </c:pt>
                <c:pt idx="97">
                  <c:v>1.5015</c:v>
                </c:pt>
                <c:pt idx="98">
                  <c:v>1.4908</c:v>
                </c:pt>
                <c:pt idx="99">
                  <c:v>1.4859</c:v>
                </c:pt>
                <c:pt idx="100">
                  <c:v>1.4804</c:v>
                </c:pt>
                <c:pt idx="101">
                  <c:v>1.4752</c:v>
                </c:pt>
                <c:pt idx="102">
                  <c:v>1.4859</c:v>
                </c:pt>
                <c:pt idx="103">
                  <c:v>1.4961</c:v>
                </c:pt>
                <c:pt idx="104">
                  <c:v>1.4808</c:v>
                </c:pt>
                <c:pt idx="105">
                  <c:v>1.4698</c:v>
                </c:pt>
                <c:pt idx="106">
                  <c:v>1.4539</c:v>
                </c:pt>
                <c:pt idx="107">
                  <c:v>1.4541</c:v>
                </c:pt>
                <c:pt idx="108">
                  <c:v>1.455</c:v>
                </c:pt>
                <c:pt idx="109">
                  <c:v>1.449</c:v>
                </c:pt>
                <c:pt idx="110">
                  <c:v>1.4387</c:v>
                </c:pt>
                <c:pt idx="111">
                  <c:v>1.4334</c:v>
                </c:pt>
                <c:pt idx="112">
                  <c:v>1.4334</c:v>
                </c:pt>
                <c:pt idx="113">
                  <c:v>1.4281</c:v>
                </c:pt>
                <c:pt idx="114">
                  <c:v>1.4229</c:v>
                </c:pt>
                <c:pt idx="115">
                  <c:v>1.4174</c:v>
                </c:pt>
                <c:pt idx="116">
                  <c:v>1.4124</c:v>
                </c:pt>
                <c:pt idx="117">
                  <c:v>1.4126</c:v>
                </c:pt>
                <c:pt idx="118">
                  <c:v>1.4076</c:v>
                </c:pt>
                <c:pt idx="119">
                  <c:v>1.4334</c:v>
                </c:pt>
                <c:pt idx="120">
                  <c:v>1.4383</c:v>
                </c:pt>
                <c:pt idx="121">
                  <c:v>1.4174</c:v>
                </c:pt>
                <c:pt idx="122">
                  <c:v>1.407</c:v>
                </c:pt>
                <c:pt idx="123">
                  <c:v>1.4012</c:v>
                </c:pt>
                <c:pt idx="124">
                  <c:v>1.3967</c:v>
                </c:pt>
                <c:pt idx="125">
                  <c:v>1.3913</c:v>
                </c:pt>
                <c:pt idx="126">
                  <c:v>1.3862</c:v>
                </c:pt>
                <c:pt idx="127">
                  <c:v>1.3804</c:v>
                </c:pt>
                <c:pt idx="128">
                  <c:v>1.3752</c:v>
                </c:pt>
                <c:pt idx="129">
                  <c:v>1.3705</c:v>
                </c:pt>
                <c:pt idx="130">
                  <c:v>1.3705</c:v>
                </c:pt>
                <c:pt idx="131">
                  <c:v>1.3647</c:v>
                </c:pt>
                <c:pt idx="132">
                  <c:v>1.3754</c:v>
                </c:pt>
                <c:pt idx="133">
                  <c:v>1.3861</c:v>
                </c:pt>
                <c:pt idx="134">
                  <c:v>1.3699</c:v>
                </c:pt>
                <c:pt idx="135">
                  <c:v>1.3648</c:v>
                </c:pt>
                <c:pt idx="136">
                  <c:v>1.3543</c:v>
                </c:pt>
                <c:pt idx="137">
                  <c:v>1.3546</c:v>
                </c:pt>
                <c:pt idx="138">
                  <c:v>1.3547</c:v>
                </c:pt>
                <c:pt idx="139">
                  <c:v>1.3493</c:v>
                </c:pt>
                <c:pt idx="140">
                  <c:v>1.3442</c:v>
                </c:pt>
                <c:pt idx="141">
                  <c:v>1.339</c:v>
                </c:pt>
                <c:pt idx="142">
                  <c:v>1.3389</c:v>
                </c:pt>
                <c:pt idx="143">
                  <c:v>1.334</c:v>
                </c:pt>
                <c:pt idx="144">
                  <c:v>1.3286</c:v>
                </c:pt>
                <c:pt idx="145">
                  <c:v>1.3232</c:v>
                </c:pt>
                <c:pt idx="146">
                  <c:v>1.3182</c:v>
                </c:pt>
                <c:pt idx="147">
                  <c:v>1.3185</c:v>
                </c:pt>
                <c:pt idx="148">
                  <c:v>1.3183</c:v>
                </c:pt>
                <c:pt idx="149">
                  <c:v>1.3239</c:v>
                </c:pt>
                <c:pt idx="150">
                  <c:v>1.3601</c:v>
                </c:pt>
                <c:pt idx="151">
                  <c:v>1.3395</c:v>
                </c:pt>
                <c:pt idx="152">
                  <c:v>1.329</c:v>
                </c:pt>
                <c:pt idx="153">
                  <c:v>1.3237</c:v>
                </c:pt>
                <c:pt idx="154">
                  <c:v>1.3186</c:v>
                </c:pt>
                <c:pt idx="155">
                  <c:v>1.3135</c:v>
                </c:pt>
                <c:pt idx="156">
                  <c:v>1.3132</c:v>
                </c:pt>
                <c:pt idx="157">
                  <c:v>1.3078</c:v>
                </c:pt>
                <c:pt idx="158">
                  <c:v>1.303</c:v>
                </c:pt>
                <c:pt idx="159">
                  <c:v>1.3034</c:v>
                </c:pt>
                <c:pt idx="160">
                  <c:v>1.3034</c:v>
                </c:pt>
                <c:pt idx="161">
                  <c:v>1.2979</c:v>
                </c:pt>
                <c:pt idx="162">
                  <c:v>1.2981</c:v>
                </c:pt>
                <c:pt idx="163">
                  <c:v>1.2935</c:v>
                </c:pt>
                <c:pt idx="164">
                  <c:v>1.288</c:v>
                </c:pt>
                <c:pt idx="165">
                  <c:v>1.2875</c:v>
                </c:pt>
                <c:pt idx="166">
                  <c:v>1.309</c:v>
                </c:pt>
                <c:pt idx="167">
                  <c:v>1.3251</c:v>
                </c:pt>
              </c:numCache>
            </c:numRef>
          </c:val>
        </c:ser>
        <c:ser>
          <c:idx val="1"/>
          <c:order val="1"/>
          <c:tx>
            <c:v>B0006</c:v>
          </c:tx>
          <c:spPr>
            <a:solidFill xmlns:a="http://schemas.openxmlformats.org/drawingml/2006/main">
              <a:srgbClr val="D3662E"/>
            </a:solidFill>
          </c:spPr>
          <c:marker>
            <c:symbol val="none"/>
          </c:marker>
          <c:cat>
            <c:numRef>
              <c:f>'Chart Data'!$C$2:$C$169</c:f>
              <c:numCache>
                <c:formatCode>General</c:formatCode>
                <c:ptCount val="16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numCache>
            </c:numRef>
          </c:cat>
          <c:val>
            <c:numRef>
              <c:f>'Chart Data'!$D$2:$D$169</c:f>
              <c:numCache>
                <c:formatCode>General</c:formatCode>
                <c:ptCount val="168"/>
                <c:pt idx="0">
                  <c:v>2.0353</c:v>
                </c:pt>
                <c:pt idx="1">
                  <c:v>2.0251</c:v>
                </c:pt>
                <c:pt idx="2">
                  <c:v>2.0133</c:v>
                </c:pt>
                <c:pt idx="3">
                  <c:v>2.0133</c:v>
                </c:pt>
                <c:pt idx="4">
                  <c:v>2.0005</c:v>
                </c:pt>
                <c:pt idx="5">
                  <c:v>2.0139</c:v>
                </c:pt>
                <c:pt idx="6">
                  <c:v>2.0131</c:v>
                </c:pt>
                <c:pt idx="7">
                  <c:v>1.9688</c:v>
                </c:pt>
                <c:pt idx="8">
                  <c:v>1.9682</c:v>
                </c:pt>
                <c:pt idx="9">
                  <c:v>1.9572</c:v>
                </c:pt>
                <c:pt idx="10">
                  <c:v>1.9456</c:v>
                </c:pt>
                <c:pt idx="11">
                  <c:v>1.9348</c:v>
                </c:pt>
                <c:pt idx="12">
                  <c:v>1.9233</c:v>
                </c:pt>
                <c:pt idx="13">
                  <c:v>1.9119</c:v>
                </c:pt>
                <c:pt idx="14">
                  <c:v>1.9011</c:v>
                </c:pt>
                <c:pt idx="15">
                  <c:v>1.8892</c:v>
                </c:pt>
                <c:pt idx="16">
                  <c:v>1.8783</c:v>
                </c:pt>
                <c:pt idx="17">
                  <c:v>1.8676</c:v>
                </c:pt>
                <c:pt idx="18">
                  <c:v>1.8676</c:v>
                </c:pt>
                <c:pt idx="19">
                  <c:v>1.9796</c:v>
                </c:pt>
                <c:pt idx="20">
                  <c:v>1.9575</c:v>
                </c:pt>
                <c:pt idx="21">
                  <c:v>1.9458</c:v>
                </c:pt>
                <c:pt idx="22">
                  <c:v>1.9242</c:v>
                </c:pt>
                <c:pt idx="23">
                  <c:v>1.946</c:v>
                </c:pt>
                <c:pt idx="24">
                  <c:v>1.9014</c:v>
                </c:pt>
                <c:pt idx="25">
                  <c:v>1.8787</c:v>
                </c:pt>
                <c:pt idx="26">
                  <c:v>1.8683</c:v>
                </c:pt>
                <c:pt idx="27">
                  <c:v>1.856</c:v>
                </c:pt>
                <c:pt idx="28">
                  <c:v>1.8452</c:v>
                </c:pt>
                <c:pt idx="29">
                  <c:v>1.8572</c:v>
                </c:pt>
                <c:pt idx="30">
                  <c:v>1.9248</c:v>
                </c:pt>
                <c:pt idx="31">
                  <c:v>1.8822</c:v>
                </c:pt>
                <c:pt idx="32">
                  <c:v>1.8553</c:v>
                </c:pt>
                <c:pt idx="33">
                  <c:v>1.8393</c:v>
                </c:pt>
                <c:pt idx="34">
                  <c:v>1.8185</c:v>
                </c:pt>
                <c:pt idx="35">
                  <c:v>1.8135</c:v>
                </c:pt>
                <c:pt idx="36">
                  <c:v>1.7971</c:v>
                </c:pt>
                <c:pt idx="37">
                  <c:v>1.781</c:v>
                </c:pt>
                <c:pt idx="38">
                  <c:v>1.771</c:v>
                </c:pt>
                <c:pt idx="39">
                  <c:v>1.7605</c:v>
                </c:pt>
                <c:pt idx="40">
                  <c:v>1.7503</c:v>
                </c:pt>
                <c:pt idx="41">
                  <c:v>1.7395</c:v>
                </c:pt>
                <c:pt idx="42">
                  <c:v>1.7547</c:v>
                </c:pt>
                <c:pt idx="43">
                  <c:v>1.7659</c:v>
                </c:pt>
                <c:pt idx="44">
                  <c:v>1.7338</c:v>
                </c:pt>
                <c:pt idx="45">
                  <c:v>1.7133</c:v>
                </c:pt>
                <c:pt idx="46">
                  <c:v>1.7024</c:v>
                </c:pt>
                <c:pt idx="47">
                  <c:v>1.8237</c:v>
                </c:pt>
                <c:pt idx="48">
                  <c:v>1.8081</c:v>
                </c:pt>
                <c:pt idx="49">
                  <c:v>1.7758</c:v>
                </c:pt>
                <c:pt idx="50">
                  <c:v>1.7447</c:v>
                </c:pt>
                <c:pt idx="51">
                  <c:v>1.7292</c:v>
                </c:pt>
                <c:pt idx="52">
                  <c:v>1.7081</c:v>
                </c:pt>
                <c:pt idx="53">
                  <c:v>1.6976</c:v>
                </c:pt>
                <c:pt idx="54">
                  <c:v>1.6821</c:v>
                </c:pt>
                <c:pt idx="55">
                  <c:v>1.6715</c:v>
                </c:pt>
                <c:pt idx="56">
                  <c:v>1.6608</c:v>
                </c:pt>
                <c:pt idx="57">
                  <c:v>1.6511</c:v>
                </c:pt>
                <c:pt idx="58">
                  <c:v>1.6401</c:v>
                </c:pt>
                <c:pt idx="59">
                  <c:v>1.6292</c:v>
                </c:pt>
                <c:pt idx="60">
                  <c:v>1.6088</c:v>
                </c:pt>
                <c:pt idx="61">
                  <c:v>1.6035</c:v>
                </c:pt>
                <c:pt idx="62">
                  <c:v>1.599</c:v>
                </c:pt>
                <c:pt idx="63">
                  <c:v>1.5876</c:v>
                </c:pt>
                <c:pt idx="64">
                  <c:v>1.583</c:v>
                </c:pt>
                <c:pt idx="65">
                  <c:v>1.5671</c:v>
                </c:pt>
                <c:pt idx="66">
                  <c:v>1.5613</c:v>
                </c:pt>
                <c:pt idx="67">
                  <c:v>1.5512</c:v>
                </c:pt>
                <c:pt idx="68">
                  <c:v>1.5407</c:v>
                </c:pt>
                <c:pt idx="69">
                  <c:v>1.5253</c:v>
                </c:pt>
                <c:pt idx="70">
                  <c:v>1.5302</c:v>
                </c:pt>
                <c:pt idx="71">
                  <c:v>1.5247</c:v>
                </c:pt>
                <c:pt idx="72">
                  <c:v>1.5145</c:v>
                </c:pt>
                <c:pt idx="73">
                  <c:v>1.5094</c:v>
                </c:pt>
                <c:pt idx="74">
                  <c:v>1.504</c:v>
                </c:pt>
                <c:pt idx="75">
                  <c:v>1.4935</c:v>
                </c:pt>
                <c:pt idx="76">
                  <c:v>1.4876</c:v>
                </c:pt>
                <c:pt idx="77">
                  <c:v>1.5303</c:v>
                </c:pt>
                <c:pt idx="78">
                  <c:v>1.5041</c:v>
                </c:pt>
                <c:pt idx="79">
                  <c:v>1.4888</c:v>
                </c:pt>
                <c:pt idx="80">
                  <c:v>1.4783</c:v>
                </c:pt>
                <c:pt idx="81">
                  <c:v>1.4785</c:v>
                </c:pt>
                <c:pt idx="82">
                  <c:v>1.4732</c:v>
                </c:pt>
                <c:pt idx="83">
                  <c:v>1.4675</c:v>
                </c:pt>
                <c:pt idx="84">
                  <c:v>1.4516</c:v>
                </c:pt>
                <c:pt idx="85">
                  <c:v>1.4519</c:v>
                </c:pt>
                <c:pt idx="86">
                  <c:v>1.4471</c:v>
                </c:pt>
                <c:pt idx="87">
                  <c:v>1.4469</c:v>
                </c:pt>
                <c:pt idx="88">
                  <c:v>1.4417</c:v>
                </c:pt>
                <c:pt idx="89">
                  <c:v>1.5936</c:v>
                </c:pt>
                <c:pt idx="90">
                  <c:v>1.5464</c:v>
                </c:pt>
                <c:pt idx="91">
                  <c:v>1.5147</c:v>
                </c:pt>
                <c:pt idx="92">
                  <c:v>1.499</c:v>
                </c:pt>
                <c:pt idx="93">
                  <c:v>1.4831</c:v>
                </c:pt>
                <c:pt idx="94">
                  <c:v>1.473</c:v>
                </c:pt>
                <c:pt idx="95">
                  <c:v>1.4628</c:v>
                </c:pt>
                <c:pt idx="96">
                  <c:v>1.4518</c:v>
                </c:pt>
                <c:pt idx="97">
                  <c:v>1.4469</c:v>
                </c:pt>
                <c:pt idx="98">
                  <c:v>1.4414</c:v>
                </c:pt>
                <c:pt idx="99">
                  <c:v>1.4312</c:v>
                </c:pt>
                <c:pt idx="100">
                  <c:v>1.426</c:v>
                </c:pt>
                <c:pt idx="101">
                  <c:v>1.4205</c:v>
                </c:pt>
                <c:pt idx="102">
                  <c:v>1.4207</c:v>
                </c:pt>
                <c:pt idx="103">
                  <c:v>1.4523</c:v>
                </c:pt>
                <c:pt idx="104">
                  <c:v>1.4316</c:v>
                </c:pt>
                <c:pt idx="105">
                  <c:v>1.415</c:v>
                </c:pt>
                <c:pt idx="106">
                  <c:v>1.4097</c:v>
                </c:pt>
                <c:pt idx="107">
                  <c:v>1.4049</c:v>
                </c:pt>
                <c:pt idx="108">
                  <c:v>1.3952</c:v>
                </c:pt>
                <c:pt idx="109">
                  <c:v>1.3945</c:v>
                </c:pt>
                <c:pt idx="110">
                  <c:v>1.3893</c:v>
                </c:pt>
                <c:pt idx="111">
                  <c:v>1.3838</c:v>
                </c:pt>
                <c:pt idx="112">
                  <c:v>1.3737</c:v>
                </c:pt>
                <c:pt idx="113">
                  <c:v>1.3786</c:v>
                </c:pt>
                <c:pt idx="114">
                  <c:v>1.3738</c:v>
                </c:pt>
                <c:pt idx="115">
                  <c:v>1.3683</c:v>
                </c:pt>
                <c:pt idx="116">
                  <c:v>1.3633</c:v>
                </c:pt>
                <c:pt idx="117">
                  <c:v>1.3581</c:v>
                </c:pt>
                <c:pt idx="118">
                  <c:v>1.3533</c:v>
                </c:pt>
                <c:pt idx="119">
                  <c:v>1.3842</c:v>
                </c:pt>
                <c:pt idx="120">
                  <c:v>1.4051</c:v>
                </c:pt>
                <c:pt idx="121">
                  <c:v>1.3787</c:v>
                </c:pt>
                <c:pt idx="122">
                  <c:v>1.3683</c:v>
                </c:pt>
                <c:pt idx="123">
                  <c:v>1.3573</c:v>
                </c:pt>
                <c:pt idx="124">
                  <c:v>1.3525</c:v>
                </c:pt>
                <c:pt idx="125">
                  <c:v>1.3474</c:v>
                </c:pt>
                <c:pt idx="126">
                  <c:v>1.337</c:v>
                </c:pt>
                <c:pt idx="127">
                  <c:v>1.3312</c:v>
                </c:pt>
                <c:pt idx="128">
                  <c:v>1.3259</c:v>
                </c:pt>
                <c:pt idx="129">
                  <c:v>1.3216</c:v>
                </c:pt>
                <c:pt idx="130">
                  <c:v>1.3212</c:v>
                </c:pt>
                <c:pt idx="131">
                  <c:v>1.3156</c:v>
                </c:pt>
                <c:pt idx="132">
                  <c:v>1.3209</c:v>
                </c:pt>
                <c:pt idx="133">
                  <c:v>1.3474</c:v>
                </c:pt>
                <c:pt idx="134">
                  <c:v>1.326</c:v>
                </c:pt>
                <c:pt idx="135">
                  <c:v>1.3101</c:v>
                </c:pt>
                <c:pt idx="136">
                  <c:v>1.3052</c:v>
                </c:pt>
                <c:pt idx="137">
                  <c:v>1.3004</c:v>
                </c:pt>
                <c:pt idx="138">
                  <c:v>1.3002</c:v>
                </c:pt>
                <c:pt idx="139">
                  <c:v>1.2895</c:v>
                </c:pt>
                <c:pt idx="140">
                  <c:v>1.2793</c:v>
                </c:pt>
                <c:pt idx="141">
                  <c:v>1.2792</c:v>
                </c:pt>
                <c:pt idx="142">
                  <c:v>1.274</c:v>
                </c:pt>
                <c:pt idx="143">
                  <c:v>1.2741</c:v>
                </c:pt>
                <c:pt idx="144">
                  <c:v>1.2638</c:v>
                </c:pt>
                <c:pt idx="145">
                  <c:v>1.2581</c:v>
                </c:pt>
                <c:pt idx="146">
                  <c:v>1.2533</c:v>
                </c:pt>
                <c:pt idx="147">
                  <c:v>1.2532</c:v>
                </c:pt>
                <c:pt idx="148">
                  <c:v>1.2481</c:v>
                </c:pt>
                <c:pt idx="149">
                  <c:v>1.2534</c:v>
                </c:pt>
                <c:pt idx="150">
                  <c:v>1.2898</c:v>
                </c:pt>
                <c:pt idx="151">
                  <c:v>1.2635</c:v>
                </c:pt>
                <c:pt idx="152">
                  <c:v>1.248</c:v>
                </c:pt>
                <c:pt idx="153">
                  <c:v>1.2321</c:v>
                </c:pt>
                <c:pt idx="154">
                  <c:v>1.2271</c:v>
                </c:pt>
                <c:pt idx="155">
                  <c:v>1.2217</c:v>
                </c:pt>
                <c:pt idx="156">
                  <c:v>1.2111</c:v>
                </c:pt>
                <c:pt idx="157">
                  <c:v>1.2056</c:v>
                </c:pt>
                <c:pt idx="158">
                  <c:v>1.2009</c:v>
                </c:pt>
                <c:pt idx="159">
                  <c:v>1.1906</c:v>
                </c:pt>
                <c:pt idx="160">
                  <c:v>1.1852</c:v>
                </c:pt>
                <c:pt idx="161">
                  <c:v>1.1797</c:v>
                </c:pt>
                <c:pt idx="162">
                  <c:v>1.1746</c:v>
                </c:pt>
                <c:pt idx="163">
                  <c:v>1.1538</c:v>
                </c:pt>
                <c:pt idx="164">
                  <c:v>1.1644</c:v>
                </c:pt>
                <c:pt idx="165">
                  <c:v>1.1588</c:v>
                </c:pt>
                <c:pt idx="166">
                  <c:v>1.175</c:v>
                </c:pt>
                <c:pt idx="167">
                  <c:v>1.1857</c:v>
                </c:pt>
              </c:numCache>
            </c:numRef>
          </c:val>
        </c:ser>
        <c:ser>
          <c:idx val="2"/>
          <c:order val="2"/>
          <c:tx>
            <c:v>B0007</c:v>
          </c:tx>
          <c:spPr>
            <a:solidFill xmlns:a="http://schemas.openxmlformats.org/drawingml/2006/main">
              <a:srgbClr val="647D32"/>
            </a:solidFill>
          </c:spPr>
          <c:marker>
            <c:symbol val="none"/>
          </c:marker>
          <c:cat>
            <c:numRef>
              <c:f>'Chart Data'!$E$2:$E$169</c:f>
              <c:numCache>
                <c:formatCode>General</c:formatCode>
                <c:ptCount val="16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numCache>
            </c:numRef>
          </c:cat>
          <c:val>
            <c:numRef>
              <c:f>'Chart Data'!$F$2:$F$169</c:f>
              <c:numCache>
                <c:formatCode>General</c:formatCode>
                <c:ptCount val="168"/>
                <c:pt idx="0">
                  <c:v>1.8911</c:v>
                </c:pt>
                <c:pt idx="1">
                  <c:v>1.8806</c:v>
                </c:pt>
                <c:pt idx="2">
                  <c:v>1.8807</c:v>
                </c:pt>
                <c:pt idx="3">
                  <c:v>1.8808</c:v>
                </c:pt>
                <c:pt idx="4">
                  <c:v>1.8795</c:v>
                </c:pt>
                <c:pt idx="5">
                  <c:v>1.8807</c:v>
                </c:pt>
                <c:pt idx="6">
                  <c:v>1.8799</c:v>
                </c:pt>
                <c:pt idx="7">
                  <c:v>1.8815</c:v>
                </c:pt>
                <c:pt idx="8">
                  <c:v>1.8697</c:v>
                </c:pt>
                <c:pt idx="9">
                  <c:v>1.8701</c:v>
                </c:pt>
                <c:pt idx="10">
                  <c:v>1.87</c:v>
                </c:pt>
                <c:pt idx="11">
                  <c:v>1.8597</c:v>
                </c:pt>
                <c:pt idx="12">
                  <c:v>1.8591</c:v>
                </c:pt>
                <c:pt idx="13">
                  <c:v>1.859</c:v>
                </c:pt>
                <c:pt idx="14">
                  <c:v>1.8594</c:v>
                </c:pt>
                <c:pt idx="15">
                  <c:v>1.8587</c:v>
                </c:pt>
                <c:pt idx="16">
                  <c:v>1.8478</c:v>
                </c:pt>
                <c:pt idx="17">
                  <c:v>1.8485</c:v>
                </c:pt>
                <c:pt idx="18">
                  <c:v>1.8484</c:v>
                </c:pt>
                <c:pt idx="19">
                  <c:v>1.8808</c:v>
                </c:pt>
                <c:pt idx="20">
                  <c:v>1.8815</c:v>
                </c:pt>
                <c:pt idx="21">
                  <c:v>1.8811</c:v>
                </c:pt>
                <c:pt idx="22">
                  <c:v>1.871</c:v>
                </c:pt>
                <c:pt idx="23">
                  <c:v>1.8702</c:v>
                </c:pt>
                <c:pt idx="24">
                  <c:v>1.8707</c:v>
                </c:pt>
                <c:pt idx="25">
                  <c:v>1.8596</c:v>
                </c:pt>
                <c:pt idx="26">
                  <c:v>1.86</c:v>
                </c:pt>
                <c:pt idx="27">
                  <c:v>1.8592</c:v>
                </c:pt>
                <c:pt idx="28">
                  <c:v>1.8481</c:v>
                </c:pt>
                <c:pt idx="29">
                  <c:v>1.8492</c:v>
                </c:pt>
                <c:pt idx="30">
                  <c:v>1.8835</c:v>
                </c:pt>
                <c:pt idx="31">
                  <c:v>1.8628</c:v>
                </c:pt>
                <c:pt idx="32">
                  <c:v>1.8521</c:v>
                </c:pt>
                <c:pt idx="33">
                  <c:v>1.847</c:v>
                </c:pt>
                <c:pt idx="34">
                  <c:v>1.8368</c:v>
                </c:pt>
                <c:pt idx="35">
                  <c:v>1.8372</c:v>
                </c:pt>
                <c:pt idx="36">
                  <c:v>1.8317</c:v>
                </c:pt>
                <c:pt idx="37">
                  <c:v>1.8211</c:v>
                </c:pt>
                <c:pt idx="38">
                  <c:v>1.8165</c:v>
                </c:pt>
                <c:pt idx="39">
                  <c:v>1.8114</c:v>
                </c:pt>
                <c:pt idx="40">
                  <c:v>1.8116</c:v>
                </c:pt>
                <c:pt idx="41">
                  <c:v>1.8061</c:v>
                </c:pt>
                <c:pt idx="42">
                  <c:v>1.8132</c:v>
                </c:pt>
                <c:pt idx="43">
                  <c:v>1.8063</c:v>
                </c:pt>
                <c:pt idx="44">
                  <c:v>1.7958</c:v>
                </c:pt>
                <c:pt idx="45">
                  <c:v>1.7859</c:v>
                </c:pt>
                <c:pt idx="46">
                  <c:v>1.7803</c:v>
                </c:pt>
                <c:pt idx="47">
                  <c:v>1.8151</c:v>
                </c:pt>
                <c:pt idx="48">
                  <c:v>1.8157</c:v>
                </c:pt>
                <c:pt idx="49">
                  <c:v>1.8002</c:v>
                </c:pt>
                <c:pt idx="50">
                  <c:v>1.7904</c:v>
                </c:pt>
                <c:pt idx="51">
                  <c:v>1.7803</c:v>
                </c:pt>
                <c:pt idx="52">
                  <c:v>1.7753</c:v>
                </c:pt>
                <c:pt idx="53">
                  <c:v>1.7703</c:v>
                </c:pt>
                <c:pt idx="54">
                  <c:v>1.7601</c:v>
                </c:pt>
                <c:pt idx="55">
                  <c:v>1.7496</c:v>
                </c:pt>
                <c:pt idx="56">
                  <c:v>1.7497</c:v>
                </c:pt>
                <c:pt idx="57">
                  <c:v>1.745</c:v>
                </c:pt>
                <c:pt idx="58">
                  <c:v>1.7396</c:v>
                </c:pt>
                <c:pt idx="59">
                  <c:v>1.7286</c:v>
                </c:pt>
                <c:pt idx="60">
                  <c:v>1.7239</c:v>
                </c:pt>
                <c:pt idx="61">
                  <c:v>1.714</c:v>
                </c:pt>
                <c:pt idx="62">
                  <c:v>1.714</c:v>
                </c:pt>
                <c:pt idx="63">
                  <c:v>1.7037</c:v>
                </c:pt>
                <c:pt idx="64">
                  <c:v>1.704</c:v>
                </c:pt>
                <c:pt idx="65">
                  <c:v>1.6936</c:v>
                </c:pt>
                <c:pt idx="66">
                  <c:v>1.6877</c:v>
                </c:pt>
                <c:pt idx="67">
                  <c:v>1.6831</c:v>
                </c:pt>
                <c:pt idx="68">
                  <c:v>1.6779</c:v>
                </c:pt>
                <c:pt idx="69">
                  <c:v>1.6732</c:v>
                </c:pt>
                <c:pt idx="70">
                  <c:v>1.6674</c:v>
                </c:pt>
                <c:pt idx="71">
                  <c:v>1.6623</c:v>
                </c:pt>
                <c:pt idx="72">
                  <c:v>1.6574</c:v>
                </c:pt>
                <c:pt idx="73">
                  <c:v>1.6525</c:v>
                </c:pt>
                <c:pt idx="74">
                  <c:v>1.6472</c:v>
                </c:pt>
                <c:pt idx="75">
                  <c:v>1.6364</c:v>
                </c:pt>
                <c:pt idx="76">
                  <c:v>1.6363</c:v>
                </c:pt>
                <c:pt idx="77">
                  <c:v>1.6411</c:v>
                </c:pt>
                <c:pt idx="78">
                  <c:v>1.6316</c:v>
                </c:pt>
                <c:pt idx="79">
                  <c:v>1.6212</c:v>
                </c:pt>
                <c:pt idx="80">
                  <c:v>1.6164</c:v>
                </c:pt>
                <c:pt idx="81">
                  <c:v>1.6158</c:v>
                </c:pt>
                <c:pt idx="82">
                  <c:v>1.6167</c:v>
                </c:pt>
                <c:pt idx="83">
                  <c:v>1.6109</c:v>
                </c:pt>
                <c:pt idx="84">
                  <c:v>1.6007</c:v>
                </c:pt>
                <c:pt idx="85">
                  <c:v>1.5959</c:v>
                </c:pt>
                <c:pt idx="86">
                  <c:v>1.5962</c:v>
                </c:pt>
                <c:pt idx="87">
                  <c:v>1.5958</c:v>
                </c:pt>
                <c:pt idx="88">
                  <c:v>1.5907</c:v>
                </c:pt>
                <c:pt idx="89">
                  <c:v>1.6888</c:v>
                </c:pt>
                <c:pt idx="90">
                  <c:v>1.626</c:v>
                </c:pt>
                <c:pt idx="91">
                  <c:v>1.6157</c:v>
                </c:pt>
                <c:pt idx="92">
                  <c:v>1.6057</c:v>
                </c:pt>
                <c:pt idx="93">
                  <c:v>1.595</c:v>
                </c:pt>
                <c:pt idx="94">
                  <c:v>1.5904</c:v>
                </c:pt>
                <c:pt idx="95">
                  <c:v>1.5854</c:v>
                </c:pt>
                <c:pt idx="96">
                  <c:v>1.58</c:v>
                </c:pt>
                <c:pt idx="97">
                  <c:v>1.5752</c:v>
                </c:pt>
                <c:pt idx="98">
                  <c:v>1.5698</c:v>
                </c:pt>
                <c:pt idx="99">
                  <c:v>1.5703</c:v>
                </c:pt>
                <c:pt idx="100">
                  <c:v>1.5652</c:v>
                </c:pt>
                <c:pt idx="101">
                  <c:v>1.5596</c:v>
                </c:pt>
                <c:pt idx="102">
                  <c:v>1.565</c:v>
                </c:pt>
                <c:pt idx="103">
                  <c:v>1.575</c:v>
                </c:pt>
                <c:pt idx="104">
                  <c:v>1.5653</c:v>
                </c:pt>
                <c:pt idx="105">
                  <c:v>1.5598</c:v>
                </c:pt>
                <c:pt idx="106">
                  <c:v>1.5499</c:v>
                </c:pt>
                <c:pt idx="107">
                  <c:v>1.5439</c:v>
                </c:pt>
                <c:pt idx="108">
                  <c:v>1.545</c:v>
                </c:pt>
                <c:pt idx="109">
                  <c:v>1.5446</c:v>
                </c:pt>
                <c:pt idx="110">
                  <c:v>1.5343</c:v>
                </c:pt>
                <c:pt idx="111">
                  <c:v>1.5288</c:v>
                </c:pt>
                <c:pt idx="112">
                  <c:v>1.5289</c:v>
                </c:pt>
                <c:pt idx="113">
                  <c:v>1.5291</c:v>
                </c:pt>
                <c:pt idx="114">
                  <c:v>1.5239</c:v>
                </c:pt>
                <c:pt idx="115">
                  <c:v>1.5187</c:v>
                </c:pt>
                <c:pt idx="116">
                  <c:v>1.5136</c:v>
                </c:pt>
                <c:pt idx="117">
                  <c:v>1.5136</c:v>
                </c:pt>
                <c:pt idx="118">
                  <c:v>1.5139</c:v>
                </c:pt>
                <c:pt idx="119">
                  <c:v>1.534</c:v>
                </c:pt>
                <c:pt idx="120">
                  <c:v>1.5391</c:v>
                </c:pt>
                <c:pt idx="121">
                  <c:v>1.5236</c:v>
                </c:pt>
                <c:pt idx="122">
                  <c:v>1.5136</c:v>
                </c:pt>
                <c:pt idx="123">
                  <c:v>1.5078</c:v>
                </c:pt>
                <c:pt idx="124">
                  <c:v>1.5032</c:v>
                </c:pt>
                <c:pt idx="125">
                  <c:v>1.4978</c:v>
                </c:pt>
                <c:pt idx="126">
                  <c:v>1.4928</c:v>
                </c:pt>
                <c:pt idx="127">
                  <c:v>1.4924</c:v>
                </c:pt>
                <c:pt idx="128">
                  <c:v>1.4875</c:v>
                </c:pt>
                <c:pt idx="129">
                  <c:v>1.4825</c:v>
                </c:pt>
                <c:pt idx="130">
                  <c:v>1.4828</c:v>
                </c:pt>
                <c:pt idx="131">
                  <c:v>1.477</c:v>
                </c:pt>
                <c:pt idx="132">
                  <c:v>1.4819</c:v>
                </c:pt>
                <c:pt idx="133">
                  <c:v>1.4981</c:v>
                </c:pt>
                <c:pt idx="134">
                  <c:v>1.4821</c:v>
                </c:pt>
                <c:pt idx="135">
                  <c:v>1.4771</c:v>
                </c:pt>
                <c:pt idx="136">
                  <c:v>1.4721</c:v>
                </c:pt>
                <c:pt idx="137">
                  <c:v>1.4722</c:v>
                </c:pt>
                <c:pt idx="138">
                  <c:v>1.467</c:v>
                </c:pt>
                <c:pt idx="139">
                  <c:v>1.4618</c:v>
                </c:pt>
                <c:pt idx="140">
                  <c:v>1.4567</c:v>
                </c:pt>
                <c:pt idx="141">
                  <c:v>1.4514</c:v>
                </c:pt>
                <c:pt idx="142">
                  <c:v>1.4516</c:v>
                </c:pt>
                <c:pt idx="143">
                  <c:v>1.4468</c:v>
                </c:pt>
                <c:pt idx="144">
                  <c:v>1.4468</c:v>
                </c:pt>
                <c:pt idx="145">
                  <c:v>1.4414</c:v>
                </c:pt>
                <c:pt idx="146">
                  <c:v>1.4362</c:v>
                </c:pt>
                <c:pt idx="147">
                  <c:v>1.4368</c:v>
                </c:pt>
                <c:pt idx="148">
                  <c:v>1.4363</c:v>
                </c:pt>
                <c:pt idx="149">
                  <c:v>1.4419</c:v>
                </c:pt>
                <c:pt idx="150">
                  <c:v>1.4672</c:v>
                </c:pt>
                <c:pt idx="151">
                  <c:v>1.4519</c:v>
                </c:pt>
                <c:pt idx="152">
                  <c:v>1.4471</c:v>
                </c:pt>
                <c:pt idx="153">
                  <c:v>1.4418</c:v>
                </c:pt>
                <c:pt idx="154">
                  <c:v>1.4316</c:v>
                </c:pt>
                <c:pt idx="155">
                  <c:v>1.4318</c:v>
                </c:pt>
                <c:pt idx="156">
                  <c:v>1.4263</c:v>
                </c:pt>
                <c:pt idx="157">
                  <c:v>1.4261</c:v>
                </c:pt>
                <c:pt idx="158">
                  <c:v>1.4213</c:v>
                </c:pt>
                <c:pt idx="159">
                  <c:v>1.4163</c:v>
                </c:pt>
                <c:pt idx="160">
                  <c:v>1.4166</c:v>
                </c:pt>
                <c:pt idx="161">
                  <c:v>1.4108</c:v>
                </c:pt>
                <c:pt idx="162">
                  <c:v>1.411</c:v>
                </c:pt>
                <c:pt idx="163">
                  <c:v>1.4062</c:v>
                </c:pt>
                <c:pt idx="164">
                  <c:v>1.4063</c:v>
                </c:pt>
                <c:pt idx="165">
                  <c:v>1.4005</c:v>
                </c:pt>
                <c:pt idx="166">
                  <c:v>1.4218</c:v>
                </c:pt>
                <c:pt idx="167">
                  <c:v>1.4325</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B0018</c:v>
          </c:tx>
          <c:spPr>
            <a:solidFill xmlns:a="http://schemas.openxmlformats.org/drawingml/2006/main">
              <a:srgbClr val="8A4E9C"/>
            </a:solidFill>
          </c:spPr>
          <c:marker>
            <c:symbol val="none"/>
          </c:marker>
          <c:cat>
            <c:numRef>
              <c:f>'Chart Data'!$A$2:$A$133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Data'!$B$2:$B$133</c:f>
              <c:numCache>
                <c:formatCode>General</c:formatCode>
                <c:ptCount val="132"/>
                <c:pt idx="0">
                  <c:v>1.855</c:v>
                </c:pt>
                <c:pt idx="1">
                  <c:v>1.8432</c:v>
                </c:pt>
                <c:pt idx="2">
                  <c:v>1.8396</c:v>
                </c:pt>
                <c:pt idx="3">
                  <c:v>1.8307</c:v>
                </c:pt>
                <c:pt idx="4">
                  <c:v>1.8327</c:v>
                </c:pt>
                <c:pt idx="5">
                  <c:v>1.8285</c:v>
                </c:pt>
                <c:pt idx="6">
                  <c:v>1.8212</c:v>
                </c:pt>
                <c:pt idx="7">
                  <c:v>1.8152</c:v>
                </c:pt>
                <c:pt idx="8">
                  <c:v>1.8043</c:v>
                </c:pt>
                <c:pt idx="9">
                  <c:v>1.8231</c:v>
                </c:pt>
                <c:pt idx="10">
                  <c:v>1.8121</c:v>
                </c:pt>
                <c:pt idx="11">
                  <c:v>1.8047</c:v>
                </c:pt>
                <c:pt idx="12">
                  <c:v>1.7908</c:v>
                </c:pt>
                <c:pt idx="13">
                  <c:v>1.7835</c:v>
                </c:pt>
                <c:pt idx="14">
                  <c:v>1.7809</c:v>
                </c:pt>
                <c:pt idx="15">
                  <c:v>1.7712</c:v>
                </c:pt>
                <c:pt idx="16">
                  <c:v>1.7686</c:v>
                </c:pt>
                <c:pt idx="17">
                  <c:v>1.7536</c:v>
                </c:pt>
                <c:pt idx="18">
                  <c:v>1.7462</c:v>
                </c:pt>
                <c:pt idx="19">
                  <c:v>1.7377</c:v>
                </c:pt>
                <c:pt idx="20">
                  <c:v>1.7315</c:v>
                </c:pt>
                <c:pt idx="21">
                  <c:v>1.7086</c:v>
                </c:pt>
                <c:pt idx="22">
                  <c:v>1.7115</c:v>
                </c:pt>
                <c:pt idx="23">
                  <c:v>1.7075</c:v>
                </c:pt>
                <c:pt idx="24">
                  <c:v>1.7492</c:v>
                </c:pt>
                <c:pt idx="25">
                  <c:v>1.7328</c:v>
                </c:pt>
                <c:pt idx="26">
                  <c:v>1.7222</c:v>
                </c:pt>
                <c:pt idx="27">
                  <c:v>1.7118</c:v>
                </c:pt>
                <c:pt idx="28">
                  <c:v>1.6993</c:v>
                </c:pt>
                <c:pt idx="29">
                  <c:v>1.694</c:v>
                </c:pt>
                <c:pt idx="30">
                  <c:v>1.6819</c:v>
                </c:pt>
                <c:pt idx="31">
                  <c:v>1.677</c:v>
                </c:pt>
                <c:pt idx="32">
                  <c:v>1.6655</c:v>
                </c:pt>
                <c:pt idx="33">
                  <c:v>1.6572</c:v>
                </c:pt>
                <c:pt idx="34">
                  <c:v>1.6482</c:v>
                </c:pt>
                <c:pt idx="35">
                  <c:v>1.6388</c:v>
                </c:pt>
                <c:pt idx="36">
                  <c:v>1.6276</c:v>
                </c:pt>
                <c:pt idx="37">
                  <c:v>1.6222</c:v>
                </c:pt>
                <c:pt idx="38">
                  <c:v>1.614</c:v>
                </c:pt>
                <c:pt idx="39">
                  <c:v>1.6761</c:v>
                </c:pt>
                <c:pt idx="40">
                  <c:v>1.6493</c:v>
                </c:pt>
                <c:pt idx="41">
                  <c:v>1.6324</c:v>
                </c:pt>
                <c:pt idx="42">
                  <c:v>1.6164</c:v>
                </c:pt>
                <c:pt idx="43">
                  <c:v>1.6109</c:v>
                </c:pt>
                <c:pt idx="44">
                  <c:v>1.5955</c:v>
                </c:pt>
                <c:pt idx="45">
                  <c:v>1.7267</c:v>
                </c:pt>
                <c:pt idx="46">
                  <c:v>1.7166</c:v>
                </c:pt>
                <c:pt idx="47">
                  <c:v>1.6958</c:v>
                </c:pt>
                <c:pt idx="48">
                  <c:v>1.6778</c:v>
                </c:pt>
                <c:pt idx="49">
                  <c:v>1.6607</c:v>
                </c:pt>
                <c:pt idx="50">
                  <c:v>1.6664</c:v>
                </c:pt>
                <c:pt idx="51">
                  <c:v>1.6468</c:v>
                </c:pt>
                <c:pt idx="52">
                  <c:v>1.6258</c:v>
                </c:pt>
                <c:pt idx="53">
                  <c:v>1.6122</c:v>
                </c:pt>
                <c:pt idx="54">
                  <c:v>1.6057</c:v>
                </c:pt>
                <c:pt idx="55">
                  <c:v>1.6736</c:v>
                </c:pt>
                <c:pt idx="56">
                  <c:v>1.6404</c:v>
                </c:pt>
                <c:pt idx="57">
                  <c:v>1.6133</c:v>
                </c:pt>
                <c:pt idx="58">
                  <c:v>1.5921</c:v>
                </c:pt>
                <c:pt idx="59">
                  <c:v>1.5866</c:v>
                </c:pt>
                <c:pt idx="60">
                  <c:v>1.5801</c:v>
                </c:pt>
                <c:pt idx="61">
                  <c:v>1.5642</c:v>
                </c:pt>
                <c:pt idx="62">
                  <c:v>1.5556</c:v>
                </c:pt>
                <c:pt idx="63">
                  <c:v>1.5402</c:v>
                </c:pt>
                <c:pt idx="64">
                  <c:v>1.5322</c:v>
                </c:pt>
                <c:pt idx="65">
                  <c:v>1.5316</c:v>
                </c:pt>
                <c:pt idx="66">
                  <c:v>1.5223</c:v>
                </c:pt>
                <c:pt idx="67">
                  <c:v>1.5065</c:v>
                </c:pt>
                <c:pt idx="68">
                  <c:v>1.5014</c:v>
                </c:pt>
                <c:pt idx="69">
                  <c:v>1.4964</c:v>
                </c:pt>
                <c:pt idx="70">
                  <c:v>1.5334</c:v>
                </c:pt>
                <c:pt idx="71">
                  <c:v>1.5238</c:v>
                </c:pt>
                <c:pt idx="72">
                  <c:v>1.5012</c:v>
                </c:pt>
                <c:pt idx="73">
                  <c:v>1.4924</c:v>
                </c:pt>
                <c:pt idx="74">
                  <c:v>1.4833</c:v>
                </c:pt>
                <c:pt idx="75">
                  <c:v>1.4807</c:v>
                </c:pt>
                <c:pt idx="76">
                  <c:v>1.4735</c:v>
                </c:pt>
                <c:pt idx="77">
                  <c:v>1.468</c:v>
                </c:pt>
                <c:pt idx="78">
                  <c:v>1.4581</c:v>
                </c:pt>
                <c:pt idx="79">
                  <c:v>1.4479</c:v>
                </c:pt>
                <c:pt idx="80">
                  <c:v>1.4528</c:v>
                </c:pt>
                <c:pt idx="81">
                  <c:v>1.4425</c:v>
                </c:pt>
                <c:pt idx="82">
                  <c:v>1.4393</c:v>
                </c:pt>
                <c:pt idx="83">
                  <c:v>1.4286</c:v>
                </c:pt>
                <c:pt idx="84">
                  <c:v>1.4249</c:v>
                </c:pt>
                <c:pt idx="85">
                  <c:v>1.4698</c:v>
                </c:pt>
                <c:pt idx="86">
                  <c:v>1.4526</c:v>
                </c:pt>
                <c:pt idx="87">
                  <c:v>1.4428</c:v>
                </c:pt>
                <c:pt idx="88">
                  <c:v>1.4284</c:v>
                </c:pt>
                <c:pt idx="89">
                  <c:v>1.4155</c:v>
                </c:pt>
                <c:pt idx="90">
                  <c:v>1.4546</c:v>
                </c:pt>
                <c:pt idx="91">
                  <c:v>1.4283</c:v>
                </c:pt>
                <c:pt idx="92">
                  <c:v>1.4197</c:v>
                </c:pt>
                <c:pt idx="93">
                  <c:v>1.4156</c:v>
                </c:pt>
                <c:pt idx="94">
                  <c:v>1.4057</c:v>
                </c:pt>
                <c:pt idx="95">
                  <c:v>1.4084</c:v>
                </c:pt>
                <c:pt idx="96">
                  <c:v>1.3969</c:v>
                </c:pt>
                <c:pt idx="97">
                  <c:v>1.3936</c:v>
                </c:pt>
                <c:pt idx="98">
                  <c:v>1.3894</c:v>
                </c:pt>
                <c:pt idx="99">
                  <c:v>1.3786</c:v>
                </c:pt>
                <c:pt idx="100">
                  <c:v>1.3849</c:v>
                </c:pt>
                <c:pt idx="101">
                  <c:v>1.3703</c:v>
                </c:pt>
                <c:pt idx="102">
                  <c:v>1.3733</c:v>
                </c:pt>
                <c:pt idx="103">
                  <c:v>1.3679</c:v>
                </c:pt>
                <c:pt idx="104">
                  <c:v>1.3567</c:v>
                </c:pt>
                <c:pt idx="105">
                  <c:v>1.4604</c:v>
                </c:pt>
                <c:pt idx="106">
                  <c:v>1.4501</c:v>
                </c:pt>
                <c:pt idx="107">
                  <c:v>1.4381</c:v>
                </c:pt>
                <c:pt idx="108">
                  <c:v>1.4284</c:v>
                </c:pt>
                <c:pt idx="109">
                  <c:v>1.4148</c:v>
                </c:pt>
                <c:pt idx="110">
                  <c:v>1.4139</c:v>
                </c:pt>
                <c:pt idx="111">
                  <c:v>1.3989</c:v>
                </c:pt>
                <c:pt idx="112">
                  <c:v>1.3953</c:v>
                </c:pt>
                <c:pt idx="113">
                  <c:v>1.39</c:v>
                </c:pt>
                <c:pt idx="114">
                  <c:v>1.386</c:v>
                </c:pt>
                <c:pt idx="115">
                  <c:v>1.3882</c:v>
                </c:pt>
                <c:pt idx="116">
                  <c:v>1.3762</c:v>
                </c:pt>
                <c:pt idx="117">
                  <c:v>1.3647</c:v>
                </c:pt>
                <c:pt idx="118">
                  <c:v>1.359</c:v>
                </c:pt>
                <c:pt idx="119">
                  <c:v>1.3462</c:v>
                </c:pt>
                <c:pt idx="120">
                  <c:v>1.4268</c:v>
                </c:pt>
                <c:pt idx="121">
                  <c:v>1.4064</c:v>
                </c:pt>
                <c:pt idx="122">
                  <c:v>1.3935</c:v>
                </c:pt>
                <c:pt idx="123">
                  <c:v>1.3882</c:v>
                </c:pt>
                <c:pt idx="124">
                  <c:v>1.3702</c:v>
                </c:pt>
                <c:pt idx="125">
                  <c:v>1.3797</c:v>
                </c:pt>
                <c:pt idx="126">
                  <c:v>1.3687</c:v>
                </c:pt>
                <c:pt idx="127">
                  <c:v>1.3627</c:v>
                </c:pt>
                <c:pt idx="128">
                  <c:v>1.3634</c:v>
                </c:pt>
                <c:pt idx="129">
                  <c:v>1.3519</c:v>
                </c:pt>
                <c:pt idx="130">
                  <c:v>1.3548</c:v>
                </c:pt>
                <c:pt idx="131">
                  <c:v>1.3411</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B0005</c:v>
          </c:tx>
          <c:spPr>
            <a:solidFill xmlns:a="http://schemas.openxmlformats.org/drawingml/2006/main">
              <a:srgbClr val="176B87"/>
            </a:solidFill>
          </c:spPr>
          <c:marker>
            <c:symbol val="none"/>
          </c:marker>
          <c:cat>
            <c:numRef>
              <c:f>'Chart Data'!$A$2:$A$133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Data'!$B$2:$B$133</c:f>
              <c:numCache>
                <c:formatCode>General</c:formatCode>
                <c:ptCount val="132"/>
                <c:pt idx="0">
                  <c:v>100</c:v>
                </c:pt>
                <c:pt idx="1">
                  <c:v>99.450579</c:v>
                </c:pt>
                <c:pt idx="2">
                  <c:v>98.858066</c:v>
                </c:pt>
                <c:pt idx="3">
                  <c:v>98.858066</c:v>
                </c:pt>
                <c:pt idx="4">
                  <c:v>98.820361</c:v>
                </c:pt>
                <c:pt idx="5">
                  <c:v>98.879612</c:v>
                </c:pt>
                <c:pt idx="6">
                  <c:v>98.847293</c:v>
                </c:pt>
                <c:pt idx="7">
                  <c:v>98.346351</c:v>
                </c:pt>
                <c:pt idx="8">
                  <c:v>98.292486</c:v>
                </c:pt>
                <c:pt idx="9">
                  <c:v>98.281713</c:v>
                </c:pt>
                <c:pt idx="10">
                  <c:v>98.281713</c:v>
                </c:pt>
                <c:pt idx="11">
                  <c:v>97.721519</c:v>
                </c:pt>
                <c:pt idx="12">
                  <c:v>97.699973</c:v>
                </c:pt>
                <c:pt idx="13">
                  <c:v>97.678427</c:v>
                </c:pt>
                <c:pt idx="14">
                  <c:v>97.096687</c:v>
                </c:pt>
                <c:pt idx="15">
                  <c:v>97.069755</c:v>
                </c:pt>
                <c:pt idx="16">
                  <c:v>97.096687</c:v>
                </c:pt>
                <c:pt idx="17">
                  <c:v>97.12362</c:v>
                </c:pt>
                <c:pt idx="18">
                  <c:v>97.10746</c:v>
                </c:pt>
                <c:pt idx="19">
                  <c:v>99.488284</c:v>
                </c:pt>
                <c:pt idx="20">
                  <c:v>99.50983</c:v>
                </c:pt>
                <c:pt idx="21">
                  <c:v>98.906545</c:v>
                </c:pt>
                <c:pt idx="22">
                  <c:v>98.346351</c:v>
                </c:pt>
                <c:pt idx="23">
                  <c:v>98.308645</c:v>
                </c:pt>
                <c:pt idx="24">
                  <c:v>98.335578</c:v>
                </c:pt>
                <c:pt idx="25">
                  <c:v>97.710746</c:v>
                </c:pt>
                <c:pt idx="26">
                  <c:v>97.753838</c:v>
                </c:pt>
                <c:pt idx="27">
                  <c:v>97.710746</c:v>
                </c:pt>
                <c:pt idx="28">
                  <c:v>97.10746</c:v>
                </c:pt>
                <c:pt idx="29">
                  <c:v>97.177485</c:v>
                </c:pt>
                <c:pt idx="30">
                  <c:v>99.746835</c:v>
                </c:pt>
                <c:pt idx="31">
                  <c:v>98.610288</c:v>
                </c:pt>
                <c:pt idx="32">
                  <c:v>98.028548</c:v>
                </c:pt>
                <c:pt idx="33">
                  <c:v>97.457581</c:v>
                </c:pt>
                <c:pt idx="34">
                  <c:v>97.204417</c:v>
                </c:pt>
                <c:pt idx="35">
                  <c:v>96.92432</c:v>
                </c:pt>
                <c:pt idx="36">
                  <c:v>96.331807</c:v>
                </c:pt>
                <c:pt idx="37">
                  <c:v>96.035551</c:v>
                </c:pt>
                <c:pt idx="38">
                  <c:v>95.502289</c:v>
                </c:pt>
                <c:pt idx="39">
                  <c:v>95.502289</c:v>
                </c:pt>
                <c:pt idx="40">
                  <c:v>95.227579</c:v>
                </c:pt>
                <c:pt idx="41">
                  <c:v>94.925936</c:v>
                </c:pt>
                <c:pt idx="42">
                  <c:v>95.211419</c:v>
                </c:pt>
                <c:pt idx="43">
                  <c:v>94.947482</c:v>
                </c:pt>
                <c:pt idx="44">
                  <c:v>94.354969</c:v>
                </c:pt>
                <c:pt idx="45">
                  <c:v>93.821708</c:v>
                </c:pt>
                <c:pt idx="46">
                  <c:v>93.514678</c:v>
                </c:pt>
                <c:pt idx="47">
                  <c:v>96.611904</c:v>
                </c:pt>
                <c:pt idx="48">
                  <c:v>96.05171</c:v>
                </c:pt>
                <c:pt idx="49">
                  <c:v>95.200646</c:v>
                </c:pt>
                <c:pt idx="50">
                  <c:v>94.640452</c:v>
                </c:pt>
                <c:pt idx="51">
                  <c:v>94.096418</c:v>
                </c:pt>
                <c:pt idx="52">
                  <c:v>93.816321</c:v>
                </c:pt>
                <c:pt idx="53">
                  <c:v>93.530838</c:v>
                </c:pt>
                <c:pt idx="54">
                  <c:v>92.986803</c:v>
                </c:pt>
                <c:pt idx="55">
                  <c:v>92.421223</c:v>
                </c:pt>
                <c:pt idx="56">
                  <c:v>92.135739</c:v>
                </c:pt>
                <c:pt idx="57">
                  <c:v>91.893348</c:v>
                </c:pt>
                <c:pt idx="58">
                  <c:v>91.586318</c:v>
                </c:pt>
                <c:pt idx="59">
                  <c:v>91.279289</c:v>
                </c:pt>
                <c:pt idx="60">
                  <c:v>90.7568</c:v>
                </c:pt>
                <c:pt idx="61">
                  <c:v>90.196607</c:v>
                </c:pt>
                <c:pt idx="62">
                  <c:v>90.201993</c:v>
                </c:pt>
                <c:pt idx="63">
                  <c:v>89.614867</c:v>
                </c:pt>
                <c:pt idx="64">
                  <c:v>89.361702</c:v>
                </c:pt>
                <c:pt idx="65">
                  <c:v>89.086992</c:v>
                </c:pt>
                <c:pt idx="66">
                  <c:v>88.483706</c:v>
                </c:pt>
                <c:pt idx="67">
                  <c:v>88.225155</c:v>
                </c:pt>
                <c:pt idx="68">
                  <c:v>87.945058</c:v>
                </c:pt>
                <c:pt idx="69">
                  <c:v>87.68112</c:v>
                </c:pt>
                <c:pt idx="70">
                  <c:v>87.374091</c:v>
                </c:pt>
                <c:pt idx="71">
                  <c:v>86.792351</c:v>
                </c:pt>
                <c:pt idx="72">
                  <c:v>86.539187</c:v>
                </c:pt>
                <c:pt idx="73">
                  <c:v>86.264476</c:v>
                </c:pt>
                <c:pt idx="74">
                  <c:v>85.666577</c:v>
                </c:pt>
                <c:pt idx="75">
                  <c:v>85.418799</c:v>
                </c:pt>
                <c:pt idx="76">
                  <c:v>85.37032</c:v>
                </c:pt>
                <c:pt idx="77">
                  <c:v>85.941287</c:v>
                </c:pt>
                <c:pt idx="78">
                  <c:v>84.8209</c:v>
                </c:pt>
                <c:pt idx="79">
                  <c:v>84.293025</c:v>
                </c:pt>
                <c:pt idx="80">
                  <c:v>84.018314</c:v>
                </c:pt>
                <c:pt idx="81">
                  <c:v>84.002155</c:v>
                </c:pt>
                <c:pt idx="82">
                  <c:v>83.743604</c:v>
                </c:pt>
                <c:pt idx="83">
                  <c:v>83.431188</c:v>
                </c:pt>
                <c:pt idx="84">
                  <c:v>82.854834</c:v>
                </c:pt>
                <c:pt idx="85">
                  <c:v>82.300027</c:v>
                </c:pt>
                <c:pt idx="86">
                  <c:v>82.332346</c:v>
                </c:pt>
                <c:pt idx="87">
                  <c:v>82.014543</c:v>
                </c:pt>
                <c:pt idx="88">
                  <c:v>81.739833</c:v>
                </c:pt>
                <c:pt idx="89">
                  <c:v>86.496095</c:v>
                </c:pt>
                <c:pt idx="90">
                  <c:v>84.233773</c:v>
                </c:pt>
                <c:pt idx="91">
                  <c:v>83.388096</c:v>
                </c:pt>
                <c:pt idx="92">
                  <c:v>82.542419</c:v>
                </c:pt>
                <c:pt idx="93">
                  <c:v>82.251549</c:v>
                </c:pt>
                <c:pt idx="94">
                  <c:v>81.712901</c:v>
                </c:pt>
                <c:pt idx="95">
                  <c:v>81.43819</c:v>
                </c:pt>
                <c:pt idx="96">
                  <c:v>81.152707</c:v>
                </c:pt>
                <c:pt idx="97">
                  <c:v>80.877996</c:v>
                </c:pt>
                <c:pt idx="98">
                  <c:v>80.301643</c:v>
                </c:pt>
                <c:pt idx="99">
                  <c:v>80.037705</c:v>
                </c:pt>
                <c:pt idx="100">
                  <c:v>79.741449</c:v>
                </c:pt>
                <c:pt idx="101">
                  <c:v>79.461352</c:v>
                </c:pt>
                <c:pt idx="102">
                  <c:v>80.037705</c:v>
                </c:pt>
                <c:pt idx="103">
                  <c:v>80.587126</c:v>
                </c:pt>
                <c:pt idx="104">
                  <c:v>79.762995</c:v>
                </c:pt>
                <c:pt idx="105">
                  <c:v>79.170482</c:v>
                </c:pt>
                <c:pt idx="106">
                  <c:v>78.314032</c:v>
                </c:pt>
                <c:pt idx="107">
                  <c:v>78.324805</c:v>
                </c:pt>
                <c:pt idx="108">
                  <c:v>78.373283</c:v>
                </c:pt>
                <c:pt idx="109">
                  <c:v>78.050094</c:v>
                </c:pt>
                <c:pt idx="110">
                  <c:v>77.495287</c:v>
                </c:pt>
                <c:pt idx="111">
                  <c:v>77.209803</c:v>
                </c:pt>
                <c:pt idx="112">
                  <c:v>77.209803</c:v>
                </c:pt>
                <c:pt idx="113">
                  <c:v>76.92432</c:v>
                </c:pt>
                <c:pt idx="114">
                  <c:v>76.644223</c:v>
                </c:pt>
                <c:pt idx="115">
                  <c:v>76.347967</c:v>
                </c:pt>
                <c:pt idx="116">
                  <c:v>76.078643</c:v>
                </c:pt>
                <c:pt idx="117">
                  <c:v>76.089416</c:v>
                </c:pt>
                <c:pt idx="118">
                  <c:v>75.820092</c:v>
                </c:pt>
                <c:pt idx="119">
                  <c:v>77.209803</c:v>
                </c:pt>
                <c:pt idx="120">
                  <c:v>77.473741</c:v>
                </c:pt>
                <c:pt idx="121">
                  <c:v>76.347967</c:v>
                </c:pt>
                <c:pt idx="122">
                  <c:v>75.787773</c:v>
                </c:pt>
                <c:pt idx="123">
                  <c:v>75.475357</c:v>
                </c:pt>
                <c:pt idx="124">
                  <c:v>75.232965</c:v>
                </c:pt>
                <c:pt idx="125">
                  <c:v>74.942095</c:v>
                </c:pt>
                <c:pt idx="126">
                  <c:v>74.667385</c:v>
                </c:pt>
                <c:pt idx="127">
                  <c:v>74.354969</c:v>
                </c:pt>
                <c:pt idx="128">
                  <c:v>74.074872</c:v>
                </c:pt>
                <c:pt idx="129">
                  <c:v>73.821708</c:v>
                </c:pt>
                <c:pt idx="130">
                  <c:v>73.821708</c:v>
                </c:pt>
                <c:pt idx="131">
                  <c:v>73.509292</c:v>
                </c:pt>
              </c:numCache>
            </c:numRef>
          </c:val>
        </c:ser>
        <c:ser>
          <c:idx val="1"/>
          <c:order val="1"/>
          <c:tx>
            <c:v>B0006</c:v>
          </c:tx>
          <c:spPr>
            <a:solidFill xmlns:a="http://schemas.openxmlformats.org/drawingml/2006/main">
              <a:srgbClr val="D3662E"/>
            </a:solidFill>
          </c:spPr>
          <c:marker>
            <c:symbol val="none"/>
          </c:marker>
          <c:cat>
            <c:numRef>
              <c:f>'Chart Data'!$C$2:$C$133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Data'!$D$2:$D$133</c:f>
              <c:numCache>
                <c:formatCode>General</c:formatCode>
                <c:ptCount val="132"/>
                <c:pt idx="0">
                  <c:v>100</c:v>
                </c:pt>
                <c:pt idx="1">
                  <c:v>99.498845</c:v>
                </c:pt>
                <c:pt idx="2">
                  <c:v>98.919078</c:v>
                </c:pt>
                <c:pt idx="3">
                  <c:v>98.919078</c:v>
                </c:pt>
                <c:pt idx="4">
                  <c:v>98.290178</c:v>
                </c:pt>
                <c:pt idx="5">
                  <c:v>98.948558</c:v>
                </c:pt>
                <c:pt idx="6">
                  <c:v>98.909252</c:v>
                </c:pt>
                <c:pt idx="7">
                  <c:v>96.732668</c:v>
                </c:pt>
                <c:pt idx="8">
                  <c:v>96.703189</c:v>
                </c:pt>
                <c:pt idx="9">
                  <c:v>96.162728</c:v>
                </c:pt>
                <c:pt idx="10">
                  <c:v>95.592787</c:v>
                </c:pt>
                <c:pt idx="11">
                  <c:v>95.062153</c:v>
                </c:pt>
                <c:pt idx="12">
                  <c:v>94.497126</c:v>
                </c:pt>
                <c:pt idx="13">
                  <c:v>93.937012</c:v>
                </c:pt>
                <c:pt idx="14">
                  <c:v>93.406377</c:v>
                </c:pt>
                <c:pt idx="15">
                  <c:v>92.821697</c:v>
                </c:pt>
                <c:pt idx="16">
                  <c:v>92.286149</c:v>
                </c:pt>
                <c:pt idx="17">
                  <c:v>91.760428</c:v>
                </c:pt>
                <c:pt idx="18">
                  <c:v>91.760428</c:v>
                </c:pt>
                <c:pt idx="19">
                  <c:v>97.263303</c:v>
                </c:pt>
                <c:pt idx="20">
                  <c:v>96.177468</c:v>
                </c:pt>
                <c:pt idx="21">
                  <c:v>95.602614</c:v>
                </c:pt>
                <c:pt idx="22">
                  <c:v>94.541345</c:v>
                </c:pt>
                <c:pt idx="23">
                  <c:v>95.61244</c:v>
                </c:pt>
                <c:pt idx="24">
                  <c:v>93.421117</c:v>
                </c:pt>
                <c:pt idx="25">
                  <c:v>92.305803</c:v>
                </c:pt>
                <c:pt idx="26">
                  <c:v>91.794821</c:v>
                </c:pt>
                <c:pt idx="27">
                  <c:v>91.190488</c:v>
                </c:pt>
                <c:pt idx="28">
                  <c:v>90.659854</c:v>
                </c:pt>
                <c:pt idx="29">
                  <c:v>91.249447</c:v>
                </c:pt>
                <c:pt idx="30">
                  <c:v>94.570825</c:v>
                </c:pt>
                <c:pt idx="31">
                  <c:v>92.477767</c:v>
                </c:pt>
                <c:pt idx="32">
                  <c:v>91.156095</c:v>
                </c:pt>
                <c:pt idx="33">
                  <c:v>90.36997</c:v>
                </c:pt>
                <c:pt idx="34">
                  <c:v>89.348008</c:v>
                </c:pt>
                <c:pt idx="35">
                  <c:v>89.102344</c:v>
                </c:pt>
                <c:pt idx="36">
                  <c:v>88.296566</c:v>
                </c:pt>
                <c:pt idx="37">
                  <c:v>87.505527</c:v>
                </c:pt>
                <c:pt idx="38">
                  <c:v>87.014199</c:v>
                </c:pt>
                <c:pt idx="39">
                  <c:v>86.498305</c:v>
                </c:pt>
                <c:pt idx="40">
                  <c:v>85.99715</c:v>
                </c:pt>
                <c:pt idx="41">
                  <c:v>85.466516</c:v>
                </c:pt>
                <c:pt idx="42">
                  <c:v>86.213335</c:v>
                </c:pt>
                <c:pt idx="43">
                  <c:v>86.763622</c:v>
                </c:pt>
                <c:pt idx="44">
                  <c:v>85.186459</c:v>
                </c:pt>
                <c:pt idx="45">
                  <c:v>84.179236</c:v>
                </c:pt>
                <c:pt idx="46">
                  <c:v>83.643689</c:v>
                </c:pt>
                <c:pt idx="47">
                  <c:v>89.603498</c:v>
                </c:pt>
                <c:pt idx="48">
                  <c:v>88.837026</c:v>
                </c:pt>
                <c:pt idx="49">
                  <c:v>87.250037</c:v>
                </c:pt>
                <c:pt idx="50">
                  <c:v>85.722007</c:v>
                </c:pt>
                <c:pt idx="51">
                  <c:v>84.960448</c:v>
                </c:pt>
                <c:pt idx="52">
                  <c:v>83.923746</c:v>
                </c:pt>
                <c:pt idx="53">
                  <c:v>83.407851</c:v>
                </c:pt>
                <c:pt idx="54">
                  <c:v>82.646293</c:v>
                </c:pt>
                <c:pt idx="55">
                  <c:v>82.125485</c:v>
                </c:pt>
                <c:pt idx="56">
                  <c:v>81.599764</c:v>
                </c:pt>
                <c:pt idx="57">
                  <c:v>81.123176</c:v>
                </c:pt>
                <c:pt idx="58">
                  <c:v>80.582715</c:v>
                </c:pt>
                <c:pt idx="59">
                  <c:v>80.047167</c:v>
                </c:pt>
                <c:pt idx="60">
                  <c:v>79.044858</c:v>
                </c:pt>
                <c:pt idx="61">
                  <c:v>78.784454</c:v>
                </c:pt>
                <c:pt idx="62">
                  <c:v>78.563357</c:v>
                </c:pt>
                <c:pt idx="63">
                  <c:v>78.003243</c:v>
                </c:pt>
                <c:pt idx="64">
                  <c:v>77.777232</c:v>
                </c:pt>
                <c:pt idx="65">
                  <c:v>76.99602</c:v>
                </c:pt>
                <c:pt idx="66">
                  <c:v>76.71105</c:v>
                </c:pt>
                <c:pt idx="67">
                  <c:v>76.214809</c:v>
                </c:pt>
                <c:pt idx="68">
                  <c:v>75.698914</c:v>
                </c:pt>
                <c:pt idx="69">
                  <c:v>74.942269</c:v>
                </c:pt>
                <c:pt idx="70">
                  <c:v>75.18302</c:v>
                </c:pt>
                <c:pt idx="71">
                  <c:v>74.912789</c:v>
                </c:pt>
                <c:pt idx="72">
                  <c:v>74.411635</c:v>
                </c:pt>
                <c:pt idx="73">
                  <c:v>74.161057</c:v>
                </c:pt>
                <c:pt idx="74">
                  <c:v>73.89574</c:v>
                </c:pt>
                <c:pt idx="75">
                  <c:v>73.379846</c:v>
                </c:pt>
                <c:pt idx="76">
                  <c:v>73.089962</c:v>
                </c:pt>
                <c:pt idx="77">
                  <c:v>75.187933</c:v>
                </c:pt>
                <c:pt idx="78">
                  <c:v>73.900653</c:v>
                </c:pt>
                <c:pt idx="79">
                  <c:v>73.148922</c:v>
                </c:pt>
                <c:pt idx="80">
                  <c:v>72.633027</c:v>
                </c:pt>
                <c:pt idx="81">
                  <c:v>72.642854</c:v>
                </c:pt>
                <c:pt idx="82">
                  <c:v>72.38245</c:v>
                </c:pt>
                <c:pt idx="83">
                  <c:v>72.102393</c:v>
                </c:pt>
                <c:pt idx="84">
                  <c:v>71.321181</c:v>
                </c:pt>
                <c:pt idx="85">
                  <c:v>71.335921</c:v>
                </c:pt>
                <c:pt idx="86">
                  <c:v>71.100084</c:v>
                </c:pt>
                <c:pt idx="87">
                  <c:v>71.090257</c:v>
                </c:pt>
                <c:pt idx="88">
                  <c:v>70.834766</c:v>
                </c:pt>
                <c:pt idx="89">
                  <c:v>78.29804</c:v>
                </c:pt>
                <c:pt idx="90">
                  <c:v>75.978971</c:v>
                </c:pt>
                <c:pt idx="91">
                  <c:v>74.421461</c:v>
                </c:pt>
                <c:pt idx="92">
                  <c:v>73.650076</c:v>
                </c:pt>
                <c:pt idx="93">
                  <c:v>72.868865</c:v>
                </c:pt>
                <c:pt idx="94">
                  <c:v>72.372623</c:v>
                </c:pt>
                <c:pt idx="95">
                  <c:v>71.871469</c:v>
                </c:pt>
                <c:pt idx="96">
                  <c:v>71.331008</c:v>
                </c:pt>
                <c:pt idx="97">
                  <c:v>71.090257</c:v>
                </c:pt>
                <c:pt idx="98">
                  <c:v>70.820027</c:v>
                </c:pt>
                <c:pt idx="99">
                  <c:v>70.318872</c:v>
                </c:pt>
                <c:pt idx="100">
                  <c:v>70.063381</c:v>
                </c:pt>
                <c:pt idx="101">
                  <c:v>69.793151</c:v>
                </c:pt>
                <c:pt idx="102">
                  <c:v>69.802977</c:v>
                </c:pt>
                <c:pt idx="103">
                  <c:v>71.355574</c:v>
                </c:pt>
                <c:pt idx="104">
                  <c:v>70.338525</c:v>
                </c:pt>
                <c:pt idx="105">
                  <c:v>69.52292</c:v>
                </c:pt>
                <c:pt idx="106">
                  <c:v>69.262517</c:v>
                </c:pt>
                <c:pt idx="107">
                  <c:v>69.026679</c:v>
                </c:pt>
                <c:pt idx="108">
                  <c:v>68.550091</c:v>
                </c:pt>
                <c:pt idx="109">
                  <c:v>68.515698</c:v>
                </c:pt>
                <c:pt idx="110">
                  <c:v>68.260207</c:v>
                </c:pt>
                <c:pt idx="111">
                  <c:v>67.989977</c:v>
                </c:pt>
                <c:pt idx="112">
                  <c:v>67.493736</c:v>
                </c:pt>
                <c:pt idx="113">
                  <c:v>67.734486</c:v>
                </c:pt>
                <c:pt idx="114">
                  <c:v>67.498649</c:v>
                </c:pt>
                <c:pt idx="115">
                  <c:v>67.228418</c:v>
                </c:pt>
                <c:pt idx="116">
                  <c:v>66.982754</c:v>
                </c:pt>
                <c:pt idx="117">
                  <c:v>66.727264</c:v>
                </c:pt>
                <c:pt idx="118">
                  <c:v>66.491426</c:v>
                </c:pt>
                <c:pt idx="119">
                  <c:v>68.00963</c:v>
                </c:pt>
                <c:pt idx="120">
                  <c:v>69.036506</c:v>
                </c:pt>
                <c:pt idx="121">
                  <c:v>67.7394</c:v>
                </c:pt>
                <c:pt idx="122">
                  <c:v>67.228418</c:v>
                </c:pt>
                <c:pt idx="123">
                  <c:v>66.687958</c:v>
                </c:pt>
                <c:pt idx="124">
                  <c:v>66.45212</c:v>
                </c:pt>
                <c:pt idx="125">
                  <c:v>66.201543</c:v>
                </c:pt>
                <c:pt idx="126">
                  <c:v>65.690562</c:v>
                </c:pt>
                <c:pt idx="127">
                  <c:v>65.405591</c:v>
                </c:pt>
                <c:pt idx="128">
                  <c:v>65.145187</c:v>
                </c:pt>
                <c:pt idx="129">
                  <c:v>64.933916</c:v>
                </c:pt>
                <c:pt idx="130">
                  <c:v>64.914263</c:v>
                </c:pt>
                <c:pt idx="131">
                  <c:v>64.63912</c:v>
                </c:pt>
              </c:numCache>
            </c:numRef>
          </c:val>
        </c:ser>
        <c:ser>
          <c:idx val="2"/>
          <c:order val="2"/>
          <c:tx>
            <c:v>B0007</c:v>
          </c:tx>
          <c:spPr>
            <a:solidFill xmlns:a="http://schemas.openxmlformats.org/drawingml/2006/main">
              <a:srgbClr val="647D32"/>
            </a:solidFill>
          </c:spPr>
          <c:marker>
            <c:symbol val="none"/>
          </c:marker>
          <c:cat>
            <c:numRef>
              <c:f>'Chart Data'!$E$2:$E$133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Data'!$F$2:$F$133</c:f>
              <c:numCache>
                <c:formatCode>General</c:formatCode>
                <c:ptCount val="132"/>
                <c:pt idx="0">
                  <c:v>100</c:v>
                </c:pt>
                <c:pt idx="1">
                  <c:v>99.444768</c:v>
                </c:pt>
                <c:pt idx="2">
                  <c:v>99.450056</c:v>
                </c:pt>
                <c:pt idx="3">
                  <c:v>99.455343</c:v>
                </c:pt>
                <c:pt idx="4">
                  <c:v>99.3866</c:v>
                </c:pt>
                <c:pt idx="5">
                  <c:v>99.450056</c:v>
                </c:pt>
                <c:pt idx="6">
                  <c:v>99.407752</c:v>
                </c:pt>
                <c:pt idx="7">
                  <c:v>99.492359</c:v>
                </c:pt>
                <c:pt idx="8">
                  <c:v>98.868383</c:v>
                </c:pt>
                <c:pt idx="9">
                  <c:v>98.889535</c:v>
                </c:pt>
                <c:pt idx="10">
                  <c:v>98.884247</c:v>
                </c:pt>
                <c:pt idx="11">
                  <c:v>98.339591</c:v>
                </c:pt>
                <c:pt idx="12">
                  <c:v>98.307863</c:v>
                </c:pt>
                <c:pt idx="13">
                  <c:v>98.302575</c:v>
                </c:pt>
                <c:pt idx="14">
                  <c:v>98.323727</c:v>
                </c:pt>
                <c:pt idx="15">
                  <c:v>98.286711</c:v>
                </c:pt>
                <c:pt idx="16">
                  <c:v>97.710327</c:v>
                </c:pt>
                <c:pt idx="17">
                  <c:v>97.747343</c:v>
                </c:pt>
                <c:pt idx="18">
                  <c:v>97.742055</c:v>
                </c:pt>
                <c:pt idx="19">
                  <c:v>99.455343</c:v>
                </c:pt>
                <c:pt idx="20">
                  <c:v>99.492359</c:v>
                </c:pt>
                <c:pt idx="21">
                  <c:v>99.471207</c:v>
                </c:pt>
                <c:pt idx="22">
                  <c:v>98.937127</c:v>
                </c:pt>
                <c:pt idx="23">
                  <c:v>98.894823</c:v>
                </c:pt>
                <c:pt idx="24">
                  <c:v>98.921263</c:v>
                </c:pt>
                <c:pt idx="25">
                  <c:v>98.334303</c:v>
                </c:pt>
                <c:pt idx="26">
                  <c:v>98.355454</c:v>
                </c:pt>
                <c:pt idx="27">
                  <c:v>98.313151</c:v>
                </c:pt>
                <c:pt idx="28">
                  <c:v>97.726191</c:v>
                </c:pt>
                <c:pt idx="29">
                  <c:v>97.784358</c:v>
                </c:pt>
                <c:pt idx="30">
                  <c:v>99.598117</c:v>
                </c:pt>
                <c:pt idx="31">
                  <c:v>98.503516</c:v>
                </c:pt>
                <c:pt idx="32">
                  <c:v>97.937708</c:v>
                </c:pt>
                <c:pt idx="33">
                  <c:v>97.668024</c:v>
                </c:pt>
                <c:pt idx="34">
                  <c:v>97.128655</c:v>
                </c:pt>
                <c:pt idx="35">
                  <c:v>97.149807</c:v>
                </c:pt>
                <c:pt idx="36">
                  <c:v>96.858971</c:v>
                </c:pt>
                <c:pt idx="37">
                  <c:v>96.298451</c:v>
                </c:pt>
                <c:pt idx="38">
                  <c:v>96.055206</c:v>
                </c:pt>
                <c:pt idx="39">
                  <c:v>95.785522</c:v>
                </c:pt>
                <c:pt idx="40">
                  <c:v>95.796098</c:v>
                </c:pt>
                <c:pt idx="41">
                  <c:v>95.505261</c:v>
                </c:pt>
                <c:pt idx="42">
                  <c:v>95.880704</c:v>
                </c:pt>
                <c:pt idx="43">
                  <c:v>95.515837</c:v>
                </c:pt>
                <c:pt idx="44">
                  <c:v>94.960605</c:v>
                </c:pt>
                <c:pt idx="45">
                  <c:v>94.4371</c:v>
                </c:pt>
                <c:pt idx="46">
                  <c:v>94.140976</c:v>
                </c:pt>
                <c:pt idx="47">
                  <c:v>95.981175</c:v>
                </c:pt>
                <c:pt idx="48">
                  <c:v>96.012903</c:v>
                </c:pt>
                <c:pt idx="49">
                  <c:v>95.193274</c:v>
                </c:pt>
                <c:pt idx="50">
                  <c:v>94.675057</c:v>
                </c:pt>
                <c:pt idx="51">
                  <c:v>94.140976</c:v>
                </c:pt>
                <c:pt idx="52">
                  <c:v>93.87658</c:v>
                </c:pt>
                <c:pt idx="53">
                  <c:v>93.612183</c:v>
                </c:pt>
                <c:pt idx="54">
                  <c:v>93.072815</c:v>
                </c:pt>
                <c:pt idx="55">
                  <c:v>92.517582</c:v>
                </c:pt>
                <c:pt idx="56">
                  <c:v>92.52287</c:v>
                </c:pt>
                <c:pt idx="57">
                  <c:v>92.274338</c:v>
                </c:pt>
                <c:pt idx="58">
                  <c:v>91.98879</c:v>
                </c:pt>
                <c:pt idx="59">
                  <c:v>91.407118</c:v>
                </c:pt>
                <c:pt idx="60">
                  <c:v>91.158585</c:v>
                </c:pt>
                <c:pt idx="61">
                  <c:v>90.63508</c:v>
                </c:pt>
                <c:pt idx="62">
                  <c:v>90.63508</c:v>
                </c:pt>
                <c:pt idx="63">
                  <c:v>90.090424</c:v>
                </c:pt>
                <c:pt idx="64">
                  <c:v>90.106287</c:v>
                </c:pt>
                <c:pt idx="65">
                  <c:v>89.556343</c:v>
                </c:pt>
                <c:pt idx="66">
                  <c:v>89.244355</c:v>
                </c:pt>
                <c:pt idx="67">
                  <c:v>89.00111</c:v>
                </c:pt>
                <c:pt idx="68">
                  <c:v>88.726138</c:v>
                </c:pt>
                <c:pt idx="69">
                  <c:v>88.477606</c:v>
                </c:pt>
                <c:pt idx="70">
                  <c:v>88.170906</c:v>
                </c:pt>
                <c:pt idx="71">
                  <c:v>87.901222</c:v>
                </c:pt>
                <c:pt idx="72">
                  <c:v>87.642113</c:v>
                </c:pt>
                <c:pt idx="73">
                  <c:v>87.383005</c:v>
                </c:pt>
                <c:pt idx="74">
                  <c:v>87.102744</c:v>
                </c:pt>
                <c:pt idx="75">
                  <c:v>86.531648</c:v>
                </c:pt>
                <c:pt idx="76">
                  <c:v>86.52636</c:v>
                </c:pt>
                <c:pt idx="77">
                  <c:v>86.780181</c:v>
                </c:pt>
                <c:pt idx="78">
                  <c:v>86.277828</c:v>
                </c:pt>
                <c:pt idx="79">
                  <c:v>85.727883</c:v>
                </c:pt>
                <c:pt idx="80">
                  <c:v>85.474063</c:v>
                </c:pt>
                <c:pt idx="81">
                  <c:v>85.442335</c:v>
                </c:pt>
                <c:pt idx="82">
                  <c:v>85.489926</c:v>
                </c:pt>
                <c:pt idx="83">
                  <c:v>85.183227</c:v>
                </c:pt>
                <c:pt idx="84">
                  <c:v>84.643858</c:v>
                </c:pt>
                <c:pt idx="85">
                  <c:v>84.390038</c:v>
                </c:pt>
                <c:pt idx="86">
                  <c:v>84.405901</c:v>
                </c:pt>
                <c:pt idx="87">
                  <c:v>84.38475</c:v>
                </c:pt>
                <c:pt idx="88">
                  <c:v>84.115065</c:v>
                </c:pt>
                <c:pt idx="89">
                  <c:v>89.302522</c:v>
                </c:pt>
                <c:pt idx="90">
                  <c:v>85.981704</c:v>
                </c:pt>
                <c:pt idx="91">
                  <c:v>85.437047</c:v>
                </c:pt>
                <c:pt idx="92">
                  <c:v>84.908254</c:v>
                </c:pt>
                <c:pt idx="93">
                  <c:v>84.342446</c:v>
                </c:pt>
                <c:pt idx="94">
                  <c:v>84.099202</c:v>
                </c:pt>
                <c:pt idx="95">
                  <c:v>83.834805</c:v>
                </c:pt>
                <c:pt idx="96">
                  <c:v>83.549257</c:v>
                </c:pt>
                <c:pt idx="97">
                  <c:v>83.295437</c:v>
                </c:pt>
                <c:pt idx="98">
                  <c:v>83.009888</c:v>
                </c:pt>
                <c:pt idx="99">
                  <c:v>83.036328</c:v>
                </c:pt>
                <c:pt idx="100">
                  <c:v>82.766644</c:v>
                </c:pt>
                <c:pt idx="101">
                  <c:v>82.47052</c:v>
                </c:pt>
                <c:pt idx="102">
                  <c:v>82.756068</c:v>
                </c:pt>
                <c:pt idx="103">
                  <c:v>83.284861</c:v>
                </c:pt>
                <c:pt idx="104">
                  <c:v>82.771932</c:v>
                </c:pt>
                <c:pt idx="105">
                  <c:v>82.481096</c:v>
                </c:pt>
                <c:pt idx="106">
                  <c:v>81.957591</c:v>
                </c:pt>
                <c:pt idx="107">
                  <c:v>81.640315</c:v>
                </c:pt>
                <c:pt idx="108">
                  <c:v>81.698482</c:v>
                </c:pt>
                <c:pt idx="109">
                  <c:v>81.677331</c:v>
                </c:pt>
                <c:pt idx="110">
                  <c:v>81.132674</c:v>
                </c:pt>
                <c:pt idx="111">
                  <c:v>80.841838</c:v>
                </c:pt>
                <c:pt idx="112">
                  <c:v>80.847126</c:v>
                </c:pt>
                <c:pt idx="113">
                  <c:v>80.857702</c:v>
                </c:pt>
                <c:pt idx="114">
                  <c:v>80.58273</c:v>
                </c:pt>
                <c:pt idx="115">
                  <c:v>80.307757</c:v>
                </c:pt>
                <c:pt idx="116">
                  <c:v>80.038073</c:v>
                </c:pt>
                <c:pt idx="117">
                  <c:v>80.038073</c:v>
                </c:pt>
                <c:pt idx="118">
                  <c:v>80.053937</c:v>
                </c:pt>
                <c:pt idx="119">
                  <c:v>81.11681</c:v>
                </c:pt>
                <c:pt idx="120">
                  <c:v>81.386495</c:v>
                </c:pt>
                <c:pt idx="121">
                  <c:v>80.566866</c:v>
                </c:pt>
                <c:pt idx="122">
                  <c:v>80.038073</c:v>
                </c:pt>
                <c:pt idx="123">
                  <c:v>79.731373</c:v>
                </c:pt>
                <c:pt idx="124">
                  <c:v>79.488129</c:v>
                </c:pt>
                <c:pt idx="125">
                  <c:v>79.202581</c:v>
                </c:pt>
                <c:pt idx="126">
                  <c:v>78.938184</c:v>
                </c:pt>
                <c:pt idx="127">
                  <c:v>78.917032</c:v>
                </c:pt>
                <c:pt idx="128">
                  <c:v>78.657924</c:v>
                </c:pt>
                <c:pt idx="129">
                  <c:v>78.393528</c:v>
                </c:pt>
                <c:pt idx="130">
                  <c:v>78.409391</c:v>
                </c:pt>
                <c:pt idx="131">
                  <c:v>78.102692</c:v>
                </c:pt>
              </c:numCache>
            </c:numRef>
          </c:val>
        </c:ser>
        <c:ser>
          <c:idx val="3"/>
          <c:order val="3"/>
          <c:tx>
            <c:v>B0018</c:v>
          </c:tx>
          <c:spPr>
            <a:solidFill xmlns:a="http://schemas.openxmlformats.org/drawingml/2006/main">
              <a:srgbClr val="8A4E9C"/>
            </a:solidFill>
          </c:spPr>
          <c:marker>
            <c:symbol val="none"/>
          </c:marker>
          <c:cat>
            <c:numRef>
              <c:f>'Chart Data'!$G$2:$G$133</c:f>
              <c:numCache>
                <c:formatCode>General</c:formatCode>
                <c:ptCount val="13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numCache>
            </c:numRef>
          </c:cat>
          <c:val>
            <c:numRef>
              <c:f>'Chart Data'!$H$2:$H$133</c:f>
              <c:numCache>
                <c:formatCode>General</c:formatCode>
                <c:ptCount val="132"/>
                <c:pt idx="0">
                  <c:v>100</c:v>
                </c:pt>
                <c:pt idx="1">
                  <c:v>99.363881</c:v>
                </c:pt>
                <c:pt idx="2">
                  <c:v>99.169811</c:v>
                </c:pt>
                <c:pt idx="3">
                  <c:v>98.690027</c:v>
                </c:pt>
                <c:pt idx="4">
                  <c:v>98.797844</c:v>
                </c:pt>
                <c:pt idx="5">
                  <c:v>98.571429</c:v>
                </c:pt>
                <c:pt idx="6">
                  <c:v>98.177898</c:v>
                </c:pt>
                <c:pt idx="7">
                  <c:v>97.854447</c:v>
                </c:pt>
                <c:pt idx="8">
                  <c:v>97.266846</c:v>
                </c:pt>
                <c:pt idx="9">
                  <c:v>98.280323</c:v>
                </c:pt>
                <c:pt idx="10">
                  <c:v>97.687332</c:v>
                </c:pt>
                <c:pt idx="11">
                  <c:v>97.28841</c:v>
                </c:pt>
                <c:pt idx="12">
                  <c:v>96.539084</c:v>
                </c:pt>
                <c:pt idx="13">
                  <c:v>96.145553</c:v>
                </c:pt>
                <c:pt idx="14">
                  <c:v>96.005391</c:v>
                </c:pt>
                <c:pt idx="15">
                  <c:v>95.48248</c:v>
                </c:pt>
                <c:pt idx="16">
                  <c:v>95.342318</c:v>
                </c:pt>
                <c:pt idx="17">
                  <c:v>94.533693</c:v>
                </c:pt>
                <c:pt idx="18">
                  <c:v>94.134771</c:v>
                </c:pt>
                <c:pt idx="19">
                  <c:v>93.67655</c:v>
                </c:pt>
                <c:pt idx="20">
                  <c:v>93.342318</c:v>
                </c:pt>
                <c:pt idx="21">
                  <c:v>92.107817</c:v>
                </c:pt>
                <c:pt idx="22">
                  <c:v>92.264151</c:v>
                </c:pt>
                <c:pt idx="23">
                  <c:v>92.048518</c:v>
                </c:pt>
                <c:pt idx="24">
                  <c:v>94.296496</c:v>
                </c:pt>
                <c:pt idx="25">
                  <c:v>93.412399</c:v>
                </c:pt>
                <c:pt idx="26">
                  <c:v>92.84097</c:v>
                </c:pt>
                <c:pt idx="27">
                  <c:v>92.280323</c:v>
                </c:pt>
                <c:pt idx="28">
                  <c:v>91.606469</c:v>
                </c:pt>
                <c:pt idx="29">
                  <c:v>91.320755</c:v>
                </c:pt>
                <c:pt idx="30">
                  <c:v>90.668464</c:v>
                </c:pt>
                <c:pt idx="31">
                  <c:v>90.404313</c:v>
                </c:pt>
                <c:pt idx="32">
                  <c:v>89.784367</c:v>
                </c:pt>
                <c:pt idx="33">
                  <c:v>89.336927</c:v>
                </c:pt>
                <c:pt idx="34">
                  <c:v>88.851752</c:v>
                </c:pt>
                <c:pt idx="35">
                  <c:v>88.345013</c:v>
                </c:pt>
                <c:pt idx="36">
                  <c:v>87.74124</c:v>
                </c:pt>
                <c:pt idx="37">
                  <c:v>87.450135</c:v>
                </c:pt>
                <c:pt idx="38">
                  <c:v>87.008086</c:v>
                </c:pt>
                <c:pt idx="39">
                  <c:v>90.355795</c:v>
                </c:pt>
                <c:pt idx="40">
                  <c:v>88.911051</c:v>
                </c:pt>
                <c:pt idx="41">
                  <c:v>88</c:v>
                </c:pt>
                <c:pt idx="42">
                  <c:v>87.137466</c:v>
                </c:pt>
                <c:pt idx="43">
                  <c:v>86.84097</c:v>
                </c:pt>
                <c:pt idx="44">
                  <c:v>86.010782</c:v>
                </c:pt>
                <c:pt idx="45">
                  <c:v>93.083558</c:v>
                </c:pt>
                <c:pt idx="46">
                  <c:v>92.539084</c:v>
                </c:pt>
                <c:pt idx="47">
                  <c:v>91.41779</c:v>
                </c:pt>
                <c:pt idx="48">
                  <c:v>90.447439</c:v>
                </c:pt>
                <c:pt idx="49">
                  <c:v>89.525606</c:v>
                </c:pt>
                <c:pt idx="50">
                  <c:v>89.832884</c:v>
                </c:pt>
                <c:pt idx="51">
                  <c:v>88.77628</c:v>
                </c:pt>
                <c:pt idx="52">
                  <c:v>87.644205</c:v>
                </c:pt>
                <c:pt idx="53">
                  <c:v>86.911051</c:v>
                </c:pt>
                <c:pt idx="54">
                  <c:v>86.560647</c:v>
                </c:pt>
                <c:pt idx="55">
                  <c:v>90.221024</c:v>
                </c:pt>
                <c:pt idx="56">
                  <c:v>88.431267</c:v>
                </c:pt>
                <c:pt idx="57">
                  <c:v>86.97035</c:v>
                </c:pt>
                <c:pt idx="58">
                  <c:v>85.827493</c:v>
                </c:pt>
                <c:pt idx="59">
                  <c:v>85.530997</c:v>
                </c:pt>
                <c:pt idx="60">
                  <c:v>85.180593</c:v>
                </c:pt>
                <c:pt idx="61">
                  <c:v>84.32345</c:v>
                </c:pt>
                <c:pt idx="62">
                  <c:v>83.859838</c:v>
                </c:pt>
                <c:pt idx="63">
                  <c:v>83.02965</c:v>
                </c:pt>
                <c:pt idx="64">
                  <c:v>82.598383</c:v>
                </c:pt>
                <c:pt idx="65">
                  <c:v>82.566038</c:v>
                </c:pt>
                <c:pt idx="66">
                  <c:v>82.06469</c:v>
                </c:pt>
                <c:pt idx="67">
                  <c:v>81.212938</c:v>
                </c:pt>
                <c:pt idx="68">
                  <c:v>80.938005</c:v>
                </c:pt>
                <c:pt idx="69">
                  <c:v>80.668464</c:v>
                </c:pt>
                <c:pt idx="70">
                  <c:v>82.663073</c:v>
                </c:pt>
                <c:pt idx="71">
                  <c:v>82.145553</c:v>
                </c:pt>
                <c:pt idx="72">
                  <c:v>80.927224</c:v>
                </c:pt>
                <c:pt idx="73">
                  <c:v>80.45283</c:v>
                </c:pt>
                <c:pt idx="74">
                  <c:v>79.962264</c:v>
                </c:pt>
                <c:pt idx="75">
                  <c:v>79.822102</c:v>
                </c:pt>
                <c:pt idx="76">
                  <c:v>79.433962</c:v>
                </c:pt>
                <c:pt idx="77">
                  <c:v>79.137466</c:v>
                </c:pt>
                <c:pt idx="78">
                  <c:v>78.603774</c:v>
                </c:pt>
                <c:pt idx="79">
                  <c:v>78.053908</c:v>
                </c:pt>
                <c:pt idx="80">
                  <c:v>78.318059</c:v>
                </c:pt>
                <c:pt idx="81">
                  <c:v>77.762803</c:v>
                </c:pt>
                <c:pt idx="82">
                  <c:v>77.590296</c:v>
                </c:pt>
                <c:pt idx="83">
                  <c:v>77.013477</c:v>
                </c:pt>
                <c:pt idx="84">
                  <c:v>76.814016</c:v>
                </c:pt>
                <c:pt idx="85">
                  <c:v>79.234501</c:v>
                </c:pt>
                <c:pt idx="86">
                  <c:v>78.307278</c:v>
                </c:pt>
                <c:pt idx="87">
                  <c:v>77.778976</c:v>
                </c:pt>
                <c:pt idx="88">
                  <c:v>77.002695</c:v>
                </c:pt>
                <c:pt idx="89">
                  <c:v>76.307278</c:v>
                </c:pt>
                <c:pt idx="90">
                  <c:v>78.415094</c:v>
                </c:pt>
                <c:pt idx="91">
                  <c:v>76.997305</c:v>
                </c:pt>
                <c:pt idx="92">
                  <c:v>76.533693</c:v>
                </c:pt>
                <c:pt idx="93">
                  <c:v>76.312668</c:v>
                </c:pt>
                <c:pt idx="94">
                  <c:v>75.778976</c:v>
                </c:pt>
                <c:pt idx="95">
                  <c:v>75.924528</c:v>
                </c:pt>
                <c:pt idx="96">
                  <c:v>75.304582</c:v>
                </c:pt>
                <c:pt idx="97">
                  <c:v>75.126685</c:v>
                </c:pt>
                <c:pt idx="98">
                  <c:v>74.90027</c:v>
                </c:pt>
                <c:pt idx="99">
                  <c:v>74.318059</c:v>
                </c:pt>
                <c:pt idx="100">
                  <c:v>74.657682</c:v>
                </c:pt>
                <c:pt idx="101">
                  <c:v>73.87062</c:v>
                </c:pt>
                <c:pt idx="102">
                  <c:v>74.032345</c:v>
                </c:pt>
                <c:pt idx="103">
                  <c:v>73.74124</c:v>
                </c:pt>
                <c:pt idx="104">
                  <c:v>73.137466</c:v>
                </c:pt>
                <c:pt idx="105">
                  <c:v>78.727763</c:v>
                </c:pt>
                <c:pt idx="106">
                  <c:v>78.172507</c:v>
                </c:pt>
                <c:pt idx="107">
                  <c:v>77.525606</c:v>
                </c:pt>
                <c:pt idx="108">
                  <c:v>77.002695</c:v>
                </c:pt>
                <c:pt idx="109">
                  <c:v>76.269542</c:v>
                </c:pt>
                <c:pt idx="110">
                  <c:v>76.221024</c:v>
                </c:pt>
                <c:pt idx="111">
                  <c:v>75.412399</c:v>
                </c:pt>
                <c:pt idx="112">
                  <c:v>75.218329</c:v>
                </c:pt>
                <c:pt idx="113">
                  <c:v>74.932615</c:v>
                </c:pt>
                <c:pt idx="114">
                  <c:v>74.716981</c:v>
                </c:pt>
                <c:pt idx="115">
                  <c:v>74.83558</c:v>
                </c:pt>
                <c:pt idx="116">
                  <c:v>74.188679</c:v>
                </c:pt>
                <c:pt idx="117">
                  <c:v>73.568733</c:v>
                </c:pt>
                <c:pt idx="118">
                  <c:v>73.261456</c:v>
                </c:pt>
                <c:pt idx="119">
                  <c:v>72.571429</c:v>
                </c:pt>
                <c:pt idx="120">
                  <c:v>76.916442</c:v>
                </c:pt>
                <c:pt idx="121">
                  <c:v>75.816712</c:v>
                </c:pt>
                <c:pt idx="122">
                  <c:v>75.121294</c:v>
                </c:pt>
                <c:pt idx="123">
                  <c:v>74.83558</c:v>
                </c:pt>
                <c:pt idx="124">
                  <c:v>73.865229</c:v>
                </c:pt>
                <c:pt idx="125">
                  <c:v>74.377358</c:v>
                </c:pt>
                <c:pt idx="126">
                  <c:v>73.784367</c:v>
                </c:pt>
                <c:pt idx="127">
                  <c:v>73.460916</c:v>
                </c:pt>
                <c:pt idx="128">
                  <c:v>73.498652</c:v>
                </c:pt>
                <c:pt idx="129">
                  <c:v>72.878706</c:v>
                </c:pt>
                <c:pt idx="130">
                  <c:v>73.03504</c:v>
                </c:pt>
                <c:pt idx="131">
                  <c:v>72.296496</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相对首循环容量（%）</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下降比例（%）</c:v>
          </c:tx>
          <c:spPr>
            <a:solidFill xmlns:a="http://schemas.openxmlformats.org/drawingml/2006/main">
              <a:srgbClr val="176B87"/>
            </a:solidFill>
          </c:spPr>
          <c:invertIfNegative val="0"/>
          <c:cat>
            <c:strRef>
              <c:f>'Chart Data'!$A$2:$A$5</c:f>
              <c:strCache>
                <c:ptCount val="4"/>
                <c:pt idx="0">
                  <c:v>B0005</c:v>
                </c:pt>
                <c:pt idx="1">
                  <c:v>B0006</c:v>
                </c:pt>
                <c:pt idx="2">
                  <c:v>B0007</c:v>
                </c:pt>
                <c:pt idx="3">
                  <c:v>B0018</c:v>
                </c:pt>
              </c:strCache>
            </c:strRef>
          </c:cat>
          <c:val>
            <c:numRef>
              <c:f>'Chart Data'!$B$2:$B$5</c:f>
              <c:numCache>
                <c:formatCode>General</c:formatCode>
                <c:ptCount val="4"/>
                <c:pt idx="0">
                  <c:v>26.490708</c:v>
                </c:pt>
                <c:pt idx="1">
                  <c:v>35.36088</c:v>
                </c:pt>
                <c:pt idx="2">
                  <c:v>21.897308</c:v>
                </c:pt>
                <c:pt idx="3">
                  <c:v>27.703504</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下降比例（%）</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ineChart>
        <c:grouping val="standard"/>
        <c:varyColors val="0"/>
        <c:ser>
          <c:idx val="0"/>
          <c:order val="0"/>
          <c:tx>
            <c:v>原始容量</c:v>
          </c:tx>
          <c:spPr>
            <a:solidFill xmlns:a="http://schemas.openxmlformats.org/drawingml/2006/main">
              <a:srgbClr val="176B87"/>
            </a:solidFill>
          </c:spPr>
          <c:marker>
            <c:symbol val="none"/>
          </c:marker>
          <c:cat>
            <c:numRef>
              <c:f>'Chart Data'!$A$2:$A$12</c:f>
              <c:numCache>
                <c:formatCode>General</c:formatCode>
                <c:ptCount val="11"/>
                <c:pt idx="0">
                  <c:v>85</c:v>
                </c:pt>
                <c:pt idx="1">
                  <c:v>86</c:v>
                </c:pt>
                <c:pt idx="2">
                  <c:v>87</c:v>
                </c:pt>
                <c:pt idx="3">
                  <c:v>88</c:v>
                </c:pt>
                <c:pt idx="4">
                  <c:v>89</c:v>
                </c:pt>
                <c:pt idx="5">
                  <c:v>90</c:v>
                </c:pt>
                <c:pt idx="6">
                  <c:v>91</c:v>
                </c:pt>
                <c:pt idx="7">
                  <c:v>92</c:v>
                </c:pt>
                <c:pt idx="8">
                  <c:v>93</c:v>
                </c:pt>
                <c:pt idx="9">
                  <c:v>94</c:v>
                </c:pt>
                <c:pt idx="10">
                  <c:v>95</c:v>
                </c:pt>
              </c:numCache>
            </c:numRef>
          </c:cat>
          <c:val>
            <c:numRef>
              <c:f>'Chart Data'!$B$2:$B$12</c:f>
              <c:numCache>
                <c:formatCode>General</c:formatCode>
                <c:ptCount val="11"/>
                <c:pt idx="0">
                  <c:v>1.4516</c:v>
                </c:pt>
                <c:pt idx="1">
                  <c:v>1.4519</c:v>
                </c:pt>
                <c:pt idx="2">
                  <c:v>1.4471</c:v>
                </c:pt>
                <c:pt idx="3">
                  <c:v>1.4469</c:v>
                </c:pt>
                <c:pt idx="4">
                  <c:v>1.4417</c:v>
                </c:pt>
                <c:pt idx="5">
                  <c:v>1.5936</c:v>
                </c:pt>
                <c:pt idx="6">
                  <c:v>1.5464</c:v>
                </c:pt>
                <c:pt idx="7">
                  <c:v>1.5147</c:v>
                </c:pt>
                <c:pt idx="8">
                  <c:v>1.499</c:v>
                </c:pt>
                <c:pt idx="9">
                  <c:v>1.4831</c:v>
                </c:pt>
                <c:pt idx="10">
                  <c:v>1.473</c:v>
                </c:pt>
              </c:numCache>
            </c:numRef>
          </c:val>
          <c:smooth val="0"/>
        </c:ser>
        <c:ser>
          <c:idx val="1"/>
          <c:order val="1"/>
          <c:tx>
            <c:v>限幅对照</c:v>
          </c:tx>
          <c:spPr>
            <a:solidFill xmlns:a="http://schemas.openxmlformats.org/drawingml/2006/main">
              <a:srgbClr val="D3662E"/>
            </a:solidFill>
          </c:spPr>
          <c:marker>
            <c:symbol val="none"/>
          </c:marker>
          <c:cat>
            <c:numRef>
              <c:f>'Chart Data'!$C$2:$C$12</c:f>
              <c:numCache>
                <c:formatCode>General</c:formatCode>
                <c:ptCount val="11"/>
                <c:pt idx="0">
                  <c:v>85</c:v>
                </c:pt>
                <c:pt idx="1">
                  <c:v>86</c:v>
                </c:pt>
                <c:pt idx="2">
                  <c:v>87</c:v>
                </c:pt>
                <c:pt idx="3">
                  <c:v>88</c:v>
                </c:pt>
                <c:pt idx="4">
                  <c:v>89</c:v>
                </c:pt>
                <c:pt idx="5">
                  <c:v>90</c:v>
                </c:pt>
                <c:pt idx="6">
                  <c:v>91</c:v>
                </c:pt>
                <c:pt idx="7">
                  <c:v>92</c:v>
                </c:pt>
                <c:pt idx="8">
                  <c:v>93</c:v>
                </c:pt>
                <c:pt idx="9">
                  <c:v>94</c:v>
                </c:pt>
                <c:pt idx="10">
                  <c:v>95</c:v>
                </c:pt>
              </c:numCache>
            </c:numRef>
          </c:cat>
          <c:val>
            <c:numRef>
              <c:f>'Chart Data'!$D$2:$D$12</c:f>
              <c:numCache>
                <c:formatCode>General</c:formatCode>
                <c:ptCount val="11"/>
                <c:pt idx="0">
                  <c:v>1.4516</c:v>
                </c:pt>
                <c:pt idx="1">
                  <c:v>1.4519</c:v>
                </c:pt>
                <c:pt idx="2">
                  <c:v>1.4471</c:v>
                </c:pt>
                <c:pt idx="3">
                  <c:v>1.4469</c:v>
                </c:pt>
                <c:pt idx="4">
                  <c:v>1.4417</c:v>
                </c:pt>
                <c:pt idx="5">
                  <c:v>1.46735</c:v>
                </c:pt>
                <c:pt idx="6">
                  <c:v>1.54715</c:v>
                </c:pt>
                <c:pt idx="7">
                  <c:v>1.5147</c:v>
                </c:pt>
                <c:pt idx="8">
                  <c:v>1.499</c:v>
                </c:pt>
                <c:pt idx="9">
                  <c:v>1.4831</c:v>
                </c:pt>
                <c:pt idx="10">
                  <c:v>1.473</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原始容量</c:v>
          </c:tx>
          <c:spPr>
            <a:solidFill xmlns:a="http://schemas.openxmlformats.org/drawingml/2006/main">
              <a:srgbClr val="176B87"/>
            </a:solidFill>
          </c:spPr>
          <c:marker>
            <c:symbol val="none"/>
          </c:marker>
          <c:cat>
            <c:numRef>
              <c:f>'Chart Data'!$A$2:$A$11</c:f>
              <c:numCache>
                <c:formatCode>General</c:formatCode>
                <c:ptCount val="10"/>
                <c:pt idx="0">
                  <c:v>42</c:v>
                </c:pt>
                <c:pt idx="1">
                  <c:v>43</c:v>
                </c:pt>
                <c:pt idx="2">
                  <c:v>44</c:v>
                </c:pt>
                <c:pt idx="3">
                  <c:v>45</c:v>
                </c:pt>
                <c:pt idx="4">
                  <c:v>46</c:v>
                </c:pt>
                <c:pt idx="5">
                  <c:v>47</c:v>
                </c:pt>
                <c:pt idx="6">
                  <c:v>48</c:v>
                </c:pt>
                <c:pt idx="7">
                  <c:v>49</c:v>
                </c:pt>
                <c:pt idx="8">
                  <c:v>50</c:v>
                </c:pt>
                <c:pt idx="9">
                  <c:v>51</c:v>
                </c:pt>
              </c:numCache>
            </c:numRef>
          </c:cat>
          <c:val>
            <c:numRef>
              <c:f>'Chart Data'!$B$2:$B$11</c:f>
              <c:numCache>
                <c:formatCode>General</c:formatCode>
                <c:ptCount val="10"/>
                <c:pt idx="0">
                  <c:v>1.6324</c:v>
                </c:pt>
                <c:pt idx="1">
                  <c:v>1.6164</c:v>
                </c:pt>
                <c:pt idx="2">
                  <c:v>1.6109</c:v>
                </c:pt>
                <c:pt idx="3">
                  <c:v>1.5955</c:v>
                </c:pt>
                <c:pt idx="4">
                  <c:v>1.7267</c:v>
                </c:pt>
                <c:pt idx="5">
                  <c:v>1.7166</c:v>
                </c:pt>
                <c:pt idx="6">
                  <c:v>1.6958</c:v>
                </c:pt>
                <c:pt idx="7">
                  <c:v>1.6778</c:v>
                </c:pt>
                <c:pt idx="8">
                  <c:v>1.6607</c:v>
                </c:pt>
                <c:pt idx="9">
                  <c:v>1.6664</c:v>
                </c:pt>
              </c:numCache>
            </c:numRef>
          </c:val>
          <c:smooth val="0"/>
        </c:ser>
        <c:ser>
          <c:idx val="1"/>
          <c:order val="1"/>
          <c:tx>
            <c:v>限幅对照</c:v>
          </c:tx>
          <c:spPr>
            <a:solidFill xmlns:a="http://schemas.openxmlformats.org/drawingml/2006/main">
              <a:srgbClr val="D3662E"/>
            </a:solidFill>
          </c:spPr>
          <c:marker>
            <c:symbol val="none"/>
          </c:marker>
          <c:cat>
            <c:numRef>
              <c:f>'Chart Data'!$C$2:$C$11</c:f>
              <c:numCache>
                <c:formatCode>General</c:formatCode>
                <c:ptCount val="10"/>
                <c:pt idx="0">
                  <c:v>42</c:v>
                </c:pt>
                <c:pt idx="1">
                  <c:v>43</c:v>
                </c:pt>
                <c:pt idx="2">
                  <c:v>44</c:v>
                </c:pt>
                <c:pt idx="3">
                  <c:v>45</c:v>
                </c:pt>
                <c:pt idx="4">
                  <c:v>46</c:v>
                </c:pt>
                <c:pt idx="5">
                  <c:v>47</c:v>
                </c:pt>
                <c:pt idx="6">
                  <c:v>48</c:v>
                </c:pt>
                <c:pt idx="7">
                  <c:v>49</c:v>
                </c:pt>
                <c:pt idx="8">
                  <c:v>50</c:v>
                </c:pt>
                <c:pt idx="9">
                  <c:v>51</c:v>
                </c:pt>
              </c:numCache>
            </c:numRef>
          </c:cat>
          <c:val>
            <c:numRef>
              <c:f>'Chart Data'!$D$2:$D$11</c:f>
              <c:numCache>
                <c:formatCode>General</c:formatCode>
                <c:ptCount val="10"/>
                <c:pt idx="0">
                  <c:v>1.6324</c:v>
                </c:pt>
                <c:pt idx="1">
                  <c:v>1.6164</c:v>
                </c:pt>
                <c:pt idx="2">
                  <c:v>1.6109</c:v>
                </c:pt>
                <c:pt idx="3">
                  <c:v>1.5955</c:v>
                </c:pt>
                <c:pt idx="4">
                  <c:v>1.615675</c:v>
                </c:pt>
                <c:pt idx="5">
                  <c:v>1.7166</c:v>
                </c:pt>
                <c:pt idx="6">
                  <c:v>1.6958</c:v>
                </c:pt>
                <c:pt idx="7">
                  <c:v>1.6778</c:v>
                </c:pt>
                <c:pt idx="8">
                  <c:v>1.6607</c:v>
                </c:pt>
                <c:pt idx="9">
                  <c:v>1.6664</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循环次数</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容量保持基线</c:v>
          </c:tx>
          <c:spPr>
            <a:solidFill xmlns:a="http://schemas.openxmlformats.org/drawingml/2006/main">
              <a:srgbClr val="176B87"/>
            </a:solidFill>
          </c:spPr>
          <c:invertIfNegative val="0"/>
          <c:cat>
            <c:strRef>
              <c:f>'Chart Data'!$A$2:$A$5</c:f>
              <c:strCache>
                <c:ptCount val="4"/>
                <c:pt idx="0">
                  <c:v>B0005</c:v>
                </c:pt>
                <c:pt idx="1">
                  <c:v>B0006</c:v>
                </c:pt>
                <c:pt idx="2">
                  <c:v>B0007</c:v>
                </c:pt>
                <c:pt idx="3">
                  <c:v>B0018</c:v>
                </c:pt>
              </c:strCache>
            </c:strRef>
          </c:cat>
          <c:val>
            <c:numRef>
              <c:f>'Chart Data'!$B$2:$B$5</c:f>
              <c:numCache>
                <c:formatCode>General</c:formatCode>
                <c:ptCount val="4"/>
                <c:pt idx="0">
                  <c:v>0.010001</c:v>
                </c:pt>
                <c:pt idx="1">
                  <c:v>0.012239</c:v>
                </c:pt>
                <c:pt idx="2">
                  <c:v>0.00821</c:v>
                </c:pt>
                <c:pt idx="3">
                  <c:v>0.027251</c:v>
                </c:pt>
              </c:numCache>
            </c:numRef>
          </c:val>
        </c:ser>
        <c:ser>
          <c:idx val="1"/>
          <c:order val="1"/>
          <c:tx>
            <c:v>普通线性回归</c:v>
          </c:tx>
          <c:spPr>
            <a:solidFill xmlns:a="http://schemas.openxmlformats.org/drawingml/2006/main">
              <a:srgbClr val="D3662E"/>
            </a:solidFill>
          </c:spPr>
          <c:invertIfNegative val="0"/>
          <c:cat>
            <c:strRef>
              <c:f>'Chart Data'!$C$2:$C$5</c:f>
              <c:strCache>
                <c:ptCount val="4"/>
                <c:pt idx="0">
                  <c:v>B0005</c:v>
                </c:pt>
                <c:pt idx="1">
                  <c:v>B0006</c:v>
                </c:pt>
                <c:pt idx="2">
                  <c:v>B0007</c:v>
                </c:pt>
                <c:pt idx="3">
                  <c:v>B0018</c:v>
                </c:pt>
              </c:strCache>
            </c:strRef>
          </c:cat>
          <c:val>
            <c:numRef>
              <c:f>'Chart Data'!$D$2:$D$5</c:f>
              <c:numCache>
                <c:formatCode>General</c:formatCode>
                <c:ptCount val="4"/>
                <c:pt idx="0">
                  <c:v>0.013114</c:v>
                </c:pt>
                <c:pt idx="1">
                  <c:v>0.01173</c:v>
                </c:pt>
                <c:pt idx="2">
                  <c:v>0.011011</c:v>
                </c:pt>
                <c:pt idx="3">
                  <c:v>0.033624</c:v>
                </c:pt>
              </c:numCache>
            </c:numRef>
          </c:val>
        </c:ser>
        <c:ser>
          <c:idx val="2"/>
          <c:order val="2"/>
          <c:tx>
            <c:v>随机森林回归</c:v>
          </c:tx>
          <c:spPr>
            <a:solidFill xmlns:a="http://schemas.openxmlformats.org/drawingml/2006/main">
              <a:srgbClr val="647D32"/>
            </a:solidFill>
          </c:spPr>
          <c:invertIfNegative val="0"/>
          <c:cat>
            <c:strRef>
              <c:f>'Chart Data'!$E$2:$E$5</c:f>
              <c:strCache>
                <c:ptCount val="4"/>
                <c:pt idx="0">
                  <c:v>B0005</c:v>
                </c:pt>
                <c:pt idx="1">
                  <c:v>B0006</c:v>
                </c:pt>
                <c:pt idx="2">
                  <c:v>B0007</c:v>
                </c:pt>
                <c:pt idx="3">
                  <c:v>B0018</c:v>
                </c:pt>
              </c:strCache>
            </c:strRef>
          </c:cat>
          <c:val>
            <c:numRef>
              <c:f>'Chart Data'!$F$2:$F$5</c:f>
              <c:numCache>
                <c:formatCode>General</c:formatCode>
                <c:ptCount val="4"/>
                <c:pt idx="0">
                  <c:v>0.054133</c:v>
                </c:pt>
                <c:pt idx="1">
                  <c:v>0.100671</c:v>
                </c:pt>
                <c:pt idx="2">
                  <c:v>0.051718</c:v>
                </c:pt>
                <c:pt idx="3">
                  <c:v>0.028542</c:v>
                </c:pt>
              </c:numCache>
            </c:numRef>
          </c:val>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测试RMSE（Ah）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实测容量</c:v>
          </c:tx>
          <c:spPr>
            <a:solidFill xmlns:a="http://schemas.openxmlformats.org/drawingml/2006/main">
              <a:srgbClr val="172B3A"/>
            </a:solidFill>
          </c:spPr>
          <c:marker>
            <c:symbol val="none"/>
          </c:marker>
          <c:cat>
            <c:numRef>
              <c:f>'Chart Data'!$A$2:$A$35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Data'!$B$2:$B$35</c:f>
              <c:numCache>
                <c:formatCode>General</c:formatCode>
                <c:ptCount val="34"/>
                <c:pt idx="0">
                  <c:v>1.326</c:v>
                </c:pt>
                <c:pt idx="1">
                  <c:v>1.3101</c:v>
                </c:pt>
                <c:pt idx="2">
                  <c:v>1.3052</c:v>
                </c:pt>
                <c:pt idx="3">
                  <c:v>1.3004</c:v>
                </c:pt>
                <c:pt idx="4">
                  <c:v>1.3002</c:v>
                </c:pt>
                <c:pt idx="5">
                  <c:v>1.2895</c:v>
                </c:pt>
                <c:pt idx="6">
                  <c:v>1.2793</c:v>
                </c:pt>
                <c:pt idx="7">
                  <c:v>1.2792</c:v>
                </c:pt>
                <c:pt idx="8">
                  <c:v>1.274</c:v>
                </c:pt>
                <c:pt idx="9">
                  <c:v>1.2741</c:v>
                </c:pt>
                <c:pt idx="10">
                  <c:v>1.2638</c:v>
                </c:pt>
                <c:pt idx="11">
                  <c:v>1.2581</c:v>
                </c:pt>
                <c:pt idx="12">
                  <c:v>1.2533</c:v>
                </c:pt>
                <c:pt idx="13">
                  <c:v>1.2532</c:v>
                </c:pt>
                <c:pt idx="14">
                  <c:v>1.2481</c:v>
                </c:pt>
                <c:pt idx="15">
                  <c:v>1.2534</c:v>
                </c:pt>
                <c:pt idx="16">
                  <c:v>1.2898</c:v>
                </c:pt>
                <c:pt idx="17">
                  <c:v>1.2635</c:v>
                </c:pt>
                <c:pt idx="18">
                  <c:v>1.248</c:v>
                </c:pt>
                <c:pt idx="19">
                  <c:v>1.2321</c:v>
                </c:pt>
                <c:pt idx="20">
                  <c:v>1.2271</c:v>
                </c:pt>
                <c:pt idx="21">
                  <c:v>1.2217</c:v>
                </c:pt>
                <c:pt idx="22">
                  <c:v>1.2111</c:v>
                </c:pt>
                <c:pt idx="23">
                  <c:v>1.2056</c:v>
                </c:pt>
                <c:pt idx="24">
                  <c:v>1.2009</c:v>
                </c:pt>
                <c:pt idx="25">
                  <c:v>1.1906</c:v>
                </c:pt>
                <c:pt idx="26">
                  <c:v>1.1852</c:v>
                </c:pt>
                <c:pt idx="27">
                  <c:v>1.1797</c:v>
                </c:pt>
                <c:pt idx="28">
                  <c:v>1.1746</c:v>
                </c:pt>
                <c:pt idx="29">
                  <c:v>1.1538</c:v>
                </c:pt>
                <c:pt idx="30">
                  <c:v>1.1644</c:v>
                </c:pt>
                <c:pt idx="31">
                  <c:v>1.1588</c:v>
                </c:pt>
                <c:pt idx="32">
                  <c:v>1.175</c:v>
                </c:pt>
                <c:pt idx="33">
                  <c:v>1.1857</c:v>
                </c:pt>
              </c:numCache>
            </c:numRef>
          </c:val>
          <c:smooth val="0"/>
        </c:ser>
        <c:ser>
          <c:idx val="1"/>
          <c:order val="1"/>
          <c:tx>
            <c:v>容量保持基线</c:v>
          </c:tx>
          <c:spPr>
            <a:solidFill xmlns:a="http://schemas.openxmlformats.org/drawingml/2006/main">
              <a:srgbClr val="176B87"/>
            </a:solidFill>
          </c:spPr>
          <c:marker>
            <c:symbol val="none"/>
          </c:marker>
          <c:cat>
            <c:numRef>
              <c:f>'Chart Data'!$C$2:$C$35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Data'!$D$2:$D$35</c:f>
              <c:numCache>
                <c:formatCode>General</c:formatCode>
                <c:ptCount val="34"/>
                <c:pt idx="0">
                  <c:v>1.3474</c:v>
                </c:pt>
                <c:pt idx="1">
                  <c:v>1.326</c:v>
                </c:pt>
                <c:pt idx="2">
                  <c:v>1.3101</c:v>
                </c:pt>
                <c:pt idx="3">
                  <c:v>1.3052</c:v>
                </c:pt>
                <c:pt idx="4">
                  <c:v>1.3004</c:v>
                </c:pt>
                <c:pt idx="5">
                  <c:v>1.3002</c:v>
                </c:pt>
                <c:pt idx="6">
                  <c:v>1.2895</c:v>
                </c:pt>
                <c:pt idx="7">
                  <c:v>1.2793</c:v>
                </c:pt>
                <c:pt idx="8">
                  <c:v>1.2792</c:v>
                </c:pt>
                <c:pt idx="9">
                  <c:v>1.274</c:v>
                </c:pt>
                <c:pt idx="10">
                  <c:v>1.2741</c:v>
                </c:pt>
                <c:pt idx="11">
                  <c:v>1.2638</c:v>
                </c:pt>
                <c:pt idx="12">
                  <c:v>1.2581</c:v>
                </c:pt>
                <c:pt idx="13">
                  <c:v>1.2533</c:v>
                </c:pt>
                <c:pt idx="14">
                  <c:v>1.2532</c:v>
                </c:pt>
                <c:pt idx="15">
                  <c:v>1.2481</c:v>
                </c:pt>
                <c:pt idx="16">
                  <c:v>1.2534</c:v>
                </c:pt>
                <c:pt idx="17">
                  <c:v>1.2898</c:v>
                </c:pt>
                <c:pt idx="18">
                  <c:v>1.2635</c:v>
                </c:pt>
                <c:pt idx="19">
                  <c:v>1.248</c:v>
                </c:pt>
                <c:pt idx="20">
                  <c:v>1.2321</c:v>
                </c:pt>
                <c:pt idx="21">
                  <c:v>1.2271</c:v>
                </c:pt>
                <c:pt idx="22">
                  <c:v>1.2217</c:v>
                </c:pt>
                <c:pt idx="23">
                  <c:v>1.2111</c:v>
                </c:pt>
                <c:pt idx="24">
                  <c:v>1.2056</c:v>
                </c:pt>
                <c:pt idx="25">
                  <c:v>1.2009</c:v>
                </c:pt>
                <c:pt idx="26">
                  <c:v>1.1906</c:v>
                </c:pt>
                <c:pt idx="27">
                  <c:v>1.1852</c:v>
                </c:pt>
                <c:pt idx="28">
                  <c:v>1.1797</c:v>
                </c:pt>
                <c:pt idx="29">
                  <c:v>1.1746</c:v>
                </c:pt>
                <c:pt idx="30">
                  <c:v>1.1538</c:v>
                </c:pt>
                <c:pt idx="31">
                  <c:v>1.1644</c:v>
                </c:pt>
                <c:pt idx="32">
                  <c:v>1.1588</c:v>
                </c:pt>
                <c:pt idx="33">
                  <c:v>1.175</c:v>
                </c:pt>
              </c:numCache>
            </c:numRef>
          </c:val>
          <c:smooth val="0"/>
        </c:ser>
        <c:ser>
          <c:idx val="2"/>
          <c:order val="2"/>
          <c:tx>
            <c:v>普通线性回归</c:v>
          </c:tx>
          <c:spPr>
            <a:solidFill xmlns:a="http://schemas.openxmlformats.org/drawingml/2006/main">
              <a:srgbClr val="D3662E"/>
            </a:solidFill>
          </c:spPr>
          <c:marker>
            <c:symbol val="none"/>
          </c:marker>
          <c:cat>
            <c:numRef>
              <c:f>'Chart Data'!$E$2:$E$35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Data'!$F$2:$F$35</c:f>
              <c:numCache>
                <c:formatCode>General</c:formatCode>
                <c:ptCount val="34"/>
                <c:pt idx="0">
                  <c:v>1.331979</c:v>
                </c:pt>
                <c:pt idx="1">
                  <c:v>1.313902</c:v>
                </c:pt>
                <c:pt idx="2">
                  <c:v>1.300817</c:v>
                </c:pt>
                <c:pt idx="3">
                  <c:v>1.297124</c:v>
                </c:pt>
                <c:pt idx="4">
                  <c:v>1.29311</c:v>
                </c:pt>
                <c:pt idx="5">
                  <c:v>1.290917</c:v>
                </c:pt>
                <c:pt idx="6">
                  <c:v>1.280789</c:v>
                </c:pt>
                <c:pt idx="7">
                  <c:v>1.271673</c:v>
                </c:pt>
                <c:pt idx="8">
                  <c:v>1.27073</c:v>
                </c:pt>
                <c:pt idx="9">
                  <c:v>1.265532</c:v>
                </c:pt>
                <c:pt idx="10">
                  <c:v>1.2643</c:v>
                </c:pt>
                <c:pt idx="11">
                  <c:v>1.25489</c:v>
                </c:pt>
                <c:pt idx="12">
                  <c:v>1.249624</c:v>
                </c:pt>
                <c:pt idx="13">
                  <c:v>1.244857</c:v>
                </c:pt>
                <c:pt idx="14">
                  <c:v>1.243884</c:v>
                </c:pt>
                <c:pt idx="15">
                  <c:v>1.238517</c:v>
                </c:pt>
                <c:pt idx="16">
                  <c:v>1.241878</c:v>
                </c:pt>
                <c:pt idx="17">
                  <c:v>1.270462</c:v>
                </c:pt>
                <c:pt idx="18">
                  <c:v>1.248411</c:v>
                </c:pt>
                <c:pt idx="19">
                  <c:v>1.235816</c:v>
                </c:pt>
                <c:pt idx="20">
                  <c:v>1.223453</c:v>
                </c:pt>
                <c:pt idx="21">
                  <c:v>1.219638</c:v>
                </c:pt>
                <c:pt idx="22">
                  <c:v>1.212891</c:v>
                </c:pt>
                <c:pt idx="23">
                  <c:v>1.202559</c:v>
                </c:pt>
                <c:pt idx="24">
                  <c:v>1.196669</c:v>
                </c:pt>
                <c:pt idx="25">
                  <c:v>1.191827</c:v>
                </c:pt>
                <c:pt idx="26">
                  <c:v>1.182346</c:v>
                </c:pt>
                <c:pt idx="27">
                  <c:v>1.176772</c:v>
                </c:pt>
                <c:pt idx="28">
                  <c:v>1.171284</c:v>
                </c:pt>
                <c:pt idx="29">
                  <c:v>1.166055</c:v>
                </c:pt>
                <c:pt idx="30">
                  <c:v>1.148012</c:v>
                </c:pt>
                <c:pt idx="31">
                  <c:v>1.155654</c:v>
                </c:pt>
                <c:pt idx="32">
                  <c:v>1.149876</c:v>
                </c:pt>
                <c:pt idx="33">
                  <c:v>1.161748</c:v>
                </c:pt>
              </c:numCache>
            </c:numRef>
          </c:val>
          <c:smooth val="0"/>
        </c:ser>
        <c:ser>
          <c:idx val="3"/>
          <c:order val="3"/>
          <c:tx>
            <c:v>随机森林回归</c:v>
          </c:tx>
          <c:spPr>
            <a:solidFill xmlns:a="http://schemas.openxmlformats.org/drawingml/2006/main">
              <a:srgbClr val="647D32"/>
            </a:solidFill>
          </c:spPr>
          <c:marker>
            <c:symbol val="none"/>
          </c:marker>
          <c:cat>
            <c:numRef>
              <c:f>'Chart Data'!$G$2:$G$35</c:f>
              <c:numCache>
                <c:formatCode>General</c:formatCode>
                <c:ptCount val="34"/>
                <c:pt idx="0">
                  <c:v>135</c:v>
                </c:pt>
                <c:pt idx="1">
                  <c:v>136</c:v>
                </c:pt>
                <c:pt idx="2">
                  <c:v>137</c:v>
                </c:pt>
                <c:pt idx="3">
                  <c:v>138</c:v>
                </c:pt>
                <c:pt idx="4">
                  <c:v>139</c:v>
                </c:pt>
                <c:pt idx="5">
                  <c:v>140</c:v>
                </c:pt>
                <c:pt idx="6">
                  <c:v>141</c:v>
                </c:pt>
                <c:pt idx="7">
                  <c:v>142</c:v>
                </c:pt>
                <c:pt idx="8">
                  <c:v>143</c:v>
                </c:pt>
                <c:pt idx="9">
                  <c:v>144</c:v>
                </c:pt>
                <c:pt idx="10">
                  <c:v>145</c:v>
                </c:pt>
                <c:pt idx="11">
                  <c:v>146</c:v>
                </c:pt>
                <c:pt idx="12">
                  <c:v>147</c:v>
                </c:pt>
                <c:pt idx="13">
                  <c:v>148</c:v>
                </c:pt>
                <c:pt idx="14">
                  <c:v>149</c:v>
                </c:pt>
                <c:pt idx="15">
                  <c:v>150</c:v>
                </c:pt>
                <c:pt idx="16">
                  <c:v>151</c:v>
                </c:pt>
                <c:pt idx="17">
                  <c:v>152</c:v>
                </c:pt>
                <c:pt idx="18">
                  <c:v>153</c:v>
                </c:pt>
                <c:pt idx="19">
                  <c:v>154</c:v>
                </c:pt>
                <c:pt idx="20">
                  <c:v>155</c:v>
                </c:pt>
                <c:pt idx="21">
                  <c:v>156</c:v>
                </c:pt>
                <c:pt idx="22">
                  <c:v>157</c:v>
                </c:pt>
                <c:pt idx="23">
                  <c:v>158</c:v>
                </c:pt>
                <c:pt idx="24">
                  <c:v>159</c:v>
                </c:pt>
                <c:pt idx="25">
                  <c:v>160</c:v>
                </c:pt>
                <c:pt idx="26">
                  <c:v>161</c:v>
                </c:pt>
                <c:pt idx="27">
                  <c:v>162</c:v>
                </c:pt>
                <c:pt idx="28">
                  <c:v>163</c:v>
                </c:pt>
                <c:pt idx="29">
                  <c:v>164</c:v>
                </c:pt>
                <c:pt idx="30">
                  <c:v>165</c:v>
                </c:pt>
                <c:pt idx="31">
                  <c:v>166</c:v>
                </c:pt>
                <c:pt idx="32">
                  <c:v>167</c:v>
                </c:pt>
                <c:pt idx="33">
                  <c:v>168</c:v>
                </c:pt>
              </c:numCache>
            </c:numRef>
          </c:cat>
          <c:val>
            <c:numRef>
              <c:f>'Chart Data'!$H$2:$H$35</c:f>
              <c:numCache>
                <c:formatCode>General</c:formatCode>
                <c:ptCount val="34"/>
                <c:pt idx="0">
                  <c:v>1.332541</c:v>
                </c:pt>
                <c:pt idx="1">
                  <c:v>1.327569</c:v>
                </c:pt>
                <c:pt idx="2">
                  <c:v>1.327501</c:v>
                </c:pt>
                <c:pt idx="3">
                  <c:v>1.327112</c:v>
                </c:pt>
                <c:pt idx="4">
                  <c:v>1.327893</c:v>
                </c:pt>
                <c:pt idx="5">
                  <c:v>1.326881</c:v>
                </c:pt>
                <c:pt idx="6">
                  <c:v>1.327307</c:v>
                </c:pt>
                <c:pt idx="7">
                  <c:v>1.326881</c:v>
                </c:pt>
                <c:pt idx="8">
                  <c:v>1.326881</c:v>
                </c:pt>
                <c:pt idx="9">
                  <c:v>1.326881</c:v>
                </c:pt>
                <c:pt idx="10">
                  <c:v>1.327501</c:v>
                </c:pt>
                <c:pt idx="11">
                  <c:v>1.327501</c:v>
                </c:pt>
                <c:pt idx="12">
                  <c:v>1.327141</c:v>
                </c:pt>
                <c:pt idx="13">
                  <c:v>1.32713</c:v>
                </c:pt>
                <c:pt idx="14">
                  <c:v>1.327141</c:v>
                </c:pt>
                <c:pt idx="15">
                  <c:v>1.327501</c:v>
                </c:pt>
                <c:pt idx="16">
                  <c:v>1.327501</c:v>
                </c:pt>
                <c:pt idx="17">
                  <c:v>1.327501</c:v>
                </c:pt>
                <c:pt idx="18">
                  <c:v>1.327501</c:v>
                </c:pt>
                <c:pt idx="19">
                  <c:v>1.327501</c:v>
                </c:pt>
                <c:pt idx="20">
                  <c:v>1.327893</c:v>
                </c:pt>
                <c:pt idx="21">
                  <c:v>1.327893</c:v>
                </c:pt>
                <c:pt idx="22">
                  <c:v>1.327893</c:v>
                </c:pt>
                <c:pt idx="23">
                  <c:v>1.327893</c:v>
                </c:pt>
                <c:pt idx="24">
                  <c:v>1.327112</c:v>
                </c:pt>
                <c:pt idx="25">
                  <c:v>1.32719</c:v>
                </c:pt>
                <c:pt idx="26">
                  <c:v>1.327644</c:v>
                </c:pt>
                <c:pt idx="27">
                  <c:v>1.327169</c:v>
                </c:pt>
                <c:pt idx="28">
                  <c:v>1.327169</c:v>
                </c:pt>
                <c:pt idx="29">
                  <c:v>1.326881</c:v>
                </c:pt>
                <c:pt idx="30">
                  <c:v>1.327893</c:v>
                </c:pt>
                <c:pt idx="31">
                  <c:v>1.327169</c:v>
                </c:pt>
                <c:pt idx="32">
                  <c:v>1.327141</c:v>
                </c:pt>
                <c:pt idx="33">
                  <c:v>1.327501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Unicode MS"/>
                    <a:ea typeface="Arial Unicode MS"/>
                    <a:cs typeface="Arial Unicode MS"/>
                  </a:rPr>
                  <a:t>容量（Ah）</a:t>
                </a:r>
              </a:p>
            </c:rich>
          </c:tx>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Unicode MS"/>
                <a:ea typeface="Arial Unicode MS"/>
                <a:cs typeface="Arial Unicode MS"/>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Unicode MS"/>
              <a:ea typeface="Arial Unicode MS"/>
              <a:cs typeface="Arial Unicode MS"/>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DE261F-207D-4F4B-AD90-E95A0772348F}"/>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电池健康评估与容量预测</a:t>
            </a:r>
          </a:p>
        </p:txBody>
      </p:sp>
      <p:sp>
        <p:nvSpPr>
          <p:cNvPr id="2" name="">
            <a:extLst xmlns:a="http://schemas.openxmlformats.org/drawingml/2006/main">
              <a:ext uri="{FF2B5EF4-FFF2-40B4-BE49-F238E27FC236}">
                <a16:creationId xmlns:a16="http://schemas.microsoft.com/office/drawing/2014/main" id="{8A29D709-87E4-43EB-824B-55584635C7D3}"/>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E4392813-F4F1-44F7-B015-12C906CF515F}"/>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1</a:t>
            </a:r>
          </a:p>
        </p:txBody>
      </p:sp>
      <p:sp>
        <p:nvSpPr>
          <p:cNvPr id="4" name="">
            <a:extLst xmlns:a="http://schemas.openxmlformats.org/drawingml/2006/main">
              <a:ext uri="{FF2B5EF4-FFF2-40B4-BE49-F238E27FC236}">
                <a16:creationId xmlns:a16="http://schemas.microsoft.com/office/drawing/2014/main" id="{37CB33F7-A15B-4C23-BFDB-3F15D8E20DBC}"/>
              </a:ext>
            </a:extLst>
          </p:cNvPr>
          <p:cNvSpPr>
            <a:spLocks xmlns:a="http://schemas.openxmlformats.org/drawingml/2006/main" noGrp="1"/>
          </p:cNvSpPr>
          <p:nvPr/>
        </p:nvSpPr>
        <p:spPr>
          <a:xfrm xmlns:a="http://schemas.openxmlformats.org/drawingml/2006/main">
            <a:off x="619125" y="16668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a:solidFill>
                  <a:srgbClr val="172B3A"/>
                </a:solidFill>
              </a:defRPr>
            </a:defPPr>
            <a:lvl1pPr>
              <a:buNone/>
              <a:defRPr sz="2400">
                <a:solidFill>
                  <a:srgbClr val="172B3A"/>
                </a:solidFill>
              </a:defRPr>
            </a:lvl1pPr>
            <a:lvl2pPr>
              <a:buNone/>
              <a:defRPr sz="2400">
                <a:solidFill>
                  <a:srgbClr val="172B3A"/>
                </a:solidFill>
              </a:defRPr>
            </a:lvl2pPr>
            <a:lvl3pPr>
              <a:buNone/>
              <a:defRPr sz="2400">
                <a:solidFill>
                  <a:srgbClr val="172B3A"/>
                </a:solidFill>
              </a:defRPr>
            </a:lvl3pPr>
            <a:lvl4pPr>
              <a:buNone/>
              <a:defRPr sz="2400">
                <a:solidFill>
                  <a:srgbClr val="172B3A"/>
                </a:solidFill>
              </a:defRPr>
            </a:lvl4pPr>
            <a:lvl5pPr>
              <a:buNone/>
              <a:defRPr sz="2400">
                <a:solidFill>
                  <a:srgbClr val="172B3A"/>
                </a:solidFill>
              </a:defRPr>
            </a:lvl5pPr>
            <a:lvl6pPr>
              <a:buNone/>
              <a:defRPr sz="2400">
                <a:solidFill>
                  <a:srgbClr val="172B3A"/>
                </a:solidFill>
              </a:defRPr>
            </a:lvl6pPr>
            <a:lvl7pPr>
              <a:buNone/>
              <a:defRPr sz="2400">
                <a:solidFill>
                  <a:srgbClr val="172B3A"/>
                </a:solidFill>
              </a:defRPr>
            </a:lvl7pPr>
            <a:lvl8pPr>
              <a:buNone/>
              <a:defRPr sz="2400">
                <a:solidFill>
                  <a:srgbClr val="172B3A"/>
                </a:solidFill>
              </a:defRPr>
            </a:lvl8pPr>
            <a:lvl9pPr>
              <a:buNone/>
              <a:defRPr sz="2400">
                <a:solidFill>
                  <a:srgbClr val="172B3A"/>
                </a:solidFill>
              </a:defRPr>
            </a:lvl9pPr>
          </a:lstStyle>
          <a:p xmlns:a="http://schemas.openxmlformats.org/drawingml/2006/main">
            <a:pPr>
              <a:buNone/>
              <a:defRPr sz="2400">
                <a:solidFill>
                  <a:srgbClr val="172B3A"/>
                </a:solidFill>
              </a:defRPr>
            </a:pPr>
            <a:r>
              <a:rPr sz="2400">
                <a:solidFill>
                  <a:srgbClr val="172B3A"/>
                </a:solidFill>
              </a:rPr>
              <a:t>题目三  无人设备电池健康评估与剩余寿命预测</a:t>
            </a:r>
          </a:p>
        </p:txBody>
      </p:sp>
      <p:sp>
        <p:nvSpPr>
          <p:cNvPr id="5" name="">
            <a:extLst xmlns:a="http://schemas.openxmlformats.org/drawingml/2006/main">
              <a:ext uri="{FF2B5EF4-FFF2-40B4-BE49-F238E27FC236}">
                <a16:creationId xmlns:a16="http://schemas.microsoft.com/office/drawing/2014/main" id="{ED722D15-C2D0-462A-9F68-FA691994B302}"/>
              </a:ext>
            </a:extLst>
          </p:cNvPr>
          <p:cNvSpPr>
            <a:spLocks xmlns:a="http://schemas.openxmlformats.org/drawingml/2006/main" noGrp="1"/>
          </p:cNvSpPr>
          <p:nvPr/>
        </p:nvSpPr>
        <p:spPr>
          <a:xfrm xmlns:a="http://schemas.openxmlformats.org/drawingml/2006/main">
            <a:off x="619125" y="2714625"/>
            <a:ext cx="107632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a:solidFill>
                  <a:srgbClr val="172B3A"/>
                </a:solidFill>
              </a:defRPr>
            </a:defPPr>
            <a:lvl1pPr>
              <a:buNone/>
              <a:defRPr sz="2325">
                <a:solidFill>
                  <a:srgbClr val="172B3A"/>
                </a:solidFill>
              </a:defRPr>
            </a:lvl1pPr>
            <a:lvl2pPr>
              <a:buNone/>
              <a:defRPr sz="2325">
                <a:solidFill>
                  <a:srgbClr val="172B3A"/>
                </a:solidFill>
              </a:defRPr>
            </a:lvl2pPr>
            <a:lvl3pPr>
              <a:buNone/>
              <a:defRPr sz="2325">
                <a:solidFill>
                  <a:srgbClr val="172B3A"/>
                </a:solidFill>
              </a:defRPr>
            </a:lvl3pPr>
            <a:lvl4pPr>
              <a:buNone/>
              <a:defRPr sz="2325">
                <a:solidFill>
                  <a:srgbClr val="172B3A"/>
                </a:solidFill>
              </a:defRPr>
            </a:lvl4pPr>
            <a:lvl5pPr>
              <a:buNone/>
              <a:defRPr sz="2325">
                <a:solidFill>
                  <a:srgbClr val="172B3A"/>
                </a:solidFill>
              </a:defRPr>
            </a:lvl5pPr>
            <a:lvl6pPr>
              <a:buNone/>
              <a:defRPr sz="2325">
                <a:solidFill>
                  <a:srgbClr val="172B3A"/>
                </a:solidFill>
              </a:defRPr>
            </a:lvl6pPr>
            <a:lvl7pPr>
              <a:buNone/>
              <a:defRPr sz="2325">
                <a:solidFill>
                  <a:srgbClr val="172B3A"/>
                </a:solidFill>
              </a:defRPr>
            </a:lvl7pPr>
            <a:lvl8pPr>
              <a:buNone/>
              <a:defRPr sz="2325">
                <a:solidFill>
                  <a:srgbClr val="172B3A"/>
                </a:solidFill>
              </a:defRPr>
            </a:lvl8pPr>
            <a:lvl9pPr>
              <a:buNone/>
              <a:defRPr sz="2325">
                <a:solidFill>
                  <a:srgbClr val="172B3A"/>
                </a:solidFill>
              </a:defRPr>
            </a:lvl9pPr>
          </a:lstStyle>
          <a:p xmlns:a="http://schemas.openxmlformats.org/drawingml/2006/main">
            <a:pPr>
              <a:buNone/>
              <a:defRPr sz="2325">
                <a:solidFill>
                  <a:srgbClr val="172B3A"/>
                </a:solidFill>
              </a:defRPr>
            </a:pPr>
            <a:r>
              <a:rPr sz="2325">
                <a:solidFill>
                  <a:srgbClr val="172B3A"/>
                </a:solidFill>
              </a:rPr>
              <a:t>01  数据读取与清洗</a:t>
            </a:r>
          </a:p>
          <a:p xmlns:a="http://schemas.openxmlformats.org/drawingml/2006/main">
            <a:r>
              <a:t/>
            </a:r>
          </a:p>
          <a:p xmlns:a="http://schemas.openxmlformats.org/drawingml/2006/main">
            <a:pPr>
              <a:buNone/>
              <a:defRPr sz="2325">
                <a:solidFill>
                  <a:srgbClr val="172B3A"/>
                </a:solidFill>
              </a:defRPr>
            </a:pPr>
            <a:r>
              <a:rPr sz="2325">
                <a:solidFill>
                  <a:srgbClr val="172B3A"/>
                </a:solidFill>
              </a:rPr>
              <a:t>02  退化曲线与个体差异</a:t>
            </a:r>
          </a:p>
          <a:p xmlns:a="http://schemas.openxmlformats.org/drawingml/2006/main">
            <a:r>
              <a:t/>
            </a:r>
          </a:p>
          <a:p xmlns:a="http://schemas.openxmlformats.org/drawingml/2006/main">
            <a:pPr>
              <a:buNone/>
              <a:defRPr sz="2325">
                <a:solidFill>
                  <a:srgbClr val="172B3A"/>
                </a:solidFill>
              </a:defRPr>
            </a:pPr>
            <a:r>
              <a:rPr sz="2325">
                <a:solidFill>
                  <a:srgbClr val="172B3A"/>
                </a:solidFill>
              </a:rPr>
              <a:t>03  普通线性回归</a:t>
            </a:r>
          </a:p>
          <a:p xmlns:a="http://schemas.openxmlformats.org/drawingml/2006/main">
            <a:pPr>
              <a:buNone/>
              <a:defRPr sz="2325">
                <a:solidFill>
                  <a:srgbClr val="172B3A"/>
                </a:solidFill>
              </a:defRPr>
            </a:pPr>
            <a:r>
              <a:rPr sz="2325">
                <a:solidFill>
                  <a:srgbClr val="172B3A"/>
                </a:solidFill>
              </a:rPr>
              <a:t/>
            </a:r>
          </a:p>
          <a:p xmlns:a="http://schemas.openxmlformats.org/drawingml/2006/main">
            <a:pPr>
              <a:buNone/>
              <a:defRPr sz="2325">
                <a:solidFill>
                  <a:srgbClr val="172B3A"/>
                </a:solidFill>
              </a:defRPr>
            </a:pPr>
            <a:r>
              <a:rPr sz="2325">
                <a:solidFill>
                  <a:srgbClr val="172B3A"/>
                </a:solidFill>
              </a:rPr>
              <a:t>04  随机森林回归</a:t>
            </a:r>
          </a:p>
          <a:p xmlns:a="http://schemas.openxmlformats.org/drawingml/2006/main">
            <a:pPr>
              <a:buNone/>
              <a:defRPr sz="2325">
                <a:solidFill>
                  <a:srgbClr val="172B3A"/>
                </a:solidFill>
              </a:defRPr>
            </a:pPr>
            <a:r>
              <a:rPr sz="2325">
                <a:solidFill>
                  <a:srgbClr val="172B3A"/>
                </a:solidFill>
              </a:rPr>
              <a:t/>
            </a:r>
          </a:p>
          <a:p xmlns:a="http://schemas.openxmlformats.org/drawingml/2006/main">
            <a:pPr>
              <a:buNone/>
              <a:defRPr sz="2325">
                <a:solidFill>
                  <a:srgbClr val="172B3A"/>
                </a:solidFill>
              </a:defRPr>
            </a:pPr>
            <a:r>
              <a:rPr sz="2325">
                <a:solidFill>
                  <a:srgbClr val="172B3A"/>
                </a:solidFill>
              </a:rPr>
              <a:t>05  预测误差与风险讨论</a:t>
            </a:r>
          </a:p>
        </p:txBody>
      </p:sp>
    </p:spTree>
    <p:extLst>
      <p:ext uri="{BB962C8B-B14F-4D97-AF65-F5344CB8AC3E}">
        <p14:creationId xmlns:p14="http://schemas.microsoft.com/office/powerpoint/2010/main" val="6676479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7B73E2-7B0D-4BF4-9F9C-C06E3AAE711D}"/>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01 / 数据读取：一行代表一次放电循环</a:t>
            </a:r>
          </a:p>
        </p:txBody>
      </p:sp>
      <p:sp>
        <p:nvSpPr>
          <p:cNvPr id="2" name="">
            <a:extLst xmlns:a="http://schemas.openxmlformats.org/drawingml/2006/main">
              <a:ext uri="{FF2B5EF4-FFF2-40B4-BE49-F238E27FC236}">
                <a16:creationId xmlns:a16="http://schemas.microsoft.com/office/drawing/2014/main" id="{265EC738-6165-4CFD-88B4-A7E24EAE2CD0}"/>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2DE66CE3-8DA2-4827-91A7-536D6C862C04}"/>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2</a:t>
            </a:r>
          </a:p>
        </p:txBody>
      </p:sp>
      <p:sp>
        <p:nvSpPr>
          <p:cNvPr id="4" name="">
            <a:extLst xmlns:a="http://schemas.openxmlformats.org/drawingml/2006/main">
              <a:ext uri="{FF2B5EF4-FFF2-40B4-BE49-F238E27FC236}">
                <a16:creationId xmlns:a16="http://schemas.microsoft.com/office/drawing/2014/main" id="{CA030C02-5C43-417A-BB65-AD29A33D4BBF}"/>
              </a:ext>
            </a:extLst>
          </p:cNvPr>
          <p:cNvSpPr>
            <a:spLocks xmlns:a="http://schemas.openxmlformats.org/drawingml/2006/main" noGrp="1"/>
          </p:cNvSpPr>
          <p:nvPr/>
        </p:nvSpPr>
        <p:spPr>
          <a:xfrm xmlns:a="http://schemas.openxmlformats.org/drawingml/2006/main">
            <a:off x="619125" y="1524000"/>
            <a:ext cx="10763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a:solidFill>
                  <a:srgbClr val="176B87"/>
                </a:solidFill>
              </a:defRPr>
            </a:defPPr>
            <a:lvl1pPr>
              <a:buNone/>
              <a:defRPr sz="2325">
                <a:solidFill>
                  <a:srgbClr val="176B87"/>
                </a:solidFill>
              </a:defRPr>
            </a:lvl1pPr>
            <a:lvl2pPr>
              <a:buNone/>
              <a:defRPr sz="2325">
                <a:solidFill>
                  <a:srgbClr val="176B87"/>
                </a:solidFill>
              </a:defRPr>
            </a:lvl2pPr>
            <a:lvl3pPr>
              <a:buNone/>
              <a:defRPr sz="2325">
                <a:solidFill>
                  <a:srgbClr val="176B87"/>
                </a:solidFill>
              </a:defRPr>
            </a:lvl3pPr>
            <a:lvl4pPr>
              <a:buNone/>
              <a:defRPr sz="2325">
                <a:solidFill>
                  <a:srgbClr val="176B87"/>
                </a:solidFill>
              </a:defRPr>
            </a:lvl4pPr>
            <a:lvl5pPr>
              <a:buNone/>
              <a:defRPr sz="2325">
                <a:solidFill>
                  <a:srgbClr val="176B87"/>
                </a:solidFill>
              </a:defRPr>
            </a:lvl5pPr>
            <a:lvl6pPr>
              <a:buNone/>
              <a:defRPr sz="2325">
                <a:solidFill>
                  <a:srgbClr val="176B87"/>
                </a:solidFill>
              </a:defRPr>
            </a:lvl6pPr>
            <a:lvl7pPr>
              <a:buNone/>
              <a:defRPr sz="2325">
                <a:solidFill>
                  <a:srgbClr val="176B87"/>
                </a:solidFill>
              </a:defRPr>
            </a:lvl7pPr>
            <a:lvl8pPr>
              <a:buNone/>
              <a:defRPr sz="2325">
                <a:solidFill>
                  <a:srgbClr val="176B87"/>
                </a:solidFill>
              </a:defRPr>
            </a:lvl8pPr>
            <a:lvl9pPr>
              <a:buNone/>
              <a:defRPr sz="2325">
                <a:solidFill>
                  <a:srgbClr val="176B87"/>
                </a:solidFill>
              </a:defRPr>
            </a:lvl9pPr>
          </a:lstStyle>
          <a:p xmlns:a="http://schemas.openxmlformats.org/drawingml/2006/main">
            <a:pPr>
              <a:buNone/>
              <a:defRPr sz="2325">
                <a:solidFill>
                  <a:srgbClr val="176B87"/>
                </a:solidFill>
              </a:defRPr>
            </a:pPr>
            <a:r>
              <a:rPr sz="2325">
                <a:solidFill>
                  <a:srgbClr val="176B87"/>
                </a:solidFill>
              </a:rPr>
              <a:t>pd.read_csv(..., encoding="utf-8-sig")</a:t>
            </a:r>
          </a:p>
          <a:p xmlns:a="http://schemas.openxmlformats.org/drawingml/2006/main">
            <a:pPr>
              <a:buNone/>
              <a:defRPr sz="2325">
                <a:solidFill>
                  <a:srgbClr val="176B87"/>
                </a:solidFill>
              </a:defRPr>
            </a:pPr>
            <a:r>
              <a:rPr sz="2325">
                <a:solidFill>
                  <a:srgbClr val="176B87"/>
                </a:solidFill>
              </a:rPr>
              <a:t>df.head()    df.shape    df.dtypes</a:t>
            </a:r>
          </a:p>
        </p:txBody>
      </p:sp>
      <p:sp>
        <p:nvSpPr>
          <p:cNvPr id="5" name="">
            <a:extLst xmlns:a="http://schemas.openxmlformats.org/drawingml/2006/main">
              <a:ext uri="{FF2B5EF4-FFF2-40B4-BE49-F238E27FC236}">
                <a16:creationId xmlns:a16="http://schemas.microsoft.com/office/drawing/2014/main" id="{A9891B83-6E34-4E17-A833-07B4C143F8D2}"/>
              </a:ext>
            </a:extLst>
          </p:cNvPr>
          <p:cNvSpPr>
            <a:spLocks xmlns:a="http://schemas.openxmlformats.org/drawingml/2006/main" noGrp="1"/>
          </p:cNvSpPr>
          <p:nvPr/>
        </p:nvSpPr>
        <p:spPr>
          <a:xfrm xmlns:a="http://schemas.openxmlformats.org/drawingml/2006/main">
            <a:off x="619125" y="3000375"/>
            <a:ext cx="10858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2B3A"/>
                </a:solidFill>
              </a:defRPr>
            </a:defPPr>
            <a:lvl1pPr>
              <a:buNone/>
              <a:defRPr sz="2100">
                <a:solidFill>
                  <a:srgbClr val="172B3A"/>
                </a:solidFill>
              </a:defRPr>
            </a:lvl1pPr>
            <a:lvl2pPr>
              <a:buNone/>
              <a:defRPr sz="2100">
                <a:solidFill>
                  <a:srgbClr val="172B3A"/>
                </a:solidFill>
              </a:defRPr>
            </a:lvl2pPr>
            <a:lvl3pPr>
              <a:buNone/>
              <a:defRPr sz="2100">
                <a:solidFill>
                  <a:srgbClr val="172B3A"/>
                </a:solidFill>
              </a:defRPr>
            </a:lvl3pPr>
            <a:lvl4pPr>
              <a:buNone/>
              <a:defRPr sz="2100">
                <a:solidFill>
                  <a:srgbClr val="172B3A"/>
                </a:solidFill>
              </a:defRPr>
            </a:lvl4pPr>
            <a:lvl5pPr>
              <a:buNone/>
              <a:defRPr sz="2100">
                <a:solidFill>
                  <a:srgbClr val="172B3A"/>
                </a:solidFill>
              </a:defRPr>
            </a:lvl5pPr>
            <a:lvl6pPr>
              <a:buNone/>
              <a:defRPr sz="2100">
                <a:solidFill>
                  <a:srgbClr val="172B3A"/>
                </a:solidFill>
              </a:defRPr>
            </a:lvl6pPr>
            <a:lvl7pPr>
              <a:buNone/>
              <a:defRPr sz="2100">
                <a:solidFill>
                  <a:srgbClr val="172B3A"/>
                </a:solidFill>
              </a:defRPr>
            </a:lvl7pPr>
            <a:lvl8pPr>
              <a:buNone/>
              <a:defRPr sz="2100">
                <a:solidFill>
                  <a:srgbClr val="172B3A"/>
                </a:solidFill>
              </a:defRPr>
            </a:lvl8pPr>
            <a:lvl9pPr>
              <a:buNone/>
              <a:defRPr sz="2100">
                <a:solidFill>
                  <a:srgbClr val="172B3A"/>
                </a:solidFill>
              </a:defRPr>
            </a:lvl9pPr>
          </a:lstStyle>
          <a:p xmlns:a="http://schemas.openxmlformats.org/drawingml/2006/main">
            <a:pPr>
              <a:buNone/>
              <a:defRPr sz="2100">
                <a:solidFill>
                  <a:srgbClr val="172B3A"/>
                </a:solidFill>
              </a:defRPr>
            </a:pPr>
            <a:r>
              <a:rPr sz="2100">
                <a:solidFill>
                  <a:srgbClr val="172B3A"/>
                </a:solidFill>
              </a:rPr>
              <a:t>636行 × 4列；4块电池；环境温度均为24℃</a:t>
            </a:r>
          </a:p>
          <a:p xmlns:a="http://schemas.openxmlformats.org/drawingml/2006/main">
            <a:r>
              <a:t/>
            </a:r>
          </a:p>
          <a:p xmlns:a="http://schemas.openxmlformats.org/drawingml/2006/main">
            <a:pPr>
              <a:buNone/>
              <a:defRPr sz="2100">
                <a:solidFill>
                  <a:srgbClr val="172B3A"/>
                </a:solidFill>
              </a:defRPr>
            </a:pPr>
            <a:r>
              <a:rPr sz="2100">
                <a:solidFill>
                  <a:srgbClr val="172B3A"/>
                </a:solidFill>
              </a:rPr>
              <a:t>battery_id：电池编号      cycle：放电循环次数</a:t>
            </a:r>
          </a:p>
          <a:p xmlns:a="http://schemas.openxmlformats.org/drawingml/2006/main">
            <a:pPr>
              <a:buNone/>
              <a:defRPr sz="2100">
                <a:solidFill>
                  <a:srgbClr val="172B3A"/>
                </a:solidFill>
              </a:defRPr>
            </a:pPr>
            <a:r>
              <a:rPr sz="2100">
                <a:solidFill>
                  <a:srgbClr val="172B3A"/>
                </a:solidFill>
              </a:rPr>
              <a:t>capacity_Ah：放电容量   ambient_temp_C：环境温度</a:t>
            </a:r>
          </a:p>
          <a:p xmlns:a="http://schemas.openxmlformats.org/drawingml/2006/main">
            <a:r>
              <a:t/>
            </a:r>
          </a:p>
          <a:p xmlns:a="http://schemas.openxmlformats.org/drawingml/2006/main">
            <a:pPr>
              <a:buNone/>
              <a:defRPr sz="2100">
                <a:solidFill>
                  <a:srgbClr val="172B3A"/>
                </a:solidFill>
              </a:defRPr>
            </a:pPr>
            <a:r>
              <a:rPr sz="2100">
                <a:solidFill>
                  <a:srgbClr val="172B3A"/>
                </a:solidFill>
              </a:rPr>
              <a:t>B0005 / B0006 / B0007 各168次；B0018 为132次</a:t>
            </a:r>
          </a:p>
        </p:txBody>
      </p:sp>
    </p:spTree>
    <p:extLst>
      <p:ext uri="{BB962C8B-B14F-4D97-AF65-F5344CB8AC3E}">
        <p14:creationId xmlns:p14="http://schemas.microsoft.com/office/powerpoint/2010/main" val="13847793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D85684-93A2-4EF2-BA4F-4B0DB26081A8}"/>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01 / 清洗：先验证，再决定是否处理</a:t>
            </a:r>
          </a:p>
        </p:txBody>
      </p:sp>
      <p:sp>
        <p:nvSpPr>
          <p:cNvPr id="2" name="">
            <a:extLst xmlns:a="http://schemas.openxmlformats.org/drawingml/2006/main">
              <a:ext uri="{FF2B5EF4-FFF2-40B4-BE49-F238E27FC236}">
                <a16:creationId xmlns:a16="http://schemas.microsoft.com/office/drawing/2014/main" id="{F948EA32-9CC4-4201-BB49-06DFAA52C741}"/>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E83FEF7E-F7A7-42BD-8058-66A7223E225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3</a:t>
            </a:r>
          </a:p>
        </p:txBody>
      </p:sp>
      <p:sp>
        <p:nvSpPr>
          <p:cNvPr id="4" name="">
            <a:extLst xmlns:a="http://schemas.openxmlformats.org/drawingml/2006/main">
              <a:ext uri="{FF2B5EF4-FFF2-40B4-BE49-F238E27FC236}">
                <a16:creationId xmlns:a16="http://schemas.microsoft.com/office/drawing/2014/main" id="{E7B2EE13-DB5A-4035-8EF5-905C72CA4377}"/>
              </a:ext>
            </a:extLst>
          </p:cNvPr>
          <p:cNvSpPr>
            <a:spLocks xmlns:a="http://schemas.openxmlformats.org/drawingml/2006/main" noGrp="1"/>
          </p:cNvSpPr>
          <p:nvPr/>
        </p:nvSpPr>
        <p:spPr>
          <a:xfrm xmlns:a="http://schemas.openxmlformats.org/drawingml/2006/main">
            <a:off x="619125" y="1571625"/>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a:solidFill>
                  <a:srgbClr val="176B87"/>
                </a:solidFill>
              </a:defRPr>
            </a:defPPr>
            <a:lvl1pPr>
              <a:buNone/>
              <a:defRPr sz="2400">
                <a:solidFill>
                  <a:srgbClr val="176B87"/>
                </a:solidFill>
              </a:defRPr>
            </a:lvl1pPr>
            <a:lvl2pPr>
              <a:buNone/>
              <a:defRPr sz="2400">
                <a:solidFill>
                  <a:srgbClr val="176B87"/>
                </a:solidFill>
              </a:defRPr>
            </a:lvl2pPr>
            <a:lvl3pPr>
              <a:buNone/>
              <a:defRPr sz="2400">
                <a:solidFill>
                  <a:srgbClr val="176B87"/>
                </a:solidFill>
              </a:defRPr>
            </a:lvl3pPr>
            <a:lvl4pPr>
              <a:buNone/>
              <a:defRPr sz="2400">
                <a:solidFill>
                  <a:srgbClr val="176B87"/>
                </a:solidFill>
              </a:defRPr>
            </a:lvl4pPr>
            <a:lvl5pPr>
              <a:buNone/>
              <a:defRPr sz="2400">
                <a:solidFill>
                  <a:srgbClr val="176B87"/>
                </a:solidFill>
              </a:defRPr>
            </a:lvl5pPr>
            <a:lvl6pPr>
              <a:buNone/>
              <a:defRPr sz="2400">
                <a:solidFill>
                  <a:srgbClr val="176B87"/>
                </a:solidFill>
              </a:defRPr>
            </a:lvl6pPr>
            <a:lvl7pPr>
              <a:buNone/>
              <a:defRPr sz="2400">
                <a:solidFill>
                  <a:srgbClr val="176B87"/>
                </a:solidFill>
              </a:defRPr>
            </a:lvl7pPr>
            <a:lvl8pPr>
              <a:buNone/>
              <a:defRPr sz="2400">
                <a:solidFill>
                  <a:srgbClr val="176B87"/>
                </a:solidFill>
              </a:defRPr>
            </a:lvl8pPr>
            <a:lvl9pPr>
              <a:buNone/>
              <a:defRPr sz="2400">
                <a:solidFill>
                  <a:srgbClr val="176B87"/>
                </a:solidFill>
              </a:defRPr>
            </a:lvl9pPr>
          </a:lstStyle>
          <a:p xmlns:a="http://schemas.openxmlformats.org/drawingml/2006/main">
            <a:pPr>
              <a:buNone/>
              <a:defRPr sz="2400">
                <a:solidFill>
                  <a:srgbClr val="176B87"/>
                </a:solidFill>
              </a:defRPr>
            </a:pPr>
            <a:r>
              <a:rPr sz="2400">
                <a:solidFill>
                  <a:srgbClr val="176B87"/>
                </a:solidFill>
              </a:rPr>
              <a:t>字段规范 → 数值转换 → 缺失与重复检查</a:t>
            </a:r>
          </a:p>
          <a:p xmlns:a="http://schemas.openxmlformats.org/drawingml/2006/main">
            <a:r>
              <a:t/>
            </a:r>
          </a:p>
          <a:p xmlns:a="http://schemas.openxmlformats.org/drawingml/2006/main">
            <a:pPr>
              <a:buNone/>
              <a:defRPr sz="2400">
                <a:solidFill>
                  <a:srgbClr val="176B87"/>
                </a:solidFill>
              </a:defRPr>
            </a:pPr>
            <a:r>
              <a:rPr sz="2400">
                <a:solidFill>
                  <a:srgbClr val="176B87"/>
                </a:solidFill>
              </a:rPr>
              <a:t>有效数值与正容量 → 循环连续性 → 分组排序</a:t>
            </a:r>
          </a:p>
        </p:txBody>
      </p:sp>
      <p:sp>
        <p:nvSpPr>
          <p:cNvPr id="5" name="">
            <a:extLst xmlns:a="http://schemas.openxmlformats.org/drawingml/2006/main">
              <a:ext uri="{FF2B5EF4-FFF2-40B4-BE49-F238E27FC236}">
                <a16:creationId xmlns:a16="http://schemas.microsoft.com/office/drawing/2014/main" id="{EED4B149-86B4-4A76-9021-118AFF8C0784}"/>
              </a:ext>
            </a:extLst>
          </p:cNvPr>
          <p:cNvSpPr>
            <a:spLocks xmlns:a="http://schemas.openxmlformats.org/drawingml/2006/main" noGrp="1"/>
          </p:cNvSpPr>
          <p:nvPr/>
        </p:nvSpPr>
        <p:spPr>
          <a:xfrm xmlns:a="http://schemas.openxmlformats.org/drawingml/2006/main">
            <a:off x="619125" y="347662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a:solidFill>
                  <a:srgbClr val="172B3A"/>
                </a:solidFill>
              </a:defRPr>
            </a:defPPr>
            <a:lvl1pPr>
              <a:buNone/>
              <a:defRPr sz="2025">
                <a:solidFill>
                  <a:srgbClr val="172B3A"/>
                </a:solidFill>
              </a:defRPr>
            </a:lvl1pPr>
            <a:lvl2pPr>
              <a:buNone/>
              <a:defRPr sz="2025">
                <a:solidFill>
                  <a:srgbClr val="172B3A"/>
                </a:solidFill>
              </a:defRPr>
            </a:lvl2pPr>
            <a:lvl3pPr>
              <a:buNone/>
              <a:defRPr sz="2025">
                <a:solidFill>
                  <a:srgbClr val="172B3A"/>
                </a:solidFill>
              </a:defRPr>
            </a:lvl3pPr>
            <a:lvl4pPr>
              <a:buNone/>
              <a:defRPr sz="2025">
                <a:solidFill>
                  <a:srgbClr val="172B3A"/>
                </a:solidFill>
              </a:defRPr>
            </a:lvl4pPr>
            <a:lvl5pPr>
              <a:buNone/>
              <a:defRPr sz="2025">
                <a:solidFill>
                  <a:srgbClr val="172B3A"/>
                </a:solidFill>
              </a:defRPr>
            </a:lvl5pPr>
            <a:lvl6pPr>
              <a:buNone/>
              <a:defRPr sz="2025">
                <a:solidFill>
                  <a:srgbClr val="172B3A"/>
                </a:solidFill>
              </a:defRPr>
            </a:lvl6pPr>
            <a:lvl7pPr>
              <a:buNone/>
              <a:defRPr sz="2025">
                <a:solidFill>
                  <a:srgbClr val="172B3A"/>
                </a:solidFill>
              </a:defRPr>
            </a:lvl7pPr>
            <a:lvl8pPr>
              <a:buNone/>
              <a:defRPr sz="2025">
                <a:solidFill>
                  <a:srgbClr val="172B3A"/>
                </a:solidFill>
              </a:defRPr>
            </a:lvl8pPr>
            <a:lvl9pPr>
              <a:buNone/>
              <a:defRPr sz="2025">
                <a:solidFill>
                  <a:srgbClr val="172B3A"/>
                </a:solidFill>
              </a:defRPr>
            </a:lvl9pPr>
          </a:lstStyle>
          <a:p xmlns:a="http://schemas.openxmlformats.org/drawingml/2006/main">
            <a:pPr>
              <a:buNone/>
              <a:defRPr sz="2025">
                <a:solidFill>
                  <a:srgbClr val="172B3A"/>
                </a:solidFill>
              </a:defRPr>
            </a:pPr>
            <a:r>
              <a:rPr sz="2025">
                <a:solidFill>
                  <a:srgbClr val="172B3A"/>
                </a:solidFill>
              </a:rPr>
              <a:t>实测检查：缺失0；重复0；主键冲突0；循环缺口0</a:t>
            </a:r>
          </a:p>
          <a:p xmlns:a="http://schemas.openxmlformats.org/drawingml/2006/main">
            <a:r>
              <a:t/>
            </a:r>
          </a:p>
          <a:p xmlns:a="http://schemas.openxmlformats.org/drawingml/2006/main">
            <a:pPr>
              <a:buNone/>
              <a:defRPr sz="2025">
                <a:solidFill>
                  <a:srgbClr val="172B3A"/>
                </a:solidFill>
              </a:defRPr>
            </a:pPr>
            <a:r>
              <a:rPr sz="2025">
                <a:solidFill>
                  <a:srgbClr val="172B3A"/>
                </a:solidFill>
              </a:rPr>
              <a:t>清洗前636行 → 清洗后636行；容量范围1.1538–2.0353 Ah</a:t>
            </a:r>
          </a:p>
          <a:p xmlns:a="http://schemas.openxmlformats.org/drawingml/2006/main">
            <a:r>
              <a:t/>
            </a:r>
          </a:p>
          <a:p xmlns:a="http://schemas.openxmlformats.org/drawingml/2006/main">
            <a:pPr>
              <a:buNone/>
              <a:defRPr sz="2025">
                <a:solidFill>
                  <a:srgbClr val="172B3A"/>
                </a:solidFill>
              </a:defRPr>
            </a:pPr>
            <a:r>
              <a:rPr sz="2025">
                <a:solidFill>
                  <a:srgbClr val="172B3A"/>
                </a:solidFill>
              </a:rPr>
              <a:t>输出 battery_clean.csv 与 battery_summary.csv</a:t>
            </a:r>
          </a:p>
          <a:p xmlns:a="http://schemas.openxmlformats.org/drawingml/2006/main">
            <a:pPr>
              <a:buNone/>
              <a:defRPr sz="2025">
                <a:solidFill>
                  <a:srgbClr val="172B3A"/>
                </a:solidFill>
              </a:defRPr>
            </a:pPr>
            <a:r>
              <a:rPr sz="2025">
                <a:solidFill>
                  <a:srgbClr val="172B3A"/>
                </a:solidFill>
              </a:rPr>
              <a:t>保留原始CSV；不插值、不平滑、不删除局部回升</a:t>
            </a:r>
          </a:p>
        </p:txBody>
      </p:sp>
    </p:spTree>
    <p:extLst>
      <p:ext uri="{BB962C8B-B14F-4D97-AF65-F5344CB8AC3E}">
        <p14:creationId xmlns:p14="http://schemas.microsoft.com/office/powerpoint/2010/main" val="19464332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AD2720-784F-429F-B750-23B208156775}"/>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02 / 画图前：明确两种比较口径</a:t>
            </a:r>
          </a:p>
        </p:txBody>
      </p:sp>
      <p:sp>
        <p:nvSpPr>
          <p:cNvPr id="2" name="">
            <a:extLst xmlns:a="http://schemas.openxmlformats.org/drawingml/2006/main">
              <a:ext uri="{FF2B5EF4-FFF2-40B4-BE49-F238E27FC236}">
                <a16:creationId xmlns:a16="http://schemas.microsoft.com/office/drawing/2014/main" id="{2C5B3A19-4C64-42A1-8DA8-6CA8740BE0E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3F6288B0-654C-48E0-BF35-03DAA8AD7649}"/>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4</a:t>
            </a:r>
          </a:p>
        </p:txBody>
      </p:sp>
      <p:sp>
        <p:nvSpPr>
          <p:cNvPr id="4" name="">
            <a:extLst xmlns:a="http://schemas.openxmlformats.org/drawingml/2006/main">
              <a:ext uri="{FF2B5EF4-FFF2-40B4-BE49-F238E27FC236}">
                <a16:creationId xmlns:a16="http://schemas.microsoft.com/office/drawing/2014/main" id="{6255395E-2D6B-46D7-912A-1E644D04DAE4}"/>
              </a:ext>
            </a:extLst>
          </p:cNvPr>
          <p:cNvSpPr>
            <a:spLocks xmlns:a="http://schemas.openxmlformats.org/drawingml/2006/main" noGrp="1"/>
          </p:cNvSpPr>
          <p:nvPr/>
        </p:nvSpPr>
        <p:spPr>
          <a:xfrm xmlns:a="http://schemas.openxmlformats.org/drawingml/2006/main">
            <a:off x="619125" y="1619250"/>
            <a:ext cx="10858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完整容量曲线：横轴循环次数，纵轴容量Ah</a:t>
            </a:r>
          </a:p>
          <a:p xmlns:a="http://schemas.openxmlformats.org/drawingml/2006/main">
            <a:pPr>
              <a:buNone/>
              <a:defRPr sz="2175">
                <a:solidFill>
                  <a:srgbClr val="172B3A"/>
                </a:solidFill>
              </a:defRPr>
            </a:pPr>
            <a:r>
              <a:rPr sz="2175">
                <a:solidFill>
                  <a:srgbClr val="172B3A"/>
                </a:solidFill>
              </a:rPr>
              <a:t>逐块电池 groupby 后 plt.plot，B0018在132次处结束</a:t>
            </a:r>
          </a:p>
        </p:txBody>
      </p:sp>
      <p:sp>
        <p:nvSpPr>
          <p:cNvPr id="5" name="">
            <a:extLst xmlns:a="http://schemas.openxmlformats.org/drawingml/2006/main">
              <a:ext uri="{FF2B5EF4-FFF2-40B4-BE49-F238E27FC236}">
                <a16:creationId xmlns:a16="http://schemas.microsoft.com/office/drawing/2014/main" id="{B0CB2F44-3B1C-4257-8417-29B342904981}"/>
              </a:ext>
            </a:extLst>
          </p:cNvPr>
          <p:cNvSpPr>
            <a:spLocks xmlns:a="http://schemas.openxmlformats.org/drawingml/2006/main" noGrp="1"/>
          </p:cNvSpPr>
          <p:nvPr/>
        </p:nvSpPr>
        <p:spPr>
          <a:xfrm xmlns:a="http://schemas.openxmlformats.org/drawingml/2006/main">
            <a:off x="619125" y="3286125"/>
            <a:ext cx="10858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a:solidFill>
                  <a:srgbClr val="176B87"/>
                </a:solidFill>
              </a:defRPr>
            </a:defPPr>
            <a:lvl1pPr>
              <a:buNone/>
              <a:defRPr sz="2250">
                <a:solidFill>
                  <a:srgbClr val="176B87"/>
                </a:solidFill>
              </a:defRPr>
            </a:lvl1pPr>
            <a:lvl2pPr>
              <a:buNone/>
              <a:defRPr sz="2250">
                <a:solidFill>
                  <a:srgbClr val="176B87"/>
                </a:solidFill>
              </a:defRPr>
            </a:lvl2pPr>
            <a:lvl3pPr>
              <a:buNone/>
              <a:defRPr sz="2250">
                <a:solidFill>
                  <a:srgbClr val="176B87"/>
                </a:solidFill>
              </a:defRPr>
            </a:lvl3pPr>
            <a:lvl4pPr>
              <a:buNone/>
              <a:defRPr sz="2250">
                <a:solidFill>
                  <a:srgbClr val="176B87"/>
                </a:solidFill>
              </a:defRPr>
            </a:lvl4pPr>
            <a:lvl5pPr>
              <a:buNone/>
              <a:defRPr sz="2250">
                <a:solidFill>
                  <a:srgbClr val="176B87"/>
                </a:solidFill>
              </a:defRPr>
            </a:lvl5pPr>
            <a:lvl6pPr>
              <a:buNone/>
              <a:defRPr sz="2250">
                <a:solidFill>
                  <a:srgbClr val="176B87"/>
                </a:solidFill>
              </a:defRPr>
            </a:lvl6pPr>
            <a:lvl7pPr>
              <a:buNone/>
              <a:defRPr sz="2250">
                <a:solidFill>
                  <a:srgbClr val="176B87"/>
                </a:solidFill>
              </a:defRPr>
            </a:lvl7pPr>
            <a:lvl8pPr>
              <a:buNone/>
              <a:defRPr sz="2250">
                <a:solidFill>
                  <a:srgbClr val="176B87"/>
                </a:solidFill>
              </a:defRPr>
            </a:lvl8pPr>
            <a:lvl9pPr>
              <a:buNone/>
              <a:defRPr sz="2250">
                <a:solidFill>
                  <a:srgbClr val="176B87"/>
                </a:solidFill>
              </a:defRPr>
            </a:lvl9pPr>
          </a:lstStyle>
          <a:p xmlns:a="http://schemas.openxmlformats.org/drawingml/2006/main">
            <a:pPr>
              <a:buNone/>
              <a:defRPr sz="2250">
                <a:solidFill>
                  <a:srgbClr val="176B87"/>
                </a:solidFill>
              </a:defRPr>
            </a:pPr>
            <a:r>
              <a:rPr sz="2250">
                <a:solidFill>
                  <a:srgbClr val="176B87"/>
                </a:solidFill>
              </a:rPr>
              <a:t>共同窗口：第1—132次循环</a:t>
            </a:r>
          </a:p>
          <a:p xmlns:a="http://schemas.openxmlformats.org/drawingml/2006/main">
            <a:pPr>
              <a:buNone/>
              <a:defRPr sz="2250">
                <a:solidFill>
                  <a:srgbClr val="176B87"/>
                </a:solidFill>
              </a:defRPr>
            </a:pPr>
            <a:r>
              <a:rPr sz="2250">
                <a:solidFill>
                  <a:srgbClr val="176B87"/>
                </a:solidFill>
              </a:rPr>
              <a:t>相对容量 = 当前容量 ÷ 本电池首循环容量 × 100%</a:t>
            </a:r>
          </a:p>
          <a:p xmlns:a="http://schemas.openxmlformats.org/drawingml/2006/main">
            <a:pPr>
              <a:buNone/>
              <a:defRPr sz="2250">
                <a:solidFill>
                  <a:srgbClr val="176B87"/>
                </a:solidFill>
              </a:defRPr>
            </a:pPr>
            <a:r>
              <a:rPr sz="2250">
                <a:solidFill>
                  <a:srgbClr val="176B87"/>
                </a:solidFill>
              </a:rPr>
              <a:t>下降比例 = (1 − 第132次容量 ÷ 首循环容量) × 100%</a:t>
            </a:r>
          </a:p>
        </p:txBody>
      </p:sp>
      <p:sp>
        <p:nvSpPr>
          <p:cNvPr id="6" name="">
            <a:extLst xmlns:a="http://schemas.openxmlformats.org/drawingml/2006/main">
              <a:ext uri="{FF2B5EF4-FFF2-40B4-BE49-F238E27FC236}">
                <a16:creationId xmlns:a16="http://schemas.microsoft.com/office/drawing/2014/main" id="{61435906-FC58-4C8C-A346-39D872BFDC67}"/>
              </a:ext>
            </a:extLst>
          </p:cNvPr>
          <p:cNvSpPr>
            <a:spLocks xmlns:a="http://schemas.openxmlformats.org/drawingml/2006/main" noGrp="1"/>
          </p:cNvSpPr>
          <p:nvPr/>
        </p:nvSpPr>
        <p:spPr>
          <a:xfrm xmlns:a="http://schemas.openxmlformats.org/drawingml/2006/main">
            <a:off x="619125" y="55245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a:solidFill>
                  <a:srgbClr val="172B3A"/>
                </a:solidFill>
              </a:defRPr>
            </a:defPPr>
            <a:lvl1pPr>
              <a:buNone/>
              <a:defRPr sz="2025">
                <a:solidFill>
                  <a:srgbClr val="172B3A"/>
                </a:solidFill>
              </a:defRPr>
            </a:lvl1pPr>
            <a:lvl2pPr>
              <a:buNone/>
              <a:defRPr sz="2025">
                <a:solidFill>
                  <a:srgbClr val="172B3A"/>
                </a:solidFill>
              </a:defRPr>
            </a:lvl2pPr>
            <a:lvl3pPr>
              <a:buNone/>
              <a:defRPr sz="2025">
                <a:solidFill>
                  <a:srgbClr val="172B3A"/>
                </a:solidFill>
              </a:defRPr>
            </a:lvl3pPr>
            <a:lvl4pPr>
              <a:buNone/>
              <a:defRPr sz="2025">
                <a:solidFill>
                  <a:srgbClr val="172B3A"/>
                </a:solidFill>
              </a:defRPr>
            </a:lvl4pPr>
            <a:lvl5pPr>
              <a:buNone/>
              <a:defRPr sz="2025">
                <a:solidFill>
                  <a:srgbClr val="172B3A"/>
                </a:solidFill>
              </a:defRPr>
            </a:lvl5pPr>
            <a:lvl6pPr>
              <a:buNone/>
              <a:defRPr sz="2025">
                <a:solidFill>
                  <a:srgbClr val="172B3A"/>
                </a:solidFill>
              </a:defRPr>
            </a:lvl6pPr>
            <a:lvl7pPr>
              <a:buNone/>
              <a:defRPr sz="2025">
                <a:solidFill>
                  <a:srgbClr val="172B3A"/>
                </a:solidFill>
              </a:defRPr>
            </a:lvl7pPr>
            <a:lvl8pPr>
              <a:buNone/>
              <a:defRPr sz="2025">
                <a:solidFill>
                  <a:srgbClr val="172B3A"/>
                </a:solidFill>
              </a:defRPr>
            </a:lvl8pPr>
            <a:lvl9pPr>
              <a:buNone/>
              <a:defRPr sz="2025">
                <a:solidFill>
                  <a:srgbClr val="172B3A"/>
                </a:solidFill>
              </a:defRPr>
            </a:lvl9pPr>
          </a:lstStyle>
          <a:p xmlns:a="http://schemas.openxmlformats.org/drawingml/2006/main">
            <a:pPr>
              <a:buNone/>
              <a:defRPr sz="2025">
                <a:solidFill>
                  <a:srgbClr val="172B3A"/>
                </a:solidFill>
              </a:defRPr>
            </a:pPr>
            <a:r>
              <a:rPr sz="2025">
                <a:solidFill>
                  <a:srgbClr val="172B3A"/>
                </a:solidFill>
              </a:rPr>
              <a:t>目的：区分“初始容量大小”和“相对退化程度”。</a:t>
            </a:r>
          </a:p>
        </p:txBody>
      </p:sp>
    </p:spTree>
    <p:extLst>
      <p:ext uri="{BB962C8B-B14F-4D97-AF65-F5344CB8AC3E}">
        <p14:creationId xmlns:p14="http://schemas.microsoft.com/office/powerpoint/2010/main" val="16551335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CDA1CA-1344-457A-9F69-072D61093D7E}"/>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实际容量曲线：前三块电池的全部168次记录</a:t>
            </a:r>
          </a:p>
        </p:txBody>
      </p:sp>
      <p:sp>
        <p:nvSpPr>
          <p:cNvPr id="2" name="">
            <a:extLst xmlns:a="http://schemas.openxmlformats.org/drawingml/2006/main">
              <a:ext uri="{FF2B5EF4-FFF2-40B4-BE49-F238E27FC236}">
                <a16:creationId xmlns:a16="http://schemas.microsoft.com/office/drawing/2014/main" id="{4BBBDA67-B2D7-4654-8A7A-06683416401B}"/>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4EAE5B21-996F-49B0-BB90-888642774A4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5</a:t>
            </a:r>
          </a:p>
        </p:txBody>
      </p:sp>
      <p:graphicFrame>
        <p:nvGraphicFramePr>
          <p:cNvPr id="4" name="Chart">
            <a:extLst xmlns:a="http://schemas.openxmlformats.org/drawingml/2006/main">
              <a:ext uri="{FF2B5EF4-FFF2-40B4-BE49-F238E27FC236}">
                <a16:creationId xmlns:a16="http://schemas.microsoft.com/office/drawing/2014/main" id="{DB84820E-BDC2-4FA3-B573-7FB607117B13}"/>
              </a:ext>
            </a:extLst>
          </p:cNvPr>
          <p:cNvGraphicFramePr/>
          <p:nvPr/>
        </p:nvGraphicFramePr>
        <p:xfrm>
          <a:off xmlns:a="http://schemas.openxmlformats.org/drawingml/2006/main" x="619125" y="1428750"/>
          <a:ext xmlns:a="http://schemas.openxmlformats.org/drawingml/2006/main" cx="10763250" cy="4143375"/>
        </p:xfrm>
        <a:graphic xmlns:a="http://schemas.openxmlformats.org/drawingml/2006/main">
          <a:graphicData uri="http://schemas.openxmlformats.org/drawingml/2006/chart">
            <c:chart xmlns:r="http://schemas.openxmlformats.org/officeDocument/2006/relationships" xmlns:c="http://schemas.openxmlformats.org/drawingml/2006/chart" r:id="R50164c49df9d4329"/>
          </a:graphicData>
        </a:graphic>
      </p:graphicFrame>
      <p:sp>
        <p:nvSpPr>
          <p:cNvPr id="5" name="">
            <a:extLst xmlns:a="http://schemas.openxmlformats.org/drawingml/2006/main">
              <a:ext uri="{FF2B5EF4-FFF2-40B4-BE49-F238E27FC236}">
                <a16:creationId xmlns:a16="http://schemas.microsoft.com/office/drawing/2014/main" id="{EF5AAB62-590C-4E7C-AA78-D1211801805D}"/>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defRPr>
            </a:defPPr>
            <a:lvl1pPr>
              <a:buNone/>
              <a:defRPr sz="1950">
                <a:solidFill>
                  <a:srgbClr val="172B3A"/>
                </a:solidFill>
              </a:defRPr>
            </a:lvl1pPr>
            <a:lvl2pPr>
              <a:buNone/>
              <a:defRPr sz="1950">
                <a:solidFill>
                  <a:srgbClr val="172B3A"/>
                </a:solidFill>
              </a:defRPr>
            </a:lvl2pPr>
            <a:lvl3pPr>
              <a:buNone/>
              <a:defRPr sz="1950">
                <a:solidFill>
                  <a:srgbClr val="172B3A"/>
                </a:solidFill>
              </a:defRPr>
            </a:lvl3pPr>
            <a:lvl4pPr>
              <a:buNone/>
              <a:defRPr sz="1950">
                <a:solidFill>
                  <a:srgbClr val="172B3A"/>
                </a:solidFill>
              </a:defRPr>
            </a:lvl4pPr>
            <a:lvl5pPr>
              <a:buNone/>
              <a:defRPr sz="1950">
                <a:solidFill>
                  <a:srgbClr val="172B3A"/>
                </a:solidFill>
              </a:defRPr>
            </a:lvl5pPr>
            <a:lvl6pPr>
              <a:buNone/>
              <a:defRPr sz="1950">
                <a:solidFill>
                  <a:srgbClr val="172B3A"/>
                </a:solidFill>
              </a:defRPr>
            </a:lvl6pPr>
            <a:lvl7pPr>
              <a:buNone/>
              <a:defRPr sz="1950">
                <a:solidFill>
                  <a:srgbClr val="172B3A"/>
                </a:solidFill>
              </a:defRPr>
            </a:lvl7pPr>
            <a:lvl8pPr>
              <a:buNone/>
              <a:defRPr sz="1950">
                <a:solidFill>
                  <a:srgbClr val="172B3A"/>
                </a:solidFill>
              </a:defRPr>
            </a:lvl8pPr>
            <a:lvl9pPr>
              <a:buNone/>
              <a:defRPr sz="1950">
                <a:solidFill>
                  <a:srgbClr val="172B3A"/>
                </a:solidFill>
              </a:defRPr>
            </a:lvl9pPr>
          </a:lstStyle>
          <a:p xmlns:a="http://schemas.openxmlformats.org/drawingml/2006/main">
            <a:pPr>
              <a:buNone/>
              <a:defRPr sz="1950">
                <a:solidFill>
                  <a:srgbClr val="172B3A"/>
                </a:solidFill>
              </a:defRPr>
            </a:pPr>
            <a:r>
              <a:rPr sz="1950">
                <a:solidFill>
                  <a:srgbClr val="172B3A"/>
                </a:solidFill>
              </a:rPr>
              <a:t>初始容量高，不代表后期仍保持较高容量；局部回升并未被抹去。</a:t>
            </a:r>
          </a:p>
        </p:txBody>
      </p:sp>
    </p:spTree>
    <p:extLst>
      <p:ext uri="{BB962C8B-B14F-4D97-AF65-F5344CB8AC3E}">
        <p14:creationId xmlns:p14="http://schemas.microsoft.com/office/powerpoint/2010/main" val="4286013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F19E04-2C64-4554-956A-A0DB3D9622E6}"/>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B0018：观测到132次，之后没有数据</a:t>
            </a:r>
          </a:p>
        </p:txBody>
      </p:sp>
      <p:sp>
        <p:nvSpPr>
          <p:cNvPr id="2" name="">
            <a:extLst xmlns:a="http://schemas.openxmlformats.org/drawingml/2006/main">
              <a:ext uri="{FF2B5EF4-FFF2-40B4-BE49-F238E27FC236}">
                <a16:creationId xmlns:a16="http://schemas.microsoft.com/office/drawing/2014/main" id="{38EF6A99-9617-4A3F-AA1B-9D5ACB5850FC}"/>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15B93D8A-4A52-41ED-8F15-259481BD7C82}"/>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6</a:t>
            </a:r>
          </a:p>
        </p:txBody>
      </p:sp>
      <p:graphicFrame>
        <p:nvGraphicFramePr>
          <p:cNvPr id="4" name="Chart">
            <a:extLst xmlns:a="http://schemas.openxmlformats.org/drawingml/2006/main">
              <a:ext uri="{FF2B5EF4-FFF2-40B4-BE49-F238E27FC236}">
                <a16:creationId xmlns:a16="http://schemas.microsoft.com/office/drawing/2014/main" id="{13755D14-BC39-468F-AAB4-D49C9A1F27FB}"/>
              </a:ext>
            </a:extLst>
          </p:cNvPr>
          <p:cNvGraphicFramePr/>
          <p:nvPr/>
        </p:nvGraphicFramePr>
        <p:xfrm>
          <a:off xmlns:a="http://schemas.openxmlformats.org/drawingml/2006/main" x="619125" y="1428750"/>
          <a:ext xmlns:a="http://schemas.openxmlformats.org/drawingml/2006/main" cx="10763250" cy="4143375"/>
        </p:xfrm>
        <a:graphic xmlns:a="http://schemas.openxmlformats.org/drawingml/2006/main">
          <a:graphicData uri="http://schemas.openxmlformats.org/drawingml/2006/chart">
            <c:chart xmlns:r="http://schemas.openxmlformats.org/officeDocument/2006/relationships" xmlns:c="http://schemas.openxmlformats.org/drawingml/2006/chart" r:id="R746180ebde9e47ef"/>
          </a:graphicData>
        </a:graphic>
      </p:graphicFrame>
      <p:sp>
        <p:nvSpPr>
          <p:cNvPr id="5" name="">
            <a:extLst xmlns:a="http://schemas.openxmlformats.org/drawingml/2006/main">
              <a:ext uri="{FF2B5EF4-FFF2-40B4-BE49-F238E27FC236}">
                <a16:creationId xmlns:a16="http://schemas.microsoft.com/office/drawing/2014/main" id="{D26088F4-6E88-43AE-961F-527175A70D9B}"/>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defRPr>
            </a:defPPr>
            <a:lvl1pPr>
              <a:buNone/>
              <a:defRPr sz="1950">
                <a:solidFill>
                  <a:srgbClr val="172B3A"/>
                </a:solidFill>
              </a:defRPr>
            </a:lvl1pPr>
            <a:lvl2pPr>
              <a:buNone/>
              <a:defRPr sz="1950">
                <a:solidFill>
                  <a:srgbClr val="172B3A"/>
                </a:solidFill>
              </a:defRPr>
            </a:lvl2pPr>
            <a:lvl3pPr>
              <a:buNone/>
              <a:defRPr sz="1950">
                <a:solidFill>
                  <a:srgbClr val="172B3A"/>
                </a:solidFill>
              </a:defRPr>
            </a:lvl3pPr>
            <a:lvl4pPr>
              <a:buNone/>
              <a:defRPr sz="1950">
                <a:solidFill>
                  <a:srgbClr val="172B3A"/>
                </a:solidFill>
              </a:defRPr>
            </a:lvl4pPr>
            <a:lvl5pPr>
              <a:buNone/>
              <a:defRPr sz="1950">
                <a:solidFill>
                  <a:srgbClr val="172B3A"/>
                </a:solidFill>
              </a:defRPr>
            </a:lvl5pPr>
            <a:lvl6pPr>
              <a:buNone/>
              <a:defRPr sz="1950">
                <a:solidFill>
                  <a:srgbClr val="172B3A"/>
                </a:solidFill>
              </a:defRPr>
            </a:lvl6pPr>
            <a:lvl7pPr>
              <a:buNone/>
              <a:defRPr sz="1950">
                <a:solidFill>
                  <a:srgbClr val="172B3A"/>
                </a:solidFill>
              </a:defRPr>
            </a:lvl7pPr>
            <a:lvl8pPr>
              <a:buNone/>
              <a:defRPr sz="1950">
                <a:solidFill>
                  <a:srgbClr val="172B3A"/>
                </a:solidFill>
              </a:defRPr>
            </a:lvl8pPr>
            <a:lvl9pPr>
              <a:buNone/>
              <a:defRPr sz="1950">
                <a:solidFill>
                  <a:srgbClr val="172B3A"/>
                </a:solidFill>
              </a:defRPr>
            </a:lvl9pPr>
          </a:lstStyle>
          <a:p xmlns:a="http://schemas.openxmlformats.org/drawingml/2006/main">
            <a:pPr>
              <a:buNone/>
              <a:defRPr sz="1950">
                <a:solidFill>
                  <a:srgbClr val="172B3A"/>
                </a:solidFill>
              </a:defRPr>
            </a:pPr>
            <a:r>
              <a:rPr sz="1950">
                <a:solidFill>
                  <a:srgbClr val="172B3A"/>
                </a:solidFill>
              </a:rPr>
              <a:t>1.8550 Ah → 1.3411 Ah；观测结束不等于失效，后续状态未知。</a:t>
            </a:r>
          </a:p>
        </p:txBody>
      </p:sp>
    </p:spTree>
    <p:extLst>
      <p:ext uri="{BB962C8B-B14F-4D97-AF65-F5344CB8AC3E}">
        <p14:creationId xmlns:p14="http://schemas.microsoft.com/office/powerpoint/2010/main" val="44667744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243DE5-C5AA-47CB-9195-DD9148CC61BD}"/>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统一前132次后，B0006退化最多，B0007最少</a:t>
            </a:r>
          </a:p>
        </p:txBody>
      </p:sp>
      <p:sp>
        <p:nvSpPr>
          <p:cNvPr id="2" name="">
            <a:extLst xmlns:a="http://schemas.openxmlformats.org/drawingml/2006/main">
              <a:ext uri="{FF2B5EF4-FFF2-40B4-BE49-F238E27FC236}">
                <a16:creationId xmlns:a16="http://schemas.microsoft.com/office/drawing/2014/main" id="{1F35B61E-218A-4EB5-91BB-BD4082D5DBC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4450CE29-192B-4B34-B5C7-381BFBB4BB3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7</a:t>
            </a:r>
          </a:p>
        </p:txBody>
      </p:sp>
      <p:graphicFrame>
        <p:nvGraphicFramePr>
          <p:cNvPr id="4" name="Chart">
            <a:extLst xmlns:a="http://schemas.openxmlformats.org/drawingml/2006/main">
              <a:ext uri="{FF2B5EF4-FFF2-40B4-BE49-F238E27FC236}">
                <a16:creationId xmlns:a16="http://schemas.microsoft.com/office/drawing/2014/main" id="{53CD14AF-42E2-42C5-B8A5-F910466A6631}"/>
              </a:ext>
            </a:extLst>
          </p:cNvPr>
          <p:cNvGraphicFramePr/>
          <p:nvPr/>
        </p:nvGraphicFramePr>
        <p:xfrm>
          <a:off xmlns:a="http://schemas.openxmlformats.org/drawingml/2006/main" x="619125" y="1428750"/>
          <a:ext xmlns:a="http://schemas.openxmlformats.org/drawingml/2006/main" cx="10763250" cy="4143375"/>
        </p:xfrm>
        <a:graphic xmlns:a="http://schemas.openxmlformats.org/drawingml/2006/main">
          <a:graphicData uri="http://schemas.openxmlformats.org/drawingml/2006/chart">
            <c:chart xmlns:r="http://schemas.openxmlformats.org/officeDocument/2006/relationships" xmlns:c="http://schemas.openxmlformats.org/drawingml/2006/chart" r:id="R87f2fc7a4d0748f3"/>
          </a:graphicData>
        </a:graphic>
      </p:graphicFrame>
      <p:sp>
        <p:nvSpPr>
          <p:cNvPr id="5" name="">
            <a:extLst xmlns:a="http://schemas.openxmlformats.org/drawingml/2006/main">
              <a:ext uri="{FF2B5EF4-FFF2-40B4-BE49-F238E27FC236}">
                <a16:creationId xmlns:a16="http://schemas.microsoft.com/office/drawing/2014/main" id="{706BC64A-C5A3-4232-A034-7933DD9062D4}"/>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defRPr>
            </a:defPPr>
            <a:lvl1pPr>
              <a:buNone/>
              <a:defRPr sz="1950">
                <a:solidFill>
                  <a:srgbClr val="172B3A"/>
                </a:solidFill>
              </a:defRPr>
            </a:lvl1pPr>
            <a:lvl2pPr>
              <a:buNone/>
              <a:defRPr sz="1950">
                <a:solidFill>
                  <a:srgbClr val="172B3A"/>
                </a:solidFill>
              </a:defRPr>
            </a:lvl2pPr>
            <a:lvl3pPr>
              <a:buNone/>
              <a:defRPr sz="1950">
                <a:solidFill>
                  <a:srgbClr val="172B3A"/>
                </a:solidFill>
              </a:defRPr>
            </a:lvl3pPr>
            <a:lvl4pPr>
              <a:buNone/>
              <a:defRPr sz="1950">
                <a:solidFill>
                  <a:srgbClr val="172B3A"/>
                </a:solidFill>
              </a:defRPr>
            </a:lvl4pPr>
            <a:lvl5pPr>
              <a:buNone/>
              <a:defRPr sz="1950">
                <a:solidFill>
                  <a:srgbClr val="172B3A"/>
                </a:solidFill>
              </a:defRPr>
            </a:lvl5pPr>
            <a:lvl6pPr>
              <a:buNone/>
              <a:defRPr sz="1950">
                <a:solidFill>
                  <a:srgbClr val="172B3A"/>
                </a:solidFill>
              </a:defRPr>
            </a:lvl6pPr>
            <a:lvl7pPr>
              <a:buNone/>
              <a:defRPr sz="1950">
                <a:solidFill>
                  <a:srgbClr val="172B3A"/>
                </a:solidFill>
              </a:defRPr>
            </a:lvl7pPr>
            <a:lvl8pPr>
              <a:buNone/>
              <a:defRPr sz="1950">
                <a:solidFill>
                  <a:srgbClr val="172B3A"/>
                </a:solidFill>
              </a:defRPr>
            </a:lvl8pPr>
            <a:lvl9pPr>
              <a:buNone/>
              <a:defRPr sz="1950">
                <a:solidFill>
                  <a:srgbClr val="172B3A"/>
                </a:solidFill>
              </a:defRPr>
            </a:lvl9pPr>
          </a:lstStyle>
          <a:p xmlns:a="http://schemas.openxmlformats.org/drawingml/2006/main">
            <a:pPr>
              <a:buNone/>
              <a:defRPr sz="1950">
                <a:solidFill>
                  <a:srgbClr val="172B3A"/>
                </a:solidFill>
              </a:defRPr>
            </a:pPr>
            <a:r>
              <a:rPr sz="1950">
                <a:solidFill>
                  <a:srgbClr val="172B3A"/>
                </a:solidFill>
              </a:rPr>
              <a:t>首循环统一为100%；同一观察长度下比较相对退化程度。</a:t>
            </a:r>
          </a:p>
        </p:txBody>
      </p:sp>
    </p:spTree>
    <p:extLst>
      <p:ext uri="{BB962C8B-B14F-4D97-AF65-F5344CB8AC3E}">
        <p14:creationId xmlns:p14="http://schemas.microsoft.com/office/powerpoint/2010/main" val="17633998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F4D2EB-9C31-4E66-9306-F920BD6A04FF}"/>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差异量化：同样经历131个循环间隔</a:t>
            </a:r>
          </a:p>
        </p:txBody>
      </p:sp>
      <p:sp>
        <p:nvSpPr>
          <p:cNvPr id="2" name="">
            <a:extLst xmlns:a="http://schemas.openxmlformats.org/drawingml/2006/main">
              <a:ext uri="{FF2B5EF4-FFF2-40B4-BE49-F238E27FC236}">
                <a16:creationId xmlns:a16="http://schemas.microsoft.com/office/drawing/2014/main" id="{DFAA5717-77D2-4B1E-B9A4-1CA93909B24C}"/>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7C6743BB-C772-436A-AD80-B73C79B73B79}"/>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8</a:t>
            </a:r>
          </a:p>
        </p:txBody>
      </p:sp>
      <p:graphicFrame>
        <p:nvGraphicFramePr>
          <p:cNvPr id="4" name="Chart">
            <a:extLst xmlns:a="http://schemas.openxmlformats.org/drawingml/2006/main">
              <a:ext uri="{FF2B5EF4-FFF2-40B4-BE49-F238E27FC236}">
                <a16:creationId xmlns:a16="http://schemas.microsoft.com/office/drawing/2014/main" id="{8183707A-FE78-4B25-830E-FD9493B9F81B}"/>
              </a:ext>
            </a:extLst>
          </p:cNvPr>
          <p:cNvGraphicFramePr/>
          <p:nvPr/>
        </p:nvGraphicFramePr>
        <p:xfrm>
          <a:off xmlns:a="http://schemas.openxmlformats.org/drawingml/2006/main" x="619125" y="1524000"/>
          <a:ext xmlns:a="http://schemas.openxmlformats.org/drawingml/2006/main" cx="7239000" cy="4095750"/>
        </p:xfrm>
        <a:graphic xmlns:a="http://schemas.openxmlformats.org/drawingml/2006/main">
          <a:graphicData uri="http://schemas.openxmlformats.org/drawingml/2006/chart">
            <c:chart xmlns:r="http://schemas.openxmlformats.org/officeDocument/2006/relationships" xmlns:c="http://schemas.openxmlformats.org/drawingml/2006/chart" r:id="Rdb891f5f04a44bf0"/>
          </a:graphicData>
        </a:graphic>
      </p:graphicFrame>
      <p:sp>
        <p:nvSpPr>
          <p:cNvPr id="5" name="">
            <a:extLst xmlns:a="http://schemas.openxmlformats.org/drawingml/2006/main">
              <a:ext uri="{FF2B5EF4-FFF2-40B4-BE49-F238E27FC236}">
                <a16:creationId xmlns:a16="http://schemas.microsoft.com/office/drawing/2014/main" id="{E57FDC93-06CE-494E-ABF9-E861853D7639}"/>
              </a:ext>
            </a:extLst>
          </p:cNvPr>
          <p:cNvSpPr>
            <a:spLocks xmlns:a="http://schemas.openxmlformats.org/drawingml/2006/main" noGrp="1"/>
          </p:cNvSpPr>
          <p:nvPr/>
        </p:nvSpPr>
        <p:spPr>
          <a:xfrm xmlns:a="http://schemas.openxmlformats.org/drawingml/2006/main">
            <a:off x="8286750" y="1952625"/>
            <a:ext cx="32861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B0005  26.49%</a:t>
            </a:r>
          </a:p>
          <a:p xmlns:a="http://schemas.openxmlformats.org/drawingml/2006/main">
            <a:r>
              <a:t/>
            </a:r>
          </a:p>
          <a:p xmlns:a="http://schemas.openxmlformats.org/drawingml/2006/main">
            <a:pPr>
              <a:buNone/>
              <a:defRPr sz="2175">
                <a:solidFill>
                  <a:srgbClr val="172B3A"/>
                </a:solidFill>
              </a:defRPr>
            </a:pPr>
            <a:r>
              <a:rPr sz="2175">
                <a:solidFill>
                  <a:srgbClr val="172B3A"/>
                </a:solidFill>
              </a:rPr>
              <a:t>B0006  35.36%</a:t>
            </a:r>
          </a:p>
          <a:p xmlns:a="http://schemas.openxmlformats.org/drawingml/2006/main">
            <a:r>
              <a:t/>
            </a:r>
          </a:p>
          <a:p xmlns:a="http://schemas.openxmlformats.org/drawingml/2006/main">
            <a:pPr>
              <a:buNone/>
              <a:defRPr sz="2175">
                <a:solidFill>
                  <a:srgbClr val="172B3A"/>
                </a:solidFill>
              </a:defRPr>
            </a:pPr>
            <a:r>
              <a:rPr sz="2175">
                <a:solidFill>
                  <a:srgbClr val="172B3A"/>
                </a:solidFill>
              </a:rPr>
              <a:t>B0007  21.90%</a:t>
            </a:r>
          </a:p>
          <a:p xmlns:a="http://schemas.openxmlformats.org/drawingml/2006/main">
            <a:r>
              <a:t/>
            </a:r>
          </a:p>
          <a:p xmlns:a="http://schemas.openxmlformats.org/drawingml/2006/main">
            <a:pPr>
              <a:buNone/>
              <a:defRPr sz="2175">
                <a:solidFill>
                  <a:srgbClr val="172B3A"/>
                </a:solidFill>
              </a:defRPr>
            </a:pPr>
            <a:r>
              <a:rPr sz="2175">
                <a:solidFill>
                  <a:srgbClr val="172B3A"/>
                </a:solidFill>
              </a:rPr>
              <a:t>B0018  27.70%</a:t>
            </a:r>
          </a:p>
        </p:txBody>
      </p:sp>
      <p:sp>
        <p:nvSpPr>
          <p:cNvPr id="6" name="">
            <a:extLst xmlns:a="http://schemas.openxmlformats.org/drawingml/2006/main">
              <a:ext uri="{FF2B5EF4-FFF2-40B4-BE49-F238E27FC236}">
                <a16:creationId xmlns:a16="http://schemas.microsoft.com/office/drawing/2014/main" id="{CD92A5F4-98AA-4858-8E1E-34DD1270FE27}"/>
              </a:ext>
            </a:extLst>
          </p:cNvPr>
          <p:cNvSpPr>
            <a:spLocks xmlns:a="http://schemas.openxmlformats.org/drawingml/2006/main" noGrp="1"/>
          </p:cNvSpPr>
          <p:nvPr/>
        </p:nvSpPr>
        <p:spPr>
          <a:xfrm xmlns:a="http://schemas.openxmlformats.org/drawingml/2006/main">
            <a:off x="619125" y="5762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defRPr>
            </a:defPPr>
            <a:lvl1pPr>
              <a:buNone/>
              <a:defRPr sz="1875">
                <a:solidFill>
                  <a:srgbClr val="172B3A"/>
                </a:solidFill>
              </a:defRPr>
            </a:lvl1pPr>
            <a:lvl2pPr>
              <a:buNone/>
              <a:defRPr sz="1875">
                <a:solidFill>
                  <a:srgbClr val="172B3A"/>
                </a:solidFill>
              </a:defRPr>
            </a:lvl2pPr>
            <a:lvl3pPr>
              <a:buNone/>
              <a:defRPr sz="1875">
                <a:solidFill>
                  <a:srgbClr val="172B3A"/>
                </a:solidFill>
              </a:defRPr>
            </a:lvl3pPr>
            <a:lvl4pPr>
              <a:buNone/>
              <a:defRPr sz="1875">
                <a:solidFill>
                  <a:srgbClr val="172B3A"/>
                </a:solidFill>
              </a:defRPr>
            </a:lvl4pPr>
            <a:lvl5pPr>
              <a:buNone/>
              <a:defRPr sz="1875">
                <a:solidFill>
                  <a:srgbClr val="172B3A"/>
                </a:solidFill>
              </a:defRPr>
            </a:lvl5pPr>
            <a:lvl6pPr>
              <a:buNone/>
              <a:defRPr sz="1875">
                <a:solidFill>
                  <a:srgbClr val="172B3A"/>
                </a:solidFill>
              </a:defRPr>
            </a:lvl6pPr>
            <a:lvl7pPr>
              <a:buNone/>
              <a:defRPr sz="1875">
                <a:solidFill>
                  <a:srgbClr val="172B3A"/>
                </a:solidFill>
              </a:defRPr>
            </a:lvl7pPr>
            <a:lvl8pPr>
              <a:buNone/>
              <a:defRPr sz="1875">
                <a:solidFill>
                  <a:srgbClr val="172B3A"/>
                </a:solidFill>
              </a:defRPr>
            </a:lvl8pPr>
            <a:lvl9pPr>
              <a:buNone/>
              <a:defRPr sz="1875">
                <a:solidFill>
                  <a:srgbClr val="172B3A"/>
                </a:solidFill>
              </a:defRPr>
            </a:lvl9pPr>
          </a:lstStyle>
          <a:p xmlns:a="http://schemas.openxmlformats.org/drawingml/2006/main">
            <a:pPr>
              <a:buNone/>
              <a:defRPr sz="1875">
                <a:solidFill>
                  <a:srgbClr val="172B3A"/>
                </a:solidFill>
              </a:defRPr>
            </a:pPr>
            <a:r>
              <a:rPr sz="1875">
                <a:solidFill>
                  <a:srgbClr val="172B3A"/>
                </a:solidFill>
              </a:rPr>
              <a:t>B0006比B0007多下降13.46个百分点；这是观测差异，不是因果解释。</a:t>
            </a:r>
          </a:p>
        </p:txBody>
      </p:sp>
    </p:spTree>
    <p:extLst>
      <p:ext uri="{BB962C8B-B14F-4D97-AF65-F5344CB8AC3E}">
        <p14:creationId xmlns:p14="http://schemas.microsoft.com/office/powerpoint/2010/main" val="19931711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09FDC2-19D2-4BB8-A9E5-F65B3933F4A4}"/>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局部回升值得保留，但不能据此解释原因</a:t>
            </a:r>
          </a:p>
        </p:txBody>
      </p:sp>
      <p:sp>
        <p:nvSpPr>
          <p:cNvPr id="2" name="">
            <a:extLst xmlns:a="http://schemas.openxmlformats.org/drawingml/2006/main">
              <a:ext uri="{FF2B5EF4-FFF2-40B4-BE49-F238E27FC236}">
                <a16:creationId xmlns:a16="http://schemas.microsoft.com/office/drawing/2014/main" id="{52CD6B8A-BDFC-4571-A5EC-B6EA081346C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0692010E-F4CB-410C-B81E-53E307E0459E}"/>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9</a:t>
            </a:r>
          </a:p>
        </p:txBody>
      </p:sp>
      <p:sp>
        <p:nvSpPr>
          <p:cNvPr id="4" name="">
            <a:extLst xmlns:a="http://schemas.openxmlformats.org/drawingml/2006/main">
              <a:ext uri="{FF2B5EF4-FFF2-40B4-BE49-F238E27FC236}">
                <a16:creationId xmlns:a16="http://schemas.microsoft.com/office/drawing/2014/main" id="{89A7263F-E721-4416-B89E-5948C14EC56B}"/>
              </a:ext>
            </a:extLst>
          </p:cNvPr>
          <p:cNvSpPr>
            <a:spLocks xmlns:a="http://schemas.openxmlformats.org/drawingml/2006/main" noGrp="1"/>
          </p:cNvSpPr>
          <p:nvPr/>
        </p:nvSpPr>
        <p:spPr>
          <a:xfrm xmlns:a="http://schemas.openxmlformats.org/drawingml/2006/main">
            <a:off x="619125" y="1619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a:solidFill>
                  <a:srgbClr val="172B3A"/>
                </a:solidFill>
              </a:defRPr>
            </a:defPPr>
            <a:lvl1pPr>
              <a:buNone/>
              <a:defRPr sz="2325">
                <a:solidFill>
                  <a:srgbClr val="172B3A"/>
                </a:solidFill>
              </a:defRPr>
            </a:lvl1pPr>
            <a:lvl2pPr>
              <a:buNone/>
              <a:defRPr sz="2325">
                <a:solidFill>
                  <a:srgbClr val="172B3A"/>
                </a:solidFill>
              </a:defRPr>
            </a:lvl2pPr>
            <a:lvl3pPr>
              <a:buNone/>
              <a:defRPr sz="2325">
                <a:solidFill>
                  <a:srgbClr val="172B3A"/>
                </a:solidFill>
              </a:defRPr>
            </a:lvl3pPr>
            <a:lvl4pPr>
              <a:buNone/>
              <a:defRPr sz="2325">
                <a:solidFill>
                  <a:srgbClr val="172B3A"/>
                </a:solidFill>
              </a:defRPr>
            </a:lvl4pPr>
            <a:lvl5pPr>
              <a:buNone/>
              <a:defRPr sz="2325">
                <a:solidFill>
                  <a:srgbClr val="172B3A"/>
                </a:solidFill>
              </a:defRPr>
            </a:lvl5pPr>
            <a:lvl6pPr>
              <a:buNone/>
              <a:defRPr sz="2325">
                <a:solidFill>
                  <a:srgbClr val="172B3A"/>
                </a:solidFill>
              </a:defRPr>
            </a:lvl6pPr>
            <a:lvl7pPr>
              <a:buNone/>
              <a:defRPr sz="2325">
                <a:solidFill>
                  <a:srgbClr val="172B3A"/>
                </a:solidFill>
              </a:defRPr>
            </a:lvl7pPr>
            <a:lvl8pPr>
              <a:buNone/>
              <a:defRPr sz="2325">
                <a:solidFill>
                  <a:srgbClr val="172B3A"/>
                </a:solidFill>
              </a:defRPr>
            </a:lvl8pPr>
            <a:lvl9pPr>
              <a:buNone/>
              <a:defRPr sz="2325">
                <a:solidFill>
                  <a:srgbClr val="172B3A"/>
                </a:solidFill>
              </a:defRPr>
            </a:lvl9pPr>
          </a:lstStyle>
          <a:p xmlns:a="http://schemas.openxmlformats.org/drawingml/2006/main">
            <a:pPr>
              <a:buNone/>
              <a:defRPr sz="2325">
                <a:solidFill>
                  <a:srgbClr val="172B3A"/>
                </a:solidFill>
              </a:defRPr>
            </a:pPr>
            <a:r>
              <a:rPr sz="2325">
                <a:solidFill>
                  <a:srgbClr val="172B3A"/>
                </a:solidFill>
              </a:rPr>
              <a:t>前132次中的回升间隔数（每块均有131个间隔）</a:t>
            </a:r>
          </a:p>
        </p:txBody>
      </p:sp>
      <p:sp>
        <p:nvSpPr>
          <p:cNvPr id="5" name="">
            <a:extLst xmlns:a="http://schemas.openxmlformats.org/drawingml/2006/main">
              <a:ext uri="{FF2B5EF4-FFF2-40B4-BE49-F238E27FC236}">
                <a16:creationId xmlns:a16="http://schemas.microsoft.com/office/drawing/2014/main" id="{BB04491E-4123-4EBC-9250-D73439F4A8C7}"/>
              </a:ext>
            </a:extLst>
          </p:cNvPr>
          <p:cNvSpPr>
            <a:spLocks xmlns:a="http://schemas.openxmlformats.org/drawingml/2006/main" noGrp="1"/>
          </p:cNvSpPr>
          <p:nvPr/>
        </p:nvSpPr>
        <p:spPr>
          <a:xfrm xmlns:a="http://schemas.openxmlformats.org/drawingml/2006/main">
            <a:off x="619125" y="2714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a:solidFill>
                  <a:srgbClr val="176B87"/>
                </a:solidFill>
              </a:defRPr>
            </a:defPPr>
            <a:lvl1pPr>
              <a:buNone/>
              <a:defRPr sz="2250">
                <a:solidFill>
                  <a:srgbClr val="176B87"/>
                </a:solidFill>
              </a:defRPr>
            </a:lvl1pPr>
            <a:lvl2pPr>
              <a:buNone/>
              <a:defRPr sz="2250">
                <a:solidFill>
                  <a:srgbClr val="176B87"/>
                </a:solidFill>
              </a:defRPr>
            </a:lvl2pPr>
            <a:lvl3pPr>
              <a:buNone/>
              <a:defRPr sz="2250">
                <a:solidFill>
                  <a:srgbClr val="176B87"/>
                </a:solidFill>
              </a:defRPr>
            </a:lvl3pPr>
            <a:lvl4pPr>
              <a:buNone/>
              <a:defRPr sz="2250">
                <a:solidFill>
                  <a:srgbClr val="176B87"/>
                </a:solidFill>
              </a:defRPr>
            </a:lvl4pPr>
            <a:lvl5pPr>
              <a:buNone/>
              <a:defRPr sz="2250">
                <a:solidFill>
                  <a:srgbClr val="176B87"/>
                </a:solidFill>
              </a:defRPr>
            </a:lvl5pPr>
            <a:lvl6pPr>
              <a:buNone/>
              <a:defRPr sz="2250">
                <a:solidFill>
                  <a:srgbClr val="176B87"/>
                </a:solidFill>
              </a:defRPr>
            </a:lvl6pPr>
            <a:lvl7pPr>
              <a:buNone/>
              <a:defRPr sz="2250">
                <a:solidFill>
                  <a:srgbClr val="176B87"/>
                </a:solidFill>
              </a:defRPr>
            </a:lvl7pPr>
            <a:lvl8pPr>
              <a:buNone/>
              <a:defRPr sz="2250">
                <a:solidFill>
                  <a:srgbClr val="176B87"/>
                </a:solidFill>
              </a:defRPr>
            </a:lvl8pPr>
            <a:lvl9pPr>
              <a:buNone/>
              <a:defRPr sz="2250">
                <a:solidFill>
                  <a:srgbClr val="176B87"/>
                </a:solidFill>
              </a:defRPr>
            </a:lvl9pPr>
          </a:lstStyle>
          <a:p xmlns:a="http://schemas.openxmlformats.org/drawingml/2006/main">
            <a:pPr>
              <a:buNone/>
              <a:defRPr sz="2250">
                <a:solidFill>
                  <a:srgbClr val="176B87"/>
                </a:solidFill>
              </a:defRPr>
            </a:pPr>
            <a:r>
              <a:rPr sz="2250">
                <a:solidFill>
                  <a:srgbClr val="176B87"/>
                </a:solidFill>
              </a:rPr>
              <a:t>B0005：22次        B0006：18次        B0007：34次        B0018：21次</a:t>
            </a:r>
          </a:p>
        </p:txBody>
      </p:sp>
      <p:sp>
        <p:nvSpPr>
          <p:cNvPr id="6" name="">
            <a:extLst xmlns:a="http://schemas.openxmlformats.org/drawingml/2006/main">
              <a:ext uri="{FF2B5EF4-FFF2-40B4-BE49-F238E27FC236}">
                <a16:creationId xmlns:a16="http://schemas.microsoft.com/office/drawing/2014/main" id="{5C438A51-9830-46E2-A6F4-0AC32EB12407}"/>
              </a:ext>
            </a:extLst>
          </p:cNvPr>
          <p:cNvSpPr>
            <a:spLocks xmlns:a="http://schemas.openxmlformats.org/drawingml/2006/main" noGrp="1"/>
          </p:cNvSpPr>
          <p:nvPr/>
        </p:nvSpPr>
        <p:spPr>
          <a:xfrm xmlns:a="http://schemas.openxmlformats.org/drawingml/2006/main">
            <a:off x="619125" y="3810000"/>
            <a:ext cx="10858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整体退化与短期波动同时存在</a:t>
            </a:r>
          </a:p>
          <a:p xmlns:a="http://schemas.openxmlformats.org/drawingml/2006/main">
            <a:r>
              <a:t/>
            </a:r>
          </a:p>
          <a:p xmlns:a="http://schemas.openxmlformats.org/drawingml/2006/main">
            <a:pPr>
              <a:buNone/>
              <a:defRPr sz="2175">
                <a:solidFill>
                  <a:srgbClr val="172B3A"/>
                </a:solidFill>
              </a:defRPr>
            </a:pPr>
            <a:r>
              <a:rPr sz="2175">
                <a:solidFill>
                  <a:srgbClr val="172B3A"/>
                </a:solidFill>
              </a:rPr>
              <a:t>回升次数 ≠ 回升幅度，也不能单独作为健康排名</a:t>
            </a:r>
          </a:p>
          <a:p xmlns:a="http://schemas.openxmlformats.org/drawingml/2006/main">
            <a:r>
              <a:t/>
            </a:r>
          </a:p>
          <a:p xmlns:a="http://schemas.openxmlformats.org/drawingml/2006/main">
            <a:pPr>
              <a:buNone/>
              <a:defRPr sz="2175">
                <a:solidFill>
                  <a:srgbClr val="172B3A"/>
                </a:solidFill>
              </a:defRPr>
            </a:pPr>
            <a:r>
              <a:rPr sz="2175">
                <a:solidFill>
                  <a:srgbClr val="172B3A"/>
                </a:solidFill>
              </a:rPr>
              <a:t>缺少内阻、电流、负载等字段，不能断言差异的物理原因</a:t>
            </a:r>
          </a:p>
        </p:txBody>
      </p:sp>
    </p:spTree>
    <p:extLst>
      <p:ext uri="{BB962C8B-B14F-4D97-AF65-F5344CB8AC3E}">
        <p14:creationId xmlns:p14="http://schemas.microsoft.com/office/powerpoint/2010/main" val="8511279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34BC46-E754-4130-A1B2-92D37A8D8E95}"/>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defRPr>
            </a:defPPr>
            <a:lvl1pPr>
              <a:buNone/>
              <a:defRPr sz="2925">
                <a:solidFill>
                  <a:srgbClr val="172B3A"/>
                </a:solidFill>
              </a:defRPr>
            </a:lvl1pPr>
            <a:lvl2pPr>
              <a:buNone/>
              <a:defRPr sz="2925">
                <a:solidFill>
                  <a:srgbClr val="172B3A"/>
                </a:solidFill>
              </a:defRPr>
            </a:lvl2pPr>
            <a:lvl3pPr>
              <a:buNone/>
              <a:defRPr sz="2925">
                <a:solidFill>
                  <a:srgbClr val="172B3A"/>
                </a:solidFill>
              </a:defRPr>
            </a:lvl3pPr>
            <a:lvl4pPr>
              <a:buNone/>
              <a:defRPr sz="2925">
                <a:solidFill>
                  <a:srgbClr val="172B3A"/>
                </a:solidFill>
              </a:defRPr>
            </a:lvl4pPr>
            <a:lvl5pPr>
              <a:buNone/>
              <a:defRPr sz="2925">
                <a:solidFill>
                  <a:srgbClr val="172B3A"/>
                </a:solidFill>
              </a:defRPr>
            </a:lvl5pPr>
            <a:lvl6pPr>
              <a:buNone/>
              <a:defRPr sz="2925">
                <a:solidFill>
                  <a:srgbClr val="172B3A"/>
                </a:solidFill>
              </a:defRPr>
            </a:lvl6pPr>
            <a:lvl7pPr>
              <a:buNone/>
              <a:defRPr sz="2925">
                <a:solidFill>
                  <a:srgbClr val="172B3A"/>
                </a:solidFill>
              </a:defRPr>
            </a:lvl7pPr>
            <a:lvl8pPr>
              <a:buNone/>
              <a:defRPr sz="2925">
                <a:solidFill>
                  <a:srgbClr val="172B3A"/>
                </a:solidFill>
              </a:defRPr>
            </a:lvl8pPr>
            <a:lvl9pPr>
              <a:buNone/>
              <a:defRPr sz="2925">
                <a:solidFill>
                  <a:srgbClr val="172B3A"/>
                </a:solidFill>
              </a:defRPr>
            </a:lvl9pPr>
          </a:lstStyle>
          <a:p xmlns:a="http://schemas.openxmlformats.org/drawingml/2006/main">
            <a:pPr>
              <a:buNone/>
              <a:defRPr sz="2925">
                <a:solidFill>
                  <a:srgbClr val="172B3A"/>
                </a:solidFill>
              </a:defRPr>
            </a:pPr>
            <a:r>
              <a:rPr sz="2925">
                <a:solidFill>
                  <a:srgbClr val="172B3A"/>
                </a:solidFill>
              </a:rPr>
              <a:t>前两步小结与建模任务</a:t>
            </a:r>
          </a:p>
        </p:txBody>
      </p:sp>
      <p:sp>
        <p:nvSpPr>
          <p:cNvPr id="2" name="">
            <a:extLst xmlns:a="http://schemas.openxmlformats.org/drawingml/2006/main">
              <a:ext uri="{FF2B5EF4-FFF2-40B4-BE49-F238E27FC236}">
                <a16:creationId xmlns:a16="http://schemas.microsoft.com/office/drawing/2014/main" id="{8ACD6F2D-DE8B-4A3C-846B-07DD189FEE8E}"/>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defRPr>
            </a:defPPr>
            <a:lvl1pPr>
              <a:buNone/>
              <a:defRPr sz="1200">
                <a:solidFill>
                  <a:srgbClr val="687985"/>
                </a:solidFill>
              </a:defRPr>
            </a:lvl1pPr>
            <a:lvl2pPr>
              <a:buNone/>
              <a:defRPr sz="1200">
                <a:solidFill>
                  <a:srgbClr val="687985"/>
                </a:solidFill>
              </a:defRPr>
            </a:lvl2pPr>
            <a:lvl3pPr>
              <a:buNone/>
              <a:defRPr sz="1200">
                <a:solidFill>
                  <a:srgbClr val="687985"/>
                </a:solidFill>
              </a:defRPr>
            </a:lvl3pPr>
            <a:lvl4pPr>
              <a:buNone/>
              <a:defRPr sz="1200">
                <a:solidFill>
                  <a:srgbClr val="687985"/>
                </a:solidFill>
              </a:defRPr>
            </a:lvl4pPr>
            <a:lvl5pPr>
              <a:buNone/>
              <a:defRPr sz="1200">
                <a:solidFill>
                  <a:srgbClr val="687985"/>
                </a:solidFill>
              </a:defRPr>
            </a:lvl5pPr>
            <a:lvl6pPr>
              <a:buNone/>
              <a:defRPr sz="1200">
                <a:solidFill>
                  <a:srgbClr val="687985"/>
                </a:solidFill>
              </a:defRPr>
            </a:lvl6pPr>
            <a:lvl7pPr>
              <a:buNone/>
              <a:defRPr sz="1200">
                <a:solidFill>
                  <a:srgbClr val="687985"/>
                </a:solidFill>
              </a:defRPr>
            </a:lvl7pPr>
            <a:lvl8pPr>
              <a:buNone/>
              <a:defRPr sz="1200">
                <a:solidFill>
                  <a:srgbClr val="687985"/>
                </a:solidFill>
              </a:defRPr>
            </a:lvl8pPr>
            <a:lvl9pPr>
              <a:buNone/>
              <a:defRPr sz="1200">
                <a:solidFill>
                  <a:srgbClr val="687985"/>
                </a:solidFill>
              </a:defRPr>
            </a:lvl9pPr>
          </a:lstStyle>
          <a:p xmlns:a="http://schemas.openxmlformats.org/drawingml/2006/main">
            <a:pPr>
              <a:buNone/>
              <a:defRPr sz="1200">
                <a:solidFill>
                  <a:srgbClr val="687985"/>
                </a:solidFill>
              </a:defRPr>
            </a:pPr>
            <a:r>
              <a:rPr sz="1200">
                <a:solidFill>
                  <a:srgbClr val="687985"/>
                </a:solidFill>
              </a:rPr>
              <a:t>工作过程记录  杨晓真 25121619  2026.10.28</a:t>
            </a:r>
          </a:p>
        </p:txBody>
      </p:sp>
      <p:sp>
        <p:nvSpPr>
          <p:cNvPr id="3" name="">
            <a:extLst xmlns:a="http://schemas.openxmlformats.org/drawingml/2006/main">
              <a:ext uri="{FF2B5EF4-FFF2-40B4-BE49-F238E27FC236}">
                <a16:creationId xmlns:a16="http://schemas.microsoft.com/office/drawing/2014/main" id="{10458274-074E-42E9-9C76-22785136F970}"/>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defRPr>
            </a:defPPr>
            <a:lvl1pPr>
              <a:buNone/>
              <a:defRPr sz="1200">
                <a:solidFill>
                  <a:srgbClr val="172B3A"/>
                </a:solidFill>
              </a:defRPr>
            </a:lvl1pPr>
            <a:lvl2pPr>
              <a:buNone/>
              <a:defRPr sz="1200">
                <a:solidFill>
                  <a:srgbClr val="172B3A"/>
                </a:solidFill>
              </a:defRPr>
            </a:lvl2pPr>
            <a:lvl3pPr>
              <a:buNone/>
              <a:defRPr sz="1200">
                <a:solidFill>
                  <a:srgbClr val="172B3A"/>
                </a:solidFill>
              </a:defRPr>
            </a:lvl3pPr>
            <a:lvl4pPr>
              <a:buNone/>
              <a:defRPr sz="1200">
                <a:solidFill>
                  <a:srgbClr val="172B3A"/>
                </a:solidFill>
              </a:defRPr>
            </a:lvl4pPr>
            <a:lvl5pPr>
              <a:buNone/>
              <a:defRPr sz="1200">
                <a:solidFill>
                  <a:srgbClr val="172B3A"/>
                </a:solidFill>
              </a:defRPr>
            </a:lvl5pPr>
            <a:lvl6pPr>
              <a:buNone/>
              <a:defRPr sz="1200">
                <a:solidFill>
                  <a:srgbClr val="172B3A"/>
                </a:solidFill>
              </a:defRPr>
            </a:lvl6pPr>
            <a:lvl7pPr>
              <a:buNone/>
              <a:defRPr sz="1200">
                <a:solidFill>
                  <a:srgbClr val="172B3A"/>
                </a:solidFill>
              </a:defRPr>
            </a:lvl7pPr>
            <a:lvl8pPr>
              <a:buNone/>
              <a:defRPr sz="1200">
                <a:solidFill>
                  <a:srgbClr val="172B3A"/>
                </a:solidFill>
              </a:defRPr>
            </a:lvl8pPr>
            <a:lvl9pPr>
              <a:buNone/>
              <a:defRPr sz="1200">
                <a:solidFill>
                  <a:srgbClr val="172B3A"/>
                </a:solidFill>
              </a:defRPr>
            </a:lvl9pPr>
          </a:lstStyle>
          <a:p xmlns:a="http://schemas.openxmlformats.org/drawingml/2006/main">
            <a:pPr>
              <a:buNone/>
              <a:defRPr sz="1200">
                <a:solidFill>
                  <a:srgbClr val="172B3A"/>
                </a:solidFill>
              </a:defRPr>
            </a:pPr>
            <a:r>
              <a:rPr sz="1200">
                <a:solidFill>
                  <a:srgbClr val="172B3A"/>
                </a:solidFill>
              </a:rPr>
              <a:t>10</a:t>
            </a:r>
          </a:p>
        </p:txBody>
      </p:sp>
      <p:sp>
        <p:nvSpPr>
          <p:cNvPr id="4" name="">
            <a:extLst xmlns:a="http://schemas.openxmlformats.org/drawingml/2006/main">
              <a:ext uri="{FF2B5EF4-FFF2-40B4-BE49-F238E27FC236}">
                <a16:creationId xmlns:a16="http://schemas.microsoft.com/office/drawing/2014/main" id="{D4410ABA-549B-4349-8DCA-99B2270D9652}"/>
              </a:ext>
            </a:extLst>
          </p:cNvPr>
          <p:cNvSpPr>
            <a:spLocks xmlns:a="http://schemas.openxmlformats.org/drawingml/2006/main" noGrp="1"/>
          </p:cNvSpPr>
          <p:nvPr/>
        </p:nvSpPr>
        <p:spPr>
          <a:xfrm xmlns:a="http://schemas.openxmlformats.org/drawingml/2006/main">
            <a:off x="619125" y="1571625"/>
            <a:ext cx="10858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2B3A"/>
                </a:solidFill>
              </a:defRPr>
            </a:defPPr>
            <a:lvl1pPr>
              <a:buNone/>
              <a:defRPr sz="2175">
                <a:solidFill>
                  <a:srgbClr val="172B3A"/>
                </a:solidFill>
              </a:defRPr>
            </a:lvl1pPr>
            <a:lvl2pPr>
              <a:buNone/>
              <a:defRPr sz="2175">
                <a:solidFill>
                  <a:srgbClr val="172B3A"/>
                </a:solidFill>
              </a:defRPr>
            </a:lvl2pPr>
            <a:lvl3pPr>
              <a:buNone/>
              <a:defRPr sz="2175">
                <a:solidFill>
                  <a:srgbClr val="172B3A"/>
                </a:solidFill>
              </a:defRPr>
            </a:lvl3pPr>
            <a:lvl4pPr>
              <a:buNone/>
              <a:defRPr sz="2175">
                <a:solidFill>
                  <a:srgbClr val="172B3A"/>
                </a:solidFill>
              </a:defRPr>
            </a:lvl4pPr>
            <a:lvl5pPr>
              <a:buNone/>
              <a:defRPr sz="2175">
                <a:solidFill>
                  <a:srgbClr val="172B3A"/>
                </a:solidFill>
              </a:defRPr>
            </a:lvl5pPr>
            <a:lvl6pPr>
              <a:buNone/>
              <a:defRPr sz="2175">
                <a:solidFill>
                  <a:srgbClr val="172B3A"/>
                </a:solidFill>
              </a:defRPr>
            </a:lvl6pPr>
            <a:lvl7pPr>
              <a:buNone/>
              <a:defRPr sz="2175">
                <a:solidFill>
                  <a:srgbClr val="172B3A"/>
                </a:solidFill>
              </a:defRPr>
            </a:lvl7pPr>
            <a:lvl8pPr>
              <a:buNone/>
              <a:defRPr sz="2175">
                <a:solidFill>
                  <a:srgbClr val="172B3A"/>
                </a:solidFill>
              </a:defRPr>
            </a:lvl8pPr>
            <a:lvl9pPr>
              <a:buNone/>
              <a:defRPr sz="2175">
                <a:solidFill>
                  <a:srgbClr val="172B3A"/>
                </a:solidFill>
              </a:defRPr>
            </a:lvl9pPr>
          </a:lstStyle>
          <a:p xmlns:a="http://schemas.openxmlformats.org/drawingml/2006/main">
            <a:pPr>
              <a:buNone/>
              <a:defRPr sz="2175">
                <a:solidFill>
                  <a:srgbClr val="172B3A"/>
                </a:solidFill>
              </a:defRPr>
            </a:pPr>
            <a:r>
              <a:rPr sz="2175">
                <a:solidFill>
                  <a:srgbClr val="172B3A"/>
                </a:solidFill>
              </a:rPr>
              <a:t>已完成：数据检查、全部退化曲线、共同窗口差异比较</a:t>
            </a:r>
          </a:p>
          <a:p xmlns:a="http://schemas.openxmlformats.org/drawingml/2006/main">
            <a:r>
              <a:t/>
            </a:r>
          </a:p>
          <a:p xmlns:a="http://schemas.openxmlformats.org/drawingml/2006/main">
            <a:pPr>
              <a:buNone/>
              <a:defRPr sz="2175">
                <a:solidFill>
                  <a:srgbClr val="172B3A"/>
                </a:solidFill>
              </a:defRPr>
            </a:pPr>
            <a:r>
              <a:rPr sz="2175">
                <a:solidFill>
                  <a:srgbClr val="172B3A"/>
                </a:solidFill>
              </a:rPr>
              <a:t>发现：B0006下降最多，B0007最少，存在局部回升</a:t>
            </a:r>
          </a:p>
          <a:p xmlns:a="http://schemas.openxmlformats.org/drawingml/2006/main">
            <a:r>
              <a:t/>
            </a:r>
          </a:p>
          <a:p xmlns:a="http://schemas.openxmlformats.org/drawingml/2006/main">
            <a:pPr>
              <a:buNone/>
              <a:defRPr sz="2175">
                <a:solidFill>
                  <a:srgbClr val="172B3A"/>
                </a:solidFill>
              </a:defRPr>
            </a:pPr>
            <a:r>
              <a:rPr sz="2175">
                <a:solidFill>
                  <a:srgbClr val="172B3A"/>
                </a:solidFill>
              </a:rPr>
              <a:t>范围：4块电池、24℃，结果仅描述这些观测</a:t>
            </a:r>
          </a:p>
          <a:p xmlns:a="http://schemas.openxmlformats.org/drawingml/2006/main">
            <a:r>
              <a:t/>
            </a:r>
          </a:p>
          <a:p xmlns:a="http://schemas.openxmlformats.org/drawingml/2006/main">
            <a:pPr>
              <a:buNone/>
              <a:defRPr sz="2175">
                <a:solidFill>
                  <a:srgbClr val="172B3A"/>
                </a:solidFill>
              </a:defRPr>
            </a:pPr>
            <a:r>
              <a:rPr sz="2175">
                <a:solidFill>
                  <a:srgbClr val="172B3A"/>
                </a:solidFill>
              </a:rPr>
              <a:t>第三步任务：提取历史特征，比较下一循环容量预测方法</a:t>
            </a:r>
          </a:p>
        </p:txBody>
      </p:sp>
      <p:sp>
        <p:nvSpPr>
          <p:cNvPr id="5" name="">
            <a:extLst xmlns:a="http://schemas.openxmlformats.org/drawingml/2006/main">
              <a:ext uri="{FF2B5EF4-FFF2-40B4-BE49-F238E27FC236}">
                <a16:creationId xmlns:a16="http://schemas.microsoft.com/office/drawing/2014/main" id="{176DE5DD-36B4-47E1-AC91-582C762A89B5}"/>
              </a:ext>
            </a:extLst>
          </p:cNvPr>
          <p:cNvSpPr>
            <a:spLocks xmlns:a="http://schemas.openxmlformats.org/drawingml/2006/main" noGrp="1"/>
          </p:cNvSpPr>
          <p:nvPr/>
        </p:nvSpPr>
        <p:spPr>
          <a:xfrm xmlns:a="http://schemas.openxmlformats.org/drawingml/2006/main">
            <a:off x="619125" y="52387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a:solidFill>
                  <a:srgbClr val="176B87"/>
                </a:solidFill>
              </a:defRPr>
            </a:defPPr>
            <a:lvl1pPr>
              <a:buNone/>
              <a:defRPr sz="1800">
                <a:solidFill>
                  <a:srgbClr val="176B87"/>
                </a:solidFill>
              </a:defRPr>
            </a:lvl1pPr>
            <a:lvl2pPr>
              <a:buNone/>
              <a:defRPr sz="1800">
                <a:solidFill>
                  <a:srgbClr val="176B87"/>
                </a:solidFill>
              </a:defRPr>
            </a:lvl2pPr>
            <a:lvl3pPr>
              <a:buNone/>
              <a:defRPr sz="1800">
                <a:solidFill>
                  <a:srgbClr val="176B87"/>
                </a:solidFill>
              </a:defRPr>
            </a:lvl3pPr>
            <a:lvl4pPr>
              <a:buNone/>
              <a:defRPr sz="1800">
                <a:solidFill>
                  <a:srgbClr val="176B87"/>
                </a:solidFill>
              </a:defRPr>
            </a:lvl4pPr>
            <a:lvl5pPr>
              <a:buNone/>
              <a:defRPr sz="1800">
                <a:solidFill>
                  <a:srgbClr val="176B87"/>
                </a:solidFill>
              </a:defRPr>
            </a:lvl5pPr>
            <a:lvl6pPr>
              <a:buNone/>
              <a:defRPr sz="1800">
                <a:solidFill>
                  <a:srgbClr val="176B87"/>
                </a:solidFill>
              </a:defRPr>
            </a:lvl6pPr>
            <a:lvl7pPr>
              <a:buNone/>
              <a:defRPr sz="1800">
                <a:solidFill>
                  <a:srgbClr val="176B87"/>
                </a:solidFill>
              </a:defRPr>
            </a:lvl7pPr>
            <a:lvl8pPr>
              <a:buNone/>
              <a:defRPr sz="1800">
                <a:solidFill>
                  <a:srgbClr val="176B87"/>
                </a:solidFill>
              </a:defRPr>
            </a:lvl8pPr>
            <a:lvl9pPr>
              <a:buNone/>
              <a:defRPr sz="1800">
                <a:solidFill>
                  <a:srgbClr val="176B87"/>
                </a:solidFill>
              </a:defRPr>
            </a:lvl9pPr>
          </a:lstStyle>
          <a:p xmlns:a="http://schemas.openxmlformats.org/drawingml/2006/main">
            <a:pPr>
              <a:buNone/>
              <a:defRPr sz="1800">
                <a:solidFill>
                  <a:srgbClr val="176B87"/>
                </a:solidFill>
              </a:defRPr>
            </a:pPr>
            <a:r>
              <a:rPr sz="1800">
                <a:solidFill>
                  <a:srgbClr val="176B87"/>
                </a:solidFill>
              </a:rPr>
              <a:t>复现：01_read_and_clean.py → 02_visualize_degradation.py</a:t>
            </a:r>
          </a:p>
          <a:p xmlns:a="http://schemas.openxmlformats.org/drawingml/2006/main">
            <a:pPr>
              <a:buNone/>
              <a:defRPr sz="1800">
                <a:solidFill>
                  <a:srgbClr val="176B87"/>
                </a:solidFill>
              </a:defRPr>
            </a:pPr>
            <a:r>
              <a:rPr sz="1800">
                <a:solidFill>
                  <a:srgbClr val="176B87"/>
                </a:solidFill>
              </a:rPr>
              <a:t>GitHub：yxz666-Y/python-midterm-pre</a:t>
            </a:r>
          </a:p>
        </p:txBody>
      </p:sp>
    </p:spTree>
    <p:extLst>
      <p:ext uri="{BB962C8B-B14F-4D97-AF65-F5344CB8AC3E}">
        <p14:creationId xmlns:p14="http://schemas.microsoft.com/office/powerpoint/2010/main" val="13423516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103861-DD26-41E7-A7E1-E71E1B20B23A}"/>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补充清洗：无缺失值仍可能存在统计跳变</a:t>
            </a:r>
          </a:p>
        </p:txBody>
      </p:sp>
      <p:sp>
        <p:nvSpPr>
          <p:cNvPr id="2" name="">
            <a:extLst xmlns:a="http://schemas.openxmlformats.org/drawingml/2006/main">
              <a:ext uri="{FF2B5EF4-FFF2-40B4-BE49-F238E27FC236}">
                <a16:creationId xmlns:a16="http://schemas.microsoft.com/office/drawing/2014/main" id="{D2011CE9-A6FC-4267-BAAB-305FF0627A62}"/>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81532ADB-8B26-4A5E-82BA-6B36B2D6FDA7}"/>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11</a:t>
            </a:r>
          </a:p>
        </p:txBody>
      </p:sp>
      <p:sp>
        <p:nvSpPr>
          <p:cNvPr id="4" name="">
            <a:extLst xmlns:a="http://schemas.openxmlformats.org/drawingml/2006/main">
              <a:ext uri="{FF2B5EF4-FFF2-40B4-BE49-F238E27FC236}">
                <a16:creationId xmlns:a16="http://schemas.microsoft.com/office/drawing/2014/main" id="{8C75F477-BF7C-4D06-8893-06660655B9C6}"/>
              </a:ext>
            </a:extLst>
          </p:cNvPr>
          <p:cNvSpPr>
            <a:spLocks xmlns:a="http://schemas.openxmlformats.org/drawingml/2006/main" noGrp="1"/>
          </p:cNvSpPr>
          <p:nvPr/>
        </p:nvSpPr>
        <p:spPr>
          <a:xfrm xmlns:a="http://schemas.openxmlformats.org/drawingml/2006/main">
            <a:off x="619125" y="147637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检查相邻容量变化：ΔQ = 当前容量 − 上一循环容量</a:t>
            </a:r>
          </a:p>
        </p:txBody>
      </p:sp>
      <p:graphicFrame>
        <p:nvGraphicFramePr>
          <p:cNvPr id="5" name="">
            <a:extLst xmlns:a="http://schemas.openxmlformats.org/drawingml/2006/main">
              <a:ext uri="{FF2B5EF4-FFF2-40B4-BE49-F238E27FC236}">
                <a16:creationId xmlns:a16="http://schemas.microsoft.com/office/drawing/2014/main" id="{195CDCFC-2483-4F83-8EE2-8A9450CF6EB9}"/>
              </a:ext>
            </a:extLst>
          </p:cNvPr>
          <p:cNvGraphicFramePr/>
          <p:nvPr/>
        </p:nvGraphicFramePr>
        <p:xfrm>
          <a:off xmlns:a="http://schemas.openxmlformats.org/drawingml/2006/main" x="619125" y="2286000"/>
          <a:ext xmlns:a="http://schemas.openxmlformats.org/drawingml/2006/main" cx="10763250" cy="2667000"/>
        </p:xfrm>
        <a:graphic xmlns:a="http://schemas.openxmlformats.org/drawingml/2006/main">
          <a:graphicData uri="http://schemas.openxmlformats.org/drawingml/2006/table">
            <a:tbl>
              <a:tblPr/>
              <a:tblGrid>
                <a:gridCol w="3333750"/>
                <a:gridCol w="3714750"/>
                <a:gridCol w="3714750"/>
              </a:tblGrid>
              <a:tr h="533400">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待核查（1.5IQR）</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其中极端（3IQR）</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33400">
                <a:tc>
                  <a:txBody>
                    <a:bodyPr/>
                    <a:lstStyle/>
                    <a:p>
                      <a:r>
                        <a:rPr sz="1875">
                          <a:solidFill>
                            <a:srgbClr val="172B3A"/>
                          </a:solidFill>
                          <a:latin typeface="Arial Unicode MS"/>
                          <a:ea typeface="Arial Unicode MS"/>
                          <a:cs typeface="Arial Unicode MS"/>
                        </a:rPr>
                        <a:t>B0005</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9</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6</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B0006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26</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10</a:t>
                      </a:r>
                    </a:p>
                  </a:txBody>
                  <a:tcPr marL="91440" marR="91440" marT="45720" marB="45720">
                    <a:lnR w="9525">
                      <a:solidFill>
                        <a:srgbClr val="D6E0E5"/>
                      </a:solidFill>
                    </a:lnR>
                    <a:lnB w="9525">
                      <a:solidFill>
                        <a:srgbClr val="D6E0E5"/>
                      </a:solidFill>
                    </a:lnB>
                    <a:solidFill>
                      <a:srgbClr val="FFFFFF"/>
                    </a:solidFill>
                  </a:tcPr>
                </a:tc>
              </a:tr>
              <a:tr h="533400">
                <a:tc>
                  <a:txBody>
                    <a:bodyPr/>
                    <a:lstStyle/>
                    <a:p>
                      <a:r>
                        <a:rPr sz="1875">
                          <a:solidFill>
                            <a:srgbClr val="172B3A"/>
                          </a:solidFill>
                          <a:latin typeface="Arial Unicode MS"/>
                          <a:ea typeface="Arial Unicode MS"/>
                          <a:cs typeface="Arial Unicode MS"/>
                        </a:rPr>
                        <a:t>B0007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9</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5</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14</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9</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87554EB-6D5B-4CEB-A2D6-3C792E2C5D4D}"/>
              </a:ext>
            </a:extLst>
          </p:cNvPr>
          <p:cNvSpPr>
            <a:spLocks xmlns:a="http://schemas.openxmlformats.org/drawingml/2006/main" noGrp="1"/>
          </p:cNvSpPr>
          <p:nvPr/>
        </p:nvSpPr>
        <p:spPr>
          <a:xfrm xmlns:a="http://schemas.openxmlformats.org/drawingml/2006/main">
            <a:off x="619125" y="52863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合计58条待核查，其中30条极端。它们尚未证实为测量错误。</a:t>
            </a:r>
          </a:p>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上下界为Q1−k×IQR、Q3+k×IQR，阈值仅用前60%记录估计。</a:t>
            </a:r>
          </a:p>
        </p:txBody>
      </p:sp>
    </p:spTree>
    <p:extLst>
      <p:ext uri="{BB962C8B-B14F-4D97-AF65-F5344CB8AC3E}">
        <p14:creationId xmlns:p14="http://schemas.microsoft.com/office/powerpoint/2010/main" val="115687343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B9A734-E0C2-4523-886C-647DE781F6A3}"/>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补充清洗：保留原值，另做极端跳变限幅</a:t>
            </a:r>
          </a:p>
        </p:txBody>
      </p:sp>
      <p:sp>
        <p:nvSpPr>
          <p:cNvPr id="2" name="">
            <a:extLst xmlns:a="http://schemas.openxmlformats.org/drawingml/2006/main">
              <a:ext uri="{FF2B5EF4-FFF2-40B4-BE49-F238E27FC236}">
                <a16:creationId xmlns:a16="http://schemas.microsoft.com/office/drawing/2014/main" id="{6E57B8B5-8D35-4E07-9B6E-35E42CC765BF}"/>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7A644404-D525-4DBB-A8E9-2E8D4BD70672}"/>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12</a:t>
            </a:r>
          </a:p>
        </p:txBody>
      </p:sp>
      <p:sp>
        <p:nvSpPr>
          <p:cNvPr id="4" name="">
            <a:extLst xmlns:a="http://schemas.openxmlformats.org/drawingml/2006/main">
              <a:ext uri="{FF2B5EF4-FFF2-40B4-BE49-F238E27FC236}">
                <a16:creationId xmlns:a16="http://schemas.microsoft.com/office/drawing/2014/main" id="{F90EE97E-F10C-49B9-903F-6C511FA3AC88}"/>
              </a:ext>
            </a:extLst>
          </p:cNvPr>
          <p:cNvSpPr>
            <a:spLocks xmlns:a="http://schemas.openxmlformats.org/drawingml/2006/main" noGrp="1"/>
          </p:cNvSpPr>
          <p:nvPr/>
        </p:nvSpPr>
        <p:spPr>
          <a:xfrm xmlns:a="http://schemas.openxmlformats.org/drawingml/2006/main">
            <a:off x="619125" y="1428750"/>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6B87"/>
                </a:solidFill>
                <a:latin typeface="Arial Unicode MS"/>
                <a:ea typeface="Arial Unicode MS"/>
                <a:cs typeface="Arial Unicode MS"/>
              </a:defRPr>
            </a:defPPr>
            <a:lvl1pPr>
              <a:buNone/>
              <a:defRPr sz="2100">
                <a:solidFill>
                  <a:srgbClr val="176B87"/>
                </a:solidFill>
                <a:latin typeface="Arial Unicode MS"/>
                <a:ea typeface="Arial Unicode MS"/>
                <a:cs typeface="Arial Unicode MS"/>
              </a:defRPr>
            </a:lvl1pPr>
            <a:lvl2pPr>
              <a:buNone/>
              <a:defRPr sz="2100">
                <a:solidFill>
                  <a:srgbClr val="176B87"/>
                </a:solidFill>
                <a:latin typeface="Arial Unicode MS"/>
                <a:ea typeface="Arial Unicode MS"/>
                <a:cs typeface="Arial Unicode MS"/>
              </a:defRPr>
            </a:lvl2pPr>
            <a:lvl3pPr>
              <a:buNone/>
              <a:defRPr sz="2100">
                <a:solidFill>
                  <a:srgbClr val="176B87"/>
                </a:solidFill>
                <a:latin typeface="Arial Unicode MS"/>
                <a:ea typeface="Arial Unicode MS"/>
                <a:cs typeface="Arial Unicode MS"/>
              </a:defRPr>
            </a:lvl3pPr>
            <a:lvl4pPr>
              <a:buNone/>
              <a:defRPr sz="2100">
                <a:solidFill>
                  <a:srgbClr val="176B87"/>
                </a:solidFill>
                <a:latin typeface="Arial Unicode MS"/>
                <a:ea typeface="Arial Unicode MS"/>
                <a:cs typeface="Arial Unicode MS"/>
              </a:defRPr>
            </a:lvl4pPr>
            <a:lvl5pPr>
              <a:buNone/>
              <a:defRPr sz="2100">
                <a:solidFill>
                  <a:srgbClr val="176B87"/>
                </a:solidFill>
                <a:latin typeface="Arial Unicode MS"/>
                <a:ea typeface="Arial Unicode MS"/>
                <a:cs typeface="Arial Unicode MS"/>
              </a:defRPr>
            </a:lvl5pPr>
            <a:lvl6pPr>
              <a:buNone/>
              <a:defRPr sz="2100">
                <a:solidFill>
                  <a:srgbClr val="176B87"/>
                </a:solidFill>
                <a:latin typeface="Arial Unicode MS"/>
                <a:ea typeface="Arial Unicode MS"/>
                <a:cs typeface="Arial Unicode MS"/>
              </a:defRPr>
            </a:lvl6pPr>
            <a:lvl7pPr>
              <a:buNone/>
              <a:defRPr sz="2100">
                <a:solidFill>
                  <a:srgbClr val="176B87"/>
                </a:solidFill>
                <a:latin typeface="Arial Unicode MS"/>
                <a:ea typeface="Arial Unicode MS"/>
                <a:cs typeface="Arial Unicode MS"/>
              </a:defRPr>
            </a:lvl7pPr>
            <a:lvl8pPr>
              <a:buNone/>
              <a:defRPr sz="2100">
                <a:solidFill>
                  <a:srgbClr val="176B87"/>
                </a:solidFill>
                <a:latin typeface="Arial Unicode MS"/>
                <a:ea typeface="Arial Unicode MS"/>
                <a:cs typeface="Arial Unicode MS"/>
              </a:defRPr>
            </a:lvl8pPr>
            <a:lvl9pPr>
              <a:buNone/>
              <a:defRPr sz="2100">
                <a:solidFill>
                  <a:srgbClr val="176B87"/>
                </a:solidFill>
                <a:latin typeface="Arial Unicode MS"/>
                <a:ea typeface="Arial Unicode MS"/>
                <a:cs typeface="Arial Unicode MS"/>
              </a:defRPr>
            </a:lvl9pPr>
          </a:lstStyle>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处理容量 = 上一循环原始容量 + 限幅后的ΔQ</a:t>
            </a:r>
          </a:p>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只将极端变化量压到3IQR边界，保留全部636行</a:t>
            </a:r>
          </a:p>
        </p:txBody>
      </p:sp>
      <p:graphicFrame>
        <p:nvGraphicFramePr>
          <p:cNvPr id="5" name="">
            <a:extLst xmlns:a="http://schemas.openxmlformats.org/drawingml/2006/main">
              <a:ext uri="{FF2B5EF4-FFF2-40B4-BE49-F238E27FC236}">
                <a16:creationId xmlns:a16="http://schemas.microsoft.com/office/drawing/2014/main" id="{D4DD681C-4677-4F79-9999-D5028D183DB5}"/>
              </a:ext>
            </a:extLst>
          </p:cNvPr>
          <p:cNvGraphicFramePr/>
          <p:nvPr/>
        </p:nvGraphicFramePr>
        <p:xfrm>
          <a:off xmlns:a="http://schemas.openxmlformats.org/drawingml/2006/main" x="619125" y="2762250"/>
          <a:ext xmlns:a="http://schemas.openxmlformats.org/drawingml/2006/main" cx="10763250" cy="2571750"/>
        </p:xfrm>
        <a:graphic xmlns:a="http://schemas.openxmlformats.org/drawingml/2006/main">
          <a:graphicData uri="http://schemas.openxmlformats.org/drawingml/2006/table">
            <a:tbl>
              <a:tblPr/>
              <a:tblGrid>
                <a:gridCol w="3048000"/>
                <a:gridCol w="2571750"/>
                <a:gridCol w="2571750"/>
                <a:gridCol w="2571750"/>
              </a:tblGrid>
              <a:tr h="514350">
                <a:tc>
                  <a:txBody>
                    <a:bodyPr/>
                    <a:lstStyle/>
                    <a:p>
                      <a:r>
                        <a:rPr sz="1875">
                          <a:solidFill>
                            <a:srgbClr val="FFFFFF"/>
                          </a:solidFill>
                          <a:latin typeface="Arial Unicode MS"/>
                          <a:ea typeface="Arial Unicode MS"/>
                          <a:cs typeface="Arial Unicode MS"/>
                        </a:rPr>
                        <a:t>电池 / 循环</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原容量Ah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相邻变化Ah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处理对照Ah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14350">
                <a:tc>
                  <a:txBody>
                    <a:bodyPr/>
                    <a:lstStyle/>
                    <a:p>
                      <a:r>
                        <a:rPr sz="1875">
                          <a:solidFill>
                            <a:srgbClr val="172B3A"/>
                          </a:solidFill>
                          <a:latin typeface="Arial Unicode MS"/>
                          <a:ea typeface="Arial Unicode MS"/>
                          <a:cs typeface="Arial Unicode MS"/>
                        </a:rPr>
                        <a:t>B0006 / 90</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1.5936</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0.1519</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1.467350</a:t>
                      </a:r>
                    </a:p>
                  </a:txBody>
                  <a:tcPr marL="91440" marR="91440" marT="45720" marB="45720">
                    <a:lnR w="9525">
                      <a:solidFill>
                        <a:srgbClr val="D6E0E5"/>
                      </a:solidFill>
                    </a:lnR>
                    <a:lnB w="9525">
                      <a:solidFill>
                        <a:srgbClr val="D6E0E5"/>
                      </a:solidFill>
                    </a:lnB>
                    <a:solidFill>
                      <a:srgbClr val="F0F5F7"/>
                    </a:solidFill>
                  </a:tcPr>
                </a:tc>
              </a:tr>
              <a:tr h="514350">
                <a:tc>
                  <a:txBody>
                    <a:bodyPr/>
                    <a:lstStyle/>
                    <a:p>
                      <a:r>
                        <a:rPr sz="1875">
                          <a:solidFill>
                            <a:srgbClr val="172B3A"/>
                          </a:solidFill>
                          <a:latin typeface="Arial Unicode MS"/>
                          <a:ea typeface="Arial Unicode MS"/>
                          <a:cs typeface="Arial Unicode MS"/>
                        </a:rPr>
                        <a:t>B0018 / 46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1.7267</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0.1312</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1.615675</a:t>
                      </a:r>
                    </a:p>
                  </a:txBody>
                  <a:tcPr marL="91440" marR="91440" marT="45720" marB="45720">
                    <a:lnR w="9525">
                      <a:solidFill>
                        <a:srgbClr val="D6E0E5"/>
                      </a:solidFill>
                    </a:lnR>
                    <a:lnB w="9525">
                      <a:solidFill>
                        <a:srgbClr val="D6E0E5"/>
                      </a:solidFill>
                    </a:lnB>
                    <a:solidFill>
                      <a:srgbClr val="FFFFFF"/>
                    </a:solidFill>
                  </a:tcPr>
                </a:tc>
              </a:tr>
              <a:tr h="514350">
                <a:tc>
                  <a:txBody>
                    <a:bodyPr/>
                    <a:lstStyle/>
                    <a:p>
                      <a:r>
                        <a:rPr sz="1875">
                          <a:solidFill>
                            <a:srgbClr val="172B3A"/>
                          </a:solidFill>
                          <a:latin typeface="Arial Unicode MS"/>
                          <a:ea typeface="Arial Unicode MS"/>
                          <a:cs typeface="Arial Unicode MS"/>
                        </a:rPr>
                        <a:t>B0007 / 90</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1.6888</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0.0981</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1.621050</a:t>
                      </a:r>
                    </a:p>
                  </a:txBody>
                  <a:tcPr marL="91440" marR="91440" marT="45720" marB="45720">
                    <a:lnR w="9525">
                      <a:solidFill>
                        <a:srgbClr val="D6E0E5"/>
                      </a:solidFill>
                    </a:lnR>
                    <a:lnB w="9525">
                      <a:solidFill>
                        <a:srgbClr val="D6E0E5"/>
                      </a:solidFill>
                    </a:lnB>
                    <a:solidFill>
                      <a:srgbClr val="F0F5F7"/>
                    </a:solidFill>
                  </a:tcPr>
                </a:tc>
              </a:tr>
              <a:tr h="514350">
                <a:tc>
                  <a:txBody>
                    <a:bodyPr/>
                    <a:lstStyle/>
                    <a:p>
                      <a:r>
                        <a:rPr sz="1875">
                          <a:solidFill>
                            <a:srgbClr val="172B3A"/>
                          </a:solidFill>
                          <a:latin typeface="Arial Unicode MS"/>
                          <a:ea typeface="Arial Unicode MS"/>
                          <a:cs typeface="Arial Unicode MS"/>
                        </a:rPr>
                        <a:t>B0005 / 90</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1.6058</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0.0883</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1.546100</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760F115-3204-4041-832A-A15ACC7382DC}"/>
              </a:ext>
            </a:extLst>
          </p:cNvPr>
          <p:cNvSpPr>
            <a:spLocks xmlns:a="http://schemas.openxmlformats.org/drawingml/2006/main" noGrp="1"/>
          </p:cNvSpPr>
          <p:nvPr/>
        </p:nvSpPr>
        <p:spPr>
          <a:xfrm xmlns:a="http://schemas.openxmlformats.org/drawingml/2006/main">
            <a:off x="619125" y="57150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代码：01b_check_capacity_jumps.py    Git版本：6aa6676</a:t>
            </a:r>
          </a:p>
        </p:txBody>
      </p:sp>
    </p:spTree>
    <p:extLst>
      <p:ext uri="{BB962C8B-B14F-4D97-AF65-F5344CB8AC3E}">
        <p14:creationId xmlns:p14="http://schemas.microsoft.com/office/powerpoint/2010/main" val="214631860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822E18-F122-4094-8650-BC0F3690C4D0}"/>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补充清洗：处理可能压低真实恢复峰值</a:t>
            </a:r>
          </a:p>
        </p:txBody>
      </p:sp>
      <p:sp>
        <p:nvSpPr>
          <p:cNvPr id="2" name="">
            <a:extLst xmlns:a="http://schemas.openxmlformats.org/drawingml/2006/main">
              <a:ext uri="{FF2B5EF4-FFF2-40B4-BE49-F238E27FC236}">
                <a16:creationId xmlns:a16="http://schemas.microsoft.com/office/drawing/2014/main" id="{3E00F4FA-545A-4401-ACB4-744236B3AA83}"/>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F7DD2F16-4531-4666-AA31-391E8C4BD82C}"/>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13</a:t>
            </a:r>
          </a:p>
        </p:txBody>
      </p:sp>
      <p:sp>
        <p:nvSpPr>
          <p:cNvPr id="4" name="">
            <a:extLst xmlns:a="http://schemas.openxmlformats.org/drawingml/2006/main">
              <a:ext uri="{FF2B5EF4-FFF2-40B4-BE49-F238E27FC236}">
                <a16:creationId xmlns:a16="http://schemas.microsoft.com/office/drawing/2014/main" id="{4729C127-1B37-42AE-BADC-F68833040F62}"/>
              </a:ext>
            </a:extLst>
          </p:cNvPr>
          <p:cNvSpPr>
            <a:spLocks xmlns:a="http://schemas.openxmlformats.org/drawingml/2006/main" noGrp="1"/>
          </p:cNvSpPr>
          <p:nvPr/>
        </p:nvSpPr>
        <p:spPr>
          <a:xfrm xmlns:a="http://schemas.openxmlformats.org/drawingml/2006/main">
            <a:off x="619125" y="1428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6B87"/>
                </a:solidFill>
                <a:latin typeface="Arial Unicode MS"/>
                <a:ea typeface="Arial Unicode MS"/>
                <a:cs typeface="Arial Unicode MS"/>
              </a:defRPr>
            </a:defPPr>
            <a:lvl1pPr>
              <a:buNone/>
              <a:defRPr sz="2100">
                <a:solidFill>
                  <a:srgbClr val="176B87"/>
                </a:solidFill>
                <a:latin typeface="Arial Unicode MS"/>
                <a:ea typeface="Arial Unicode MS"/>
                <a:cs typeface="Arial Unicode MS"/>
              </a:defRPr>
            </a:lvl1pPr>
            <a:lvl2pPr>
              <a:buNone/>
              <a:defRPr sz="2100">
                <a:solidFill>
                  <a:srgbClr val="176B87"/>
                </a:solidFill>
                <a:latin typeface="Arial Unicode MS"/>
                <a:ea typeface="Arial Unicode MS"/>
                <a:cs typeface="Arial Unicode MS"/>
              </a:defRPr>
            </a:lvl2pPr>
            <a:lvl3pPr>
              <a:buNone/>
              <a:defRPr sz="2100">
                <a:solidFill>
                  <a:srgbClr val="176B87"/>
                </a:solidFill>
                <a:latin typeface="Arial Unicode MS"/>
                <a:ea typeface="Arial Unicode MS"/>
                <a:cs typeface="Arial Unicode MS"/>
              </a:defRPr>
            </a:lvl3pPr>
            <a:lvl4pPr>
              <a:buNone/>
              <a:defRPr sz="2100">
                <a:solidFill>
                  <a:srgbClr val="176B87"/>
                </a:solidFill>
                <a:latin typeface="Arial Unicode MS"/>
                <a:ea typeface="Arial Unicode MS"/>
                <a:cs typeface="Arial Unicode MS"/>
              </a:defRPr>
            </a:lvl4pPr>
            <a:lvl5pPr>
              <a:buNone/>
              <a:defRPr sz="2100">
                <a:solidFill>
                  <a:srgbClr val="176B87"/>
                </a:solidFill>
                <a:latin typeface="Arial Unicode MS"/>
                <a:ea typeface="Arial Unicode MS"/>
                <a:cs typeface="Arial Unicode MS"/>
              </a:defRPr>
            </a:lvl5pPr>
            <a:lvl6pPr>
              <a:buNone/>
              <a:defRPr sz="2100">
                <a:solidFill>
                  <a:srgbClr val="176B87"/>
                </a:solidFill>
                <a:latin typeface="Arial Unicode MS"/>
                <a:ea typeface="Arial Unicode MS"/>
                <a:cs typeface="Arial Unicode MS"/>
              </a:defRPr>
            </a:lvl6pPr>
            <a:lvl7pPr>
              <a:buNone/>
              <a:defRPr sz="2100">
                <a:solidFill>
                  <a:srgbClr val="176B87"/>
                </a:solidFill>
                <a:latin typeface="Arial Unicode MS"/>
                <a:ea typeface="Arial Unicode MS"/>
                <a:cs typeface="Arial Unicode MS"/>
              </a:defRPr>
            </a:lvl7pPr>
            <a:lvl8pPr>
              <a:buNone/>
              <a:defRPr sz="2100">
                <a:solidFill>
                  <a:srgbClr val="176B87"/>
                </a:solidFill>
                <a:latin typeface="Arial Unicode MS"/>
                <a:ea typeface="Arial Unicode MS"/>
                <a:cs typeface="Arial Unicode MS"/>
              </a:defRPr>
            </a:lvl8pPr>
            <a:lvl9pPr>
              <a:buNone/>
              <a:defRPr sz="2100">
                <a:solidFill>
                  <a:srgbClr val="176B87"/>
                </a:solidFill>
                <a:latin typeface="Arial Unicode MS"/>
                <a:ea typeface="Arial Unicode MS"/>
                <a:cs typeface="Arial Unicode MS"/>
              </a:defRPr>
            </a:lvl9pPr>
          </a:lstStyle>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B0006局部窗口</a:t>
            </a:r>
          </a:p>
        </p:txBody>
      </p:sp>
      <p:graphicFrame>
        <p:nvGraphicFramePr>
          <p:cNvPr id="5" name="Chart">
            <a:extLst xmlns:a="http://schemas.openxmlformats.org/drawingml/2006/main">
              <a:ext uri="{FF2B5EF4-FFF2-40B4-BE49-F238E27FC236}">
                <a16:creationId xmlns:a16="http://schemas.microsoft.com/office/drawing/2014/main" id="{680F8C96-B230-4ECD-85E0-5A32FDFC843B}"/>
              </a:ext>
            </a:extLst>
          </p:cNvPr>
          <p:cNvGraphicFramePr/>
          <p:nvPr/>
        </p:nvGraphicFramePr>
        <p:xfrm>
          <a:off xmlns:a="http://schemas.openxmlformats.org/drawingml/2006/main" x="619125" y="1952625"/>
          <a:ext xmlns:a="http://schemas.openxmlformats.org/drawingml/2006/main" cx="5238750" cy="3190875"/>
        </p:xfrm>
        <a:graphic xmlns:a="http://schemas.openxmlformats.org/drawingml/2006/main">
          <a:graphicData uri="http://schemas.openxmlformats.org/drawingml/2006/chart">
            <c:chart xmlns:r="http://schemas.openxmlformats.org/officeDocument/2006/relationships" xmlns:c="http://schemas.openxmlformats.org/drawingml/2006/chart" r:id="Rb9628cd570554c69"/>
          </a:graphicData>
        </a:graphic>
      </p:graphicFrame>
      <p:sp>
        <p:nvSpPr>
          <p:cNvPr id="6" name="">
            <a:extLst xmlns:a="http://schemas.openxmlformats.org/drawingml/2006/main">
              <a:ext uri="{FF2B5EF4-FFF2-40B4-BE49-F238E27FC236}">
                <a16:creationId xmlns:a16="http://schemas.microsoft.com/office/drawing/2014/main" id="{E92045DD-ACF7-4066-AE23-00FCBD384F23}"/>
              </a:ext>
            </a:extLst>
          </p:cNvPr>
          <p:cNvSpPr>
            <a:spLocks xmlns:a="http://schemas.openxmlformats.org/drawingml/2006/main" noGrp="1"/>
          </p:cNvSpPr>
          <p:nvPr/>
        </p:nvSpPr>
        <p:spPr>
          <a:xfrm xmlns:a="http://schemas.openxmlformats.org/drawingml/2006/main">
            <a:off x="6143625" y="1428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6B87"/>
                </a:solidFill>
                <a:latin typeface="Arial Unicode MS"/>
                <a:ea typeface="Arial Unicode MS"/>
                <a:cs typeface="Arial Unicode MS"/>
              </a:defRPr>
            </a:defPPr>
            <a:lvl1pPr>
              <a:buNone/>
              <a:defRPr sz="2100">
                <a:solidFill>
                  <a:srgbClr val="176B87"/>
                </a:solidFill>
                <a:latin typeface="Arial Unicode MS"/>
                <a:ea typeface="Arial Unicode MS"/>
                <a:cs typeface="Arial Unicode MS"/>
              </a:defRPr>
            </a:lvl1pPr>
            <a:lvl2pPr>
              <a:buNone/>
              <a:defRPr sz="2100">
                <a:solidFill>
                  <a:srgbClr val="176B87"/>
                </a:solidFill>
                <a:latin typeface="Arial Unicode MS"/>
                <a:ea typeface="Arial Unicode MS"/>
                <a:cs typeface="Arial Unicode MS"/>
              </a:defRPr>
            </a:lvl2pPr>
            <a:lvl3pPr>
              <a:buNone/>
              <a:defRPr sz="2100">
                <a:solidFill>
                  <a:srgbClr val="176B87"/>
                </a:solidFill>
                <a:latin typeface="Arial Unicode MS"/>
                <a:ea typeface="Arial Unicode MS"/>
                <a:cs typeface="Arial Unicode MS"/>
              </a:defRPr>
            </a:lvl3pPr>
            <a:lvl4pPr>
              <a:buNone/>
              <a:defRPr sz="2100">
                <a:solidFill>
                  <a:srgbClr val="176B87"/>
                </a:solidFill>
                <a:latin typeface="Arial Unicode MS"/>
                <a:ea typeface="Arial Unicode MS"/>
                <a:cs typeface="Arial Unicode MS"/>
              </a:defRPr>
            </a:lvl4pPr>
            <a:lvl5pPr>
              <a:buNone/>
              <a:defRPr sz="2100">
                <a:solidFill>
                  <a:srgbClr val="176B87"/>
                </a:solidFill>
                <a:latin typeface="Arial Unicode MS"/>
                <a:ea typeface="Arial Unicode MS"/>
                <a:cs typeface="Arial Unicode MS"/>
              </a:defRPr>
            </a:lvl5pPr>
            <a:lvl6pPr>
              <a:buNone/>
              <a:defRPr sz="2100">
                <a:solidFill>
                  <a:srgbClr val="176B87"/>
                </a:solidFill>
                <a:latin typeface="Arial Unicode MS"/>
                <a:ea typeface="Arial Unicode MS"/>
                <a:cs typeface="Arial Unicode MS"/>
              </a:defRPr>
            </a:lvl6pPr>
            <a:lvl7pPr>
              <a:buNone/>
              <a:defRPr sz="2100">
                <a:solidFill>
                  <a:srgbClr val="176B87"/>
                </a:solidFill>
                <a:latin typeface="Arial Unicode MS"/>
                <a:ea typeface="Arial Unicode MS"/>
                <a:cs typeface="Arial Unicode MS"/>
              </a:defRPr>
            </a:lvl7pPr>
            <a:lvl8pPr>
              <a:buNone/>
              <a:defRPr sz="2100">
                <a:solidFill>
                  <a:srgbClr val="176B87"/>
                </a:solidFill>
                <a:latin typeface="Arial Unicode MS"/>
                <a:ea typeface="Arial Unicode MS"/>
                <a:cs typeface="Arial Unicode MS"/>
              </a:defRPr>
            </a:lvl8pPr>
            <a:lvl9pPr>
              <a:buNone/>
              <a:defRPr sz="2100">
                <a:solidFill>
                  <a:srgbClr val="176B87"/>
                </a:solidFill>
                <a:latin typeface="Arial Unicode MS"/>
                <a:ea typeface="Arial Unicode MS"/>
                <a:cs typeface="Arial Unicode MS"/>
              </a:defRPr>
            </a:lvl9pPr>
          </a:lstStyle>
          <a:p xmlns:a="http://schemas.openxmlformats.org/drawingml/2006/main">
            <a:pPr>
              <a:buNone/>
              <a:defRPr sz="2100">
                <a:solidFill>
                  <a:srgbClr val="176B87"/>
                </a:solidFill>
                <a:latin typeface="Arial Unicode MS"/>
                <a:ea typeface="Arial Unicode MS"/>
                <a:cs typeface="Arial Unicode MS"/>
              </a:defRPr>
            </a:pPr>
            <a:r>
              <a:rPr sz="2100">
                <a:solidFill>
                  <a:srgbClr val="176B87"/>
                </a:solidFill>
                <a:latin typeface="Arial Unicode MS"/>
                <a:ea typeface="Arial Unicode MS"/>
                <a:cs typeface="Arial Unicode MS"/>
              </a:rPr>
              <a:t>B0018局部窗口</a:t>
            </a:r>
          </a:p>
        </p:txBody>
      </p:sp>
      <p:graphicFrame>
        <p:nvGraphicFramePr>
          <p:cNvPr id="7" name="Chart">
            <a:extLst xmlns:a="http://schemas.openxmlformats.org/drawingml/2006/main">
              <a:ext uri="{FF2B5EF4-FFF2-40B4-BE49-F238E27FC236}">
                <a16:creationId xmlns:a16="http://schemas.microsoft.com/office/drawing/2014/main" id="{30B0004E-8E80-413A-B5F5-B7DDCE706578}"/>
              </a:ext>
            </a:extLst>
          </p:cNvPr>
          <p:cNvGraphicFramePr/>
          <p:nvPr/>
        </p:nvGraphicFramePr>
        <p:xfrm>
          <a:off xmlns:a="http://schemas.openxmlformats.org/drawingml/2006/main" x="6143625" y="1952625"/>
          <a:ext xmlns:a="http://schemas.openxmlformats.org/drawingml/2006/main" cx="5238750" cy="3190875"/>
        </p:xfrm>
        <a:graphic xmlns:a="http://schemas.openxmlformats.org/drawingml/2006/main">
          <a:graphicData uri="http://schemas.openxmlformats.org/drawingml/2006/chart">
            <c:chart xmlns:r="http://schemas.openxmlformats.org/officeDocument/2006/relationships" xmlns:c="http://schemas.openxmlformats.org/drawingml/2006/chart" r:id="R7ebeeccc0893436d"/>
          </a:graphicData>
        </a:graphic>
      </p:graphicFrame>
      <p:sp>
        <p:nvSpPr>
          <p:cNvPr id="8" name="">
            <a:extLst xmlns:a="http://schemas.openxmlformats.org/drawingml/2006/main">
              <a:ext uri="{FF2B5EF4-FFF2-40B4-BE49-F238E27FC236}">
                <a16:creationId xmlns:a16="http://schemas.microsoft.com/office/drawing/2014/main" id="{103F0490-90F7-4192-9B47-1E1F409F597B}"/>
              </a:ext>
            </a:extLst>
          </p:cNvPr>
          <p:cNvSpPr>
            <a:spLocks xmlns:a="http://schemas.openxmlformats.org/drawingml/2006/main" noGrp="1"/>
          </p:cNvSpPr>
          <p:nvPr/>
        </p:nvSpPr>
        <p:spPr>
          <a:xfrm xmlns:a="http://schemas.openxmlformats.org/drawingml/2006/main">
            <a:off x="619125" y="53816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latin typeface="Arial Unicode MS"/>
                <a:ea typeface="Arial Unicode MS"/>
                <a:cs typeface="Arial Unicode MS"/>
              </a:defRPr>
            </a:defPPr>
            <a:lvl1pPr>
              <a:buNone/>
              <a:defRPr sz="1950">
                <a:solidFill>
                  <a:srgbClr val="172B3A"/>
                </a:solidFill>
                <a:latin typeface="Arial Unicode MS"/>
                <a:ea typeface="Arial Unicode MS"/>
                <a:cs typeface="Arial Unicode MS"/>
              </a:defRPr>
            </a:lvl1pPr>
            <a:lvl2pPr>
              <a:buNone/>
              <a:defRPr sz="1950">
                <a:solidFill>
                  <a:srgbClr val="172B3A"/>
                </a:solidFill>
                <a:latin typeface="Arial Unicode MS"/>
                <a:ea typeface="Arial Unicode MS"/>
                <a:cs typeface="Arial Unicode MS"/>
              </a:defRPr>
            </a:lvl2pPr>
            <a:lvl3pPr>
              <a:buNone/>
              <a:defRPr sz="1950">
                <a:solidFill>
                  <a:srgbClr val="172B3A"/>
                </a:solidFill>
                <a:latin typeface="Arial Unicode MS"/>
                <a:ea typeface="Arial Unicode MS"/>
                <a:cs typeface="Arial Unicode MS"/>
              </a:defRPr>
            </a:lvl3pPr>
            <a:lvl4pPr>
              <a:buNone/>
              <a:defRPr sz="1950">
                <a:solidFill>
                  <a:srgbClr val="172B3A"/>
                </a:solidFill>
                <a:latin typeface="Arial Unicode MS"/>
                <a:ea typeface="Arial Unicode MS"/>
                <a:cs typeface="Arial Unicode MS"/>
              </a:defRPr>
            </a:lvl4pPr>
            <a:lvl5pPr>
              <a:buNone/>
              <a:defRPr sz="1950">
                <a:solidFill>
                  <a:srgbClr val="172B3A"/>
                </a:solidFill>
                <a:latin typeface="Arial Unicode MS"/>
                <a:ea typeface="Arial Unicode MS"/>
                <a:cs typeface="Arial Unicode MS"/>
              </a:defRPr>
            </a:lvl5pPr>
            <a:lvl6pPr>
              <a:buNone/>
              <a:defRPr sz="1950">
                <a:solidFill>
                  <a:srgbClr val="172B3A"/>
                </a:solidFill>
                <a:latin typeface="Arial Unicode MS"/>
                <a:ea typeface="Arial Unicode MS"/>
                <a:cs typeface="Arial Unicode MS"/>
              </a:defRPr>
            </a:lvl6pPr>
            <a:lvl7pPr>
              <a:buNone/>
              <a:defRPr sz="1950">
                <a:solidFill>
                  <a:srgbClr val="172B3A"/>
                </a:solidFill>
                <a:latin typeface="Arial Unicode MS"/>
                <a:ea typeface="Arial Unicode MS"/>
                <a:cs typeface="Arial Unicode MS"/>
              </a:defRPr>
            </a:lvl7pPr>
            <a:lvl8pPr>
              <a:buNone/>
              <a:defRPr sz="1950">
                <a:solidFill>
                  <a:srgbClr val="172B3A"/>
                </a:solidFill>
                <a:latin typeface="Arial Unicode MS"/>
                <a:ea typeface="Arial Unicode MS"/>
                <a:cs typeface="Arial Unicode MS"/>
              </a:defRPr>
            </a:lvl8pPr>
            <a:lvl9pPr>
              <a:buNone/>
              <a:defRPr sz="1950">
                <a:solidFill>
                  <a:srgbClr val="172B3A"/>
                </a:solidFill>
                <a:latin typeface="Arial Unicode MS"/>
                <a:ea typeface="Arial Unicode MS"/>
                <a:cs typeface="Arial Unicode MS"/>
              </a:defRPr>
            </a:lvl9pPr>
          </a:lstStyle>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整体下降方向保持，但恢复峰值可能是真实信号。</a:t>
            </a:r>
          </a:p>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现有模型继续使用原值，处理版用于后续敏感性比较。</a:t>
            </a:r>
          </a:p>
        </p:txBody>
      </p:sp>
    </p:spTree>
    <p:extLst>
      <p:ext uri="{BB962C8B-B14F-4D97-AF65-F5344CB8AC3E}">
        <p14:creationId xmlns:p14="http://schemas.microsoft.com/office/powerpoint/2010/main" val="20002026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25768A-85E1-42F1-89C0-BF48D7BDD9E0}"/>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特征提取：用过去5次观测预测下一次</a:t>
            </a:r>
          </a:p>
        </p:txBody>
      </p:sp>
      <p:sp>
        <p:nvSpPr>
          <p:cNvPr id="2" name="">
            <a:extLst xmlns:a="http://schemas.openxmlformats.org/drawingml/2006/main">
              <a:ext uri="{FF2B5EF4-FFF2-40B4-BE49-F238E27FC236}">
                <a16:creationId xmlns:a16="http://schemas.microsoft.com/office/drawing/2014/main" id="{1D10ED98-CD48-4249-8A5D-D37FA9BBE90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CE8335B7-3E99-4565-A9A9-B57A675D8CAA}"/>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14</a:t>
            </a:r>
          </a:p>
        </p:txBody>
      </p:sp>
      <p:sp>
        <p:nvSpPr>
          <p:cNvPr id="4" name="">
            <a:extLst xmlns:a="http://schemas.openxmlformats.org/drawingml/2006/main">
              <a:ext uri="{FF2B5EF4-FFF2-40B4-BE49-F238E27FC236}">
                <a16:creationId xmlns:a16="http://schemas.microsoft.com/office/drawing/2014/main" id="{DDE4A5A7-8DCB-45CC-8A19-B5A345FD38F6}"/>
              </a:ext>
            </a:extLst>
          </p:cNvPr>
          <p:cNvSpPr>
            <a:spLocks xmlns:a="http://schemas.openxmlformats.org/drawingml/2006/main" noGrp="1"/>
          </p:cNvSpPr>
          <p:nvPr/>
        </p:nvSpPr>
        <p:spPr>
          <a:xfrm xmlns:a="http://schemas.openxmlformats.org/drawingml/2006/main">
            <a:off x="619125" y="147637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a:solidFill>
                  <a:srgbClr val="176B87"/>
                </a:solidFill>
                <a:latin typeface="Arial Unicode MS"/>
                <a:ea typeface="Arial Unicode MS"/>
                <a:cs typeface="Arial Unicode MS"/>
              </a:defRPr>
            </a:defPPr>
            <a:lvl1pPr>
              <a:buNone/>
              <a:defRPr sz="2400">
                <a:solidFill>
                  <a:srgbClr val="176B87"/>
                </a:solidFill>
                <a:latin typeface="Arial Unicode MS"/>
                <a:ea typeface="Arial Unicode MS"/>
                <a:cs typeface="Arial Unicode MS"/>
              </a:defRPr>
            </a:lvl1pPr>
            <a:lvl2pPr>
              <a:buNone/>
              <a:defRPr sz="2400">
                <a:solidFill>
                  <a:srgbClr val="176B87"/>
                </a:solidFill>
                <a:latin typeface="Arial Unicode MS"/>
                <a:ea typeface="Arial Unicode MS"/>
                <a:cs typeface="Arial Unicode MS"/>
              </a:defRPr>
            </a:lvl2pPr>
            <a:lvl3pPr>
              <a:buNone/>
              <a:defRPr sz="2400">
                <a:solidFill>
                  <a:srgbClr val="176B87"/>
                </a:solidFill>
                <a:latin typeface="Arial Unicode MS"/>
                <a:ea typeface="Arial Unicode MS"/>
                <a:cs typeface="Arial Unicode MS"/>
              </a:defRPr>
            </a:lvl3pPr>
            <a:lvl4pPr>
              <a:buNone/>
              <a:defRPr sz="2400">
                <a:solidFill>
                  <a:srgbClr val="176B87"/>
                </a:solidFill>
                <a:latin typeface="Arial Unicode MS"/>
                <a:ea typeface="Arial Unicode MS"/>
                <a:cs typeface="Arial Unicode MS"/>
              </a:defRPr>
            </a:lvl4pPr>
            <a:lvl5pPr>
              <a:buNone/>
              <a:defRPr sz="2400">
                <a:solidFill>
                  <a:srgbClr val="176B87"/>
                </a:solidFill>
                <a:latin typeface="Arial Unicode MS"/>
                <a:ea typeface="Arial Unicode MS"/>
                <a:cs typeface="Arial Unicode MS"/>
              </a:defRPr>
            </a:lvl5pPr>
            <a:lvl6pPr>
              <a:buNone/>
              <a:defRPr sz="2400">
                <a:solidFill>
                  <a:srgbClr val="176B87"/>
                </a:solidFill>
                <a:latin typeface="Arial Unicode MS"/>
                <a:ea typeface="Arial Unicode MS"/>
                <a:cs typeface="Arial Unicode MS"/>
              </a:defRPr>
            </a:lvl6pPr>
            <a:lvl7pPr>
              <a:buNone/>
              <a:defRPr sz="2400">
                <a:solidFill>
                  <a:srgbClr val="176B87"/>
                </a:solidFill>
                <a:latin typeface="Arial Unicode MS"/>
                <a:ea typeface="Arial Unicode MS"/>
                <a:cs typeface="Arial Unicode MS"/>
              </a:defRPr>
            </a:lvl7pPr>
            <a:lvl8pPr>
              <a:buNone/>
              <a:defRPr sz="2400">
                <a:solidFill>
                  <a:srgbClr val="176B87"/>
                </a:solidFill>
                <a:latin typeface="Arial Unicode MS"/>
                <a:ea typeface="Arial Unicode MS"/>
                <a:cs typeface="Arial Unicode MS"/>
              </a:defRPr>
            </a:lvl8pPr>
            <a:lvl9pPr>
              <a:buNone/>
              <a:defRPr sz="2400">
                <a:solidFill>
                  <a:srgbClr val="176B87"/>
                </a:solidFill>
                <a:latin typeface="Arial Unicode MS"/>
                <a:ea typeface="Arial Unicode MS"/>
                <a:cs typeface="Arial Unicode MS"/>
              </a:defRPr>
            </a:lvl9pPr>
          </a:lstStyle>
          <a:p xmlns:a="http://schemas.openxmlformats.org/drawingml/2006/main">
            <a:pPr>
              <a:buNone/>
              <a:defRPr sz="2400">
                <a:solidFill>
                  <a:srgbClr val="176B87"/>
                </a:solidFill>
                <a:latin typeface="Arial Unicode MS"/>
                <a:ea typeface="Arial Unicode MS"/>
                <a:cs typeface="Arial Unicode MS"/>
              </a:defRPr>
            </a:pPr>
            <a:r>
              <a:rPr sz="2400">
                <a:solidFill>
                  <a:srgbClr val="176B87"/>
                </a:solidFill>
                <a:latin typeface="Arial Unicode MS"/>
                <a:ea typeface="Arial Unicode MS"/>
                <a:cs typeface="Arial Unicode MS"/>
              </a:rPr>
              <a:t>目标：第t次放电容量（Ah）</a:t>
            </a:r>
          </a:p>
        </p:txBody>
      </p:sp>
      <p:graphicFrame>
        <p:nvGraphicFramePr>
          <p:cNvPr id="5" name="">
            <a:extLst xmlns:a="http://schemas.openxmlformats.org/drawingml/2006/main">
              <a:ext uri="{FF2B5EF4-FFF2-40B4-BE49-F238E27FC236}">
                <a16:creationId xmlns:a16="http://schemas.microsoft.com/office/drawing/2014/main" id="{E2347101-3EEE-4CD3-8EA9-2735E1B5E9A7}"/>
              </a:ext>
            </a:extLst>
          </p:cNvPr>
          <p:cNvGraphicFramePr/>
          <p:nvPr/>
        </p:nvGraphicFramePr>
        <p:xfrm>
          <a:off xmlns:a="http://schemas.openxmlformats.org/drawingml/2006/main" x="619125" y="2238375"/>
          <a:ext xmlns:a="http://schemas.openxmlformats.org/drawingml/2006/main" cx="10763250" cy="2667000"/>
        </p:xfrm>
        <a:graphic xmlns:a="http://schemas.openxmlformats.org/drawingml/2006/main">
          <a:graphicData uri="http://schemas.openxmlformats.org/drawingml/2006/table">
            <a:tbl>
              <a:tblPr/>
              <a:tblGrid>
                <a:gridCol w="3810000"/>
                <a:gridCol w="6953250"/>
              </a:tblGrid>
              <a:tr h="533400">
                <a:tc>
                  <a:txBody>
                    <a:bodyPr/>
                    <a:lstStyle/>
                    <a:p>
                      <a:r>
                        <a:rPr sz="1875">
                          <a:solidFill>
                            <a:srgbClr val="FFFFFF"/>
                          </a:solidFill>
                          <a:latin typeface="Arial Unicode MS"/>
                          <a:ea typeface="Arial Unicode MS"/>
                          <a:cs typeface="Arial Unicode MS"/>
                        </a:rPr>
                        <a:t>输入特征</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计算口径</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33400">
                <a:tc>
                  <a:txBody>
                    <a:bodyPr/>
                    <a:lstStyle/>
                    <a:p>
                      <a:r>
                        <a:rPr sz="1875">
                          <a:solidFill>
                            <a:srgbClr val="172B3A"/>
                          </a:solidFill>
                          <a:latin typeface="Arial Unicode MS"/>
                          <a:ea typeface="Arial Unicode MS"/>
                          <a:cs typeface="Arial Unicode MS"/>
                        </a:rPr>
                        <a:t>cycle</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目标循环次数t</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lag1_Ah</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第t−1次实测容量</a:t>
                      </a:r>
                    </a:p>
                  </a:txBody>
                  <a:tcPr marL="91440" marR="91440" marT="45720" marB="45720">
                    <a:lnR w="9525">
                      <a:solidFill>
                        <a:srgbClr val="D6E0E5"/>
                      </a:solidFill>
                    </a:lnR>
                    <a:lnB w="9525">
                      <a:solidFill>
                        <a:srgbClr val="D6E0E5"/>
                      </a:solidFill>
                    </a:lnB>
                    <a:solidFill>
                      <a:srgbClr val="FFFFFF"/>
                    </a:solidFill>
                  </a:tcPr>
                </a:tc>
              </a:tr>
              <a:tr h="533400">
                <a:tc>
                  <a:txBody>
                    <a:bodyPr/>
                    <a:lstStyle/>
                    <a:p>
                      <a:r>
                        <a:rPr sz="1875">
                          <a:solidFill>
                            <a:srgbClr val="172B3A"/>
                          </a:solidFill>
                          <a:latin typeface="Arial Unicode MS"/>
                          <a:ea typeface="Arial Unicode MS"/>
                          <a:cs typeface="Arial Unicode MS"/>
                        </a:rPr>
                        <a:t>mean5_Ah</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第t−5至t−1次容量均值</a:t>
                      </a:r>
                    </a:p>
                  </a:txBody>
                  <a:tcPr marL="91440" marR="91440" marT="45720" marB="45720">
                    <a:lnR w="9525">
                      <a:solidFill>
                        <a:srgbClr val="D6E0E5"/>
                      </a:solidFill>
                    </a:lnR>
                    <a:lnB w="9525">
                      <a:solidFill>
                        <a:srgbClr val="D6E0E5"/>
                      </a:solidFill>
                    </a:lnB>
                    <a:solidFill>
                      <a:srgbClr val="F0F5F7"/>
                    </a:solidFill>
                  </a:tcPr>
                </a:tc>
              </a:tr>
              <a:tr h="533400">
                <a:tc>
                  <a:txBody>
                    <a:bodyPr/>
                    <a:lstStyle/>
                    <a:p>
                      <a:r>
                        <a:rPr sz="1875">
                          <a:solidFill>
                            <a:srgbClr val="172B3A"/>
                          </a:solidFill>
                          <a:latin typeface="Arial Unicode MS"/>
                          <a:ea typeface="Arial Unicode MS"/>
                          <a:cs typeface="Arial Unicode MS"/>
                        </a:rPr>
                        <a:t>slope5_Ah_per_cycle</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此前5次容量的线性斜率（Ah/循环）</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E47532D-18BC-46E8-978A-404FD507E0CE}"/>
              </a:ext>
            </a:extLst>
          </p:cNvPr>
          <p:cNvSpPr>
            <a:spLocks xmlns:a="http://schemas.openxmlformats.org/drawingml/2006/main" noGrp="1"/>
          </p:cNvSpPr>
          <p:nvPr/>
        </p:nvSpPr>
        <p:spPr>
          <a:xfrm xmlns:a="http://schemas.openxmlformats.org/drawingml/2006/main">
            <a:off x="619125" y="523875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2B3A"/>
                </a:solidFill>
                <a:latin typeface="Arial Unicode MS"/>
                <a:ea typeface="Arial Unicode MS"/>
                <a:cs typeface="Arial Unicode MS"/>
              </a:defRPr>
            </a:defPPr>
            <a:lvl1pPr>
              <a:buNone/>
              <a:defRPr sz="1950">
                <a:solidFill>
                  <a:srgbClr val="172B3A"/>
                </a:solidFill>
                <a:latin typeface="Arial Unicode MS"/>
                <a:ea typeface="Arial Unicode MS"/>
                <a:cs typeface="Arial Unicode MS"/>
              </a:defRPr>
            </a:lvl1pPr>
            <a:lvl2pPr>
              <a:buNone/>
              <a:defRPr sz="1950">
                <a:solidFill>
                  <a:srgbClr val="172B3A"/>
                </a:solidFill>
                <a:latin typeface="Arial Unicode MS"/>
                <a:ea typeface="Arial Unicode MS"/>
                <a:cs typeface="Arial Unicode MS"/>
              </a:defRPr>
            </a:lvl2pPr>
            <a:lvl3pPr>
              <a:buNone/>
              <a:defRPr sz="1950">
                <a:solidFill>
                  <a:srgbClr val="172B3A"/>
                </a:solidFill>
                <a:latin typeface="Arial Unicode MS"/>
                <a:ea typeface="Arial Unicode MS"/>
                <a:cs typeface="Arial Unicode MS"/>
              </a:defRPr>
            </a:lvl3pPr>
            <a:lvl4pPr>
              <a:buNone/>
              <a:defRPr sz="1950">
                <a:solidFill>
                  <a:srgbClr val="172B3A"/>
                </a:solidFill>
                <a:latin typeface="Arial Unicode MS"/>
                <a:ea typeface="Arial Unicode MS"/>
                <a:cs typeface="Arial Unicode MS"/>
              </a:defRPr>
            </a:lvl4pPr>
            <a:lvl5pPr>
              <a:buNone/>
              <a:defRPr sz="1950">
                <a:solidFill>
                  <a:srgbClr val="172B3A"/>
                </a:solidFill>
                <a:latin typeface="Arial Unicode MS"/>
                <a:ea typeface="Arial Unicode MS"/>
                <a:cs typeface="Arial Unicode MS"/>
              </a:defRPr>
            </a:lvl5pPr>
            <a:lvl6pPr>
              <a:buNone/>
              <a:defRPr sz="1950">
                <a:solidFill>
                  <a:srgbClr val="172B3A"/>
                </a:solidFill>
                <a:latin typeface="Arial Unicode MS"/>
                <a:ea typeface="Arial Unicode MS"/>
                <a:cs typeface="Arial Unicode MS"/>
              </a:defRPr>
            </a:lvl6pPr>
            <a:lvl7pPr>
              <a:buNone/>
              <a:defRPr sz="1950">
                <a:solidFill>
                  <a:srgbClr val="172B3A"/>
                </a:solidFill>
                <a:latin typeface="Arial Unicode MS"/>
                <a:ea typeface="Arial Unicode MS"/>
                <a:cs typeface="Arial Unicode MS"/>
              </a:defRPr>
            </a:lvl7pPr>
            <a:lvl8pPr>
              <a:buNone/>
              <a:defRPr sz="1950">
                <a:solidFill>
                  <a:srgbClr val="172B3A"/>
                </a:solidFill>
                <a:latin typeface="Arial Unicode MS"/>
                <a:ea typeface="Arial Unicode MS"/>
                <a:cs typeface="Arial Unicode MS"/>
              </a:defRPr>
            </a:lvl8pPr>
            <a:lvl9pPr>
              <a:buNone/>
              <a:defRPr sz="1950">
                <a:solidFill>
                  <a:srgbClr val="172B3A"/>
                </a:solidFill>
                <a:latin typeface="Arial Unicode MS"/>
                <a:ea typeface="Arial Unicode MS"/>
                <a:cs typeface="Arial Unicode MS"/>
              </a:defRPr>
            </a:lvl9pPr>
          </a:lstStyle>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先shift(1)，再rolling(5)。636条观测形成616条建模样本。</a:t>
            </a:r>
          </a:p>
          <a:p xmlns:a="http://schemas.openxmlformats.org/drawingml/2006/main">
            <a:pPr>
              <a:buNone/>
              <a:defRPr sz="1950">
                <a:solidFill>
                  <a:srgbClr val="172B3A"/>
                </a:solidFill>
                <a:latin typeface="Arial Unicode MS"/>
                <a:ea typeface="Arial Unicode MS"/>
                <a:cs typeface="Arial Unicode MS"/>
              </a:defRPr>
            </a:pPr>
            <a:r>
              <a:rPr sz="1950">
                <a:solidFill>
                  <a:srgbClr val="172B3A"/>
                </a:solidFill>
                <a:latin typeface="Arial Unicode MS"/>
                <a:ea typeface="Arial Unicode MS"/>
                <a:cs typeface="Arial Unicode MS"/>
              </a:rPr>
              <a:t>温度均为24℃，没有可用于区分样本的变化。</a:t>
            </a:r>
          </a:p>
        </p:txBody>
      </p:sp>
    </p:spTree>
    <p:extLst>
      <p:ext uri="{BB962C8B-B14F-4D97-AF65-F5344CB8AC3E}">
        <p14:creationId xmlns:p14="http://schemas.microsoft.com/office/powerpoint/2010/main" val="3525798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DF4ABF-EAF9-4669-858B-781527371561}"/>
              </a:ext>
            </a:extLst>
          </p:cNvPr>
          <p:cNvSpPr>
            <a:spLocks xmlns:a="http://schemas.openxmlformats.org/drawingml/2006/main" noGrp="1"/>
          </p:cNvSpPr>
          <p:nvPr/>
        </p:nvSpPr>
        <p:spPr>
          <a:xfrm xmlns:a="http://schemas.openxmlformats.org/drawingml/2006/main">
            <a:off x="571500" y="3810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时间划分与预测方式</a:t>
            </a:r>
          </a:p>
        </p:txBody>
      </p:sp>
      <p:sp>
        <p:nvSpPr>
          <p:cNvPr id="2" name="">
            <a:extLst xmlns:a="http://schemas.openxmlformats.org/drawingml/2006/main">
              <a:ext uri="{FF2B5EF4-FFF2-40B4-BE49-F238E27FC236}">
                <a16:creationId xmlns:a16="http://schemas.microsoft.com/office/drawing/2014/main" id="{9AE88EB3-E486-45E1-A655-3511D0169C8F}"/>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6182837B-5DDB-41F0-BDF2-F2E6DD25EAE7}"/>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15</a:t>
            </a:r>
          </a:p>
        </p:txBody>
      </p:sp>
      <p:graphicFrame>
        <p:nvGraphicFramePr>
          <p:cNvPr id="4" name="">
            <a:extLst xmlns:a="http://schemas.openxmlformats.org/drawingml/2006/main">
              <a:ext uri="{FF2B5EF4-FFF2-40B4-BE49-F238E27FC236}">
                <a16:creationId xmlns:a16="http://schemas.microsoft.com/office/drawing/2014/main" id="{2F88DF17-B4E7-499F-9E5E-02EB26C659C7}"/>
              </a:ext>
            </a:extLst>
          </p:cNvPr>
          <p:cNvGraphicFramePr/>
          <p:nvPr/>
        </p:nvGraphicFramePr>
        <p:xfrm>
          <a:off xmlns:a="http://schemas.openxmlformats.org/drawingml/2006/main" x="619125" y="1571625"/>
          <a:ext xmlns:a="http://schemas.openxmlformats.org/drawingml/2006/main" cx="10763250" cy="2047875"/>
        </p:xfrm>
        <a:graphic xmlns:a="http://schemas.openxmlformats.org/drawingml/2006/main">
          <a:graphicData uri="http://schemas.openxmlformats.org/drawingml/2006/table">
            <a:tbl>
              <a:tblPr/>
              <a:tblGrid>
                <a:gridCol w="2762250"/>
                <a:gridCol w="2667000"/>
                <a:gridCol w="2667000"/>
                <a:gridCol w="2667000"/>
              </a:tblGrid>
              <a:tr h="682625">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训练目标循环</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验证目标循环</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测试目标循环</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682625">
                <a:tc>
                  <a:txBody>
                    <a:bodyPr/>
                    <a:lstStyle/>
                    <a:p>
                      <a:r>
                        <a:rPr sz="1875">
                          <a:solidFill>
                            <a:srgbClr val="172B3A"/>
                          </a:solidFill>
                          <a:latin typeface="Arial Unicode MS"/>
                          <a:ea typeface="Arial Unicode MS"/>
                          <a:cs typeface="Arial Unicode MS"/>
                        </a:rPr>
                        <a:t>B0005/06/07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6–100（95条）</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101–134（34条）</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135–168（34条）</a:t>
                      </a:r>
                    </a:p>
                  </a:txBody>
                  <a:tcPr marL="91440" marR="91440" marT="45720" marB="45720">
                    <a:lnR w="9525">
                      <a:solidFill>
                        <a:srgbClr val="D6E0E5"/>
                      </a:solidFill>
                    </a:lnR>
                    <a:lnB w="9525">
                      <a:solidFill>
                        <a:srgbClr val="D6E0E5"/>
                      </a:solidFill>
                    </a:lnB>
                    <a:solidFill>
                      <a:srgbClr val="F0F5F7"/>
                    </a:solidFill>
                  </a:tcPr>
                </a:tc>
              </a:tr>
              <a:tr h="682625">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6–79（74条）</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80–105（26条）</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106–132（27条）</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EE8F697-FBE4-4E6D-982E-645566AE9755}"/>
              </a:ext>
            </a:extLst>
          </p:cNvPr>
          <p:cNvSpPr>
            <a:spLocks xmlns:a="http://schemas.openxmlformats.org/drawingml/2006/main" noGrp="1"/>
          </p:cNvSpPr>
          <p:nvPr/>
        </p:nvSpPr>
        <p:spPr>
          <a:xfrm xmlns:a="http://schemas.openxmlformats.org/drawingml/2006/main">
            <a:off x="619125" y="4000500"/>
            <a:ext cx="10763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a:solidFill>
                  <a:srgbClr val="172B3A"/>
                </a:solidFill>
                <a:latin typeface="Arial Unicode MS"/>
                <a:ea typeface="Arial Unicode MS"/>
                <a:cs typeface="Arial Unicode MS"/>
              </a:defRPr>
            </a:defPPr>
            <a:lvl1pPr>
              <a:buNone/>
              <a:defRPr sz="2100">
                <a:solidFill>
                  <a:srgbClr val="172B3A"/>
                </a:solidFill>
                <a:latin typeface="Arial Unicode MS"/>
                <a:ea typeface="Arial Unicode MS"/>
                <a:cs typeface="Arial Unicode MS"/>
              </a:defRPr>
            </a:lvl1pPr>
            <a:lvl2pPr>
              <a:buNone/>
              <a:defRPr sz="2100">
                <a:solidFill>
                  <a:srgbClr val="172B3A"/>
                </a:solidFill>
                <a:latin typeface="Arial Unicode MS"/>
                <a:ea typeface="Arial Unicode MS"/>
                <a:cs typeface="Arial Unicode MS"/>
              </a:defRPr>
            </a:lvl2pPr>
            <a:lvl3pPr>
              <a:buNone/>
              <a:defRPr sz="2100">
                <a:solidFill>
                  <a:srgbClr val="172B3A"/>
                </a:solidFill>
                <a:latin typeface="Arial Unicode MS"/>
                <a:ea typeface="Arial Unicode MS"/>
                <a:cs typeface="Arial Unicode MS"/>
              </a:defRPr>
            </a:lvl3pPr>
            <a:lvl4pPr>
              <a:buNone/>
              <a:defRPr sz="2100">
                <a:solidFill>
                  <a:srgbClr val="172B3A"/>
                </a:solidFill>
                <a:latin typeface="Arial Unicode MS"/>
                <a:ea typeface="Arial Unicode MS"/>
                <a:cs typeface="Arial Unicode MS"/>
              </a:defRPr>
            </a:lvl4pPr>
            <a:lvl5pPr>
              <a:buNone/>
              <a:defRPr sz="2100">
                <a:solidFill>
                  <a:srgbClr val="172B3A"/>
                </a:solidFill>
                <a:latin typeface="Arial Unicode MS"/>
                <a:ea typeface="Arial Unicode MS"/>
                <a:cs typeface="Arial Unicode MS"/>
              </a:defRPr>
            </a:lvl5pPr>
            <a:lvl6pPr>
              <a:buNone/>
              <a:defRPr sz="2100">
                <a:solidFill>
                  <a:srgbClr val="172B3A"/>
                </a:solidFill>
                <a:latin typeface="Arial Unicode MS"/>
                <a:ea typeface="Arial Unicode MS"/>
                <a:cs typeface="Arial Unicode MS"/>
              </a:defRPr>
            </a:lvl6pPr>
            <a:lvl7pPr>
              <a:buNone/>
              <a:defRPr sz="2100">
                <a:solidFill>
                  <a:srgbClr val="172B3A"/>
                </a:solidFill>
                <a:latin typeface="Arial Unicode MS"/>
                <a:ea typeface="Arial Unicode MS"/>
                <a:cs typeface="Arial Unicode MS"/>
              </a:defRPr>
            </a:lvl7pPr>
            <a:lvl8pPr>
              <a:buNone/>
              <a:defRPr sz="2100">
                <a:solidFill>
                  <a:srgbClr val="172B3A"/>
                </a:solidFill>
                <a:latin typeface="Arial Unicode MS"/>
                <a:ea typeface="Arial Unicode MS"/>
                <a:cs typeface="Arial Unicode MS"/>
              </a:defRPr>
            </a:lvl8pPr>
            <a:lvl9pPr>
              <a:buNone/>
              <a:defRPr sz="2100">
                <a:solidFill>
                  <a:srgbClr val="172B3A"/>
                </a:solidFill>
                <a:latin typeface="Arial Unicode MS"/>
                <a:ea typeface="Arial Unicode MS"/>
                <a:cs typeface="Arial Unicode MS"/>
              </a:defRPr>
            </a:lvl9pPr>
          </a:lstStyle>
          <a:p xmlns:a="http://schemas.openxmlformats.org/drawingml/2006/main">
            <a:pPr>
              <a:buNone/>
              <a:defRPr sz="2100">
                <a:solidFill>
                  <a:srgbClr val="172B3A"/>
                </a:solidFill>
                <a:latin typeface="Arial Unicode MS"/>
                <a:ea typeface="Arial Unicode MS"/>
                <a:cs typeface="Arial Unicode MS"/>
              </a:defRPr>
            </a:pPr>
            <a:r>
              <a:rPr sz="2100">
                <a:solidFill>
                  <a:srgbClr val="172B3A"/>
                </a:solidFill>
                <a:latin typeface="Arial Unicode MS"/>
                <a:ea typeface="Arial Unicode MS"/>
                <a:cs typeface="Arial Unicode MS"/>
              </a:rPr>
              <a:t>每块电池分别拟合，所有方法使用同一时间划分</a:t>
            </a:r>
          </a:p>
          <a:p xmlns:a="http://schemas.openxmlformats.org/drawingml/2006/main">
            <a:r>
              <a:t/>
            </a:r>
          </a:p>
          <a:p xmlns:a="http://schemas.openxmlformats.org/drawingml/2006/main">
            <a:pPr>
              <a:buNone/>
              <a:defRPr sz="2100">
                <a:solidFill>
                  <a:srgbClr val="172B3A"/>
                </a:solidFill>
                <a:latin typeface="Arial Unicode MS"/>
                <a:ea typeface="Arial Unicode MS"/>
                <a:cs typeface="Arial Unicode MS"/>
              </a:defRPr>
            </a:pPr>
            <a:r>
              <a:rPr sz="2100">
                <a:solidFill>
                  <a:srgbClr val="172B3A"/>
                </a:solidFill>
                <a:latin typeface="Arial Unicode MS"/>
                <a:ea typeface="Arial Unicode MS"/>
                <a:cs typeface="Arial Unicode MS"/>
              </a:rPr>
              <a:t>验证段选择参数后，使用训练段＋验证段重新拟合</a:t>
            </a:r>
          </a:p>
          <a:p xmlns:a="http://schemas.openxmlformats.org/drawingml/2006/main">
            <a:r>
              <a:t/>
            </a:r>
          </a:p>
          <a:p xmlns:a="http://schemas.openxmlformats.org/drawingml/2006/main">
            <a:pPr>
              <a:buNone/>
              <a:defRPr sz="2100">
                <a:solidFill>
                  <a:srgbClr val="172B3A"/>
                </a:solidFill>
                <a:latin typeface="Arial Unicode MS"/>
                <a:ea typeface="Arial Unicode MS"/>
                <a:cs typeface="Arial Unicode MS"/>
              </a:defRPr>
            </a:pPr>
            <a:r>
              <a:rPr sz="2100">
                <a:solidFill>
                  <a:srgbClr val="172B3A"/>
                </a:solidFill>
                <a:latin typeface="Arial Unicode MS"/>
                <a:ea typeface="Arial Unicode MS"/>
                <a:cs typeface="Arial Unicode MS"/>
              </a:rPr>
              <a:t>测试时逐次获得历史实测容量，进行单步预测</a:t>
            </a:r>
          </a:p>
        </p:txBody>
      </p:sp>
    </p:spTree>
    <p:extLst>
      <p:ext uri="{BB962C8B-B14F-4D97-AF65-F5344CB8AC3E}">
        <p14:creationId xmlns:p14="http://schemas.microsoft.com/office/powerpoint/2010/main" val="139755703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841E56-40CD-48CA-8EF9-32CDAA0F97A5}"/>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两种主要模型的原理</a:t>
            </a:r>
          </a:p>
        </p:txBody>
      </p:sp>
      <p:sp>
        <p:nvSpPr>
          <p:cNvPr id="2" name="">
            <a:extLst xmlns:a="http://schemas.openxmlformats.org/drawingml/2006/main">
              <a:ext uri="{FF2B5EF4-FFF2-40B4-BE49-F238E27FC236}">
                <a16:creationId xmlns:a16="http://schemas.microsoft.com/office/drawing/2014/main" id="{B4EDEFDC-D563-4295-A15E-2F5BC0312459}"/>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56E38EC9-3E09-478A-9736-9D326C5A0A0A}"/>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16</a:t>
            </a:r>
          </a:p>
        </p:txBody>
      </p:sp>
      <p:graphicFrame>
        <p:nvGraphicFramePr>
          <p:cNvPr id="4" name="">
            <a:extLst xmlns:a="http://schemas.openxmlformats.org/drawingml/2006/main">
              <a:ext uri="{FF2B5EF4-FFF2-40B4-BE49-F238E27FC236}">
                <a16:creationId xmlns:a16="http://schemas.microsoft.com/office/drawing/2014/main" id="{4BE50360-729F-4BA4-AC92-D9B140E82798}"/>
              </a:ext>
            </a:extLst>
          </p:cNvPr>
          <p:cNvGraphicFramePr/>
          <p:nvPr/>
        </p:nvGraphicFramePr>
        <p:xfrm>
          <a:off xmlns:a="http://schemas.openxmlformats.org/drawingml/2006/main" x="619125" y="1524000"/>
          <a:ext xmlns:a="http://schemas.openxmlformats.org/drawingml/2006/main" cx="10763250" cy="3286125"/>
        </p:xfrm>
        <a:graphic xmlns:a="http://schemas.openxmlformats.org/drawingml/2006/main">
          <a:graphicData uri="http://schemas.openxmlformats.org/drawingml/2006/table">
            <a:tbl>
              <a:tblPr/>
              <a:tblGrid>
                <a:gridCol w="1905000"/>
                <a:gridCol w="4429125"/>
                <a:gridCol w="4429125"/>
              </a:tblGrid>
              <a:tr h="657225">
                <a:tc>
                  <a:txBody>
                    <a:bodyPr/>
                    <a:lstStyle/>
                    <a:p>
                      <a:r>
                        <a:rPr sz="1875">
                          <a:solidFill>
                            <a:srgbClr val="FFFFFF"/>
                          </a:solidFill>
                          <a:latin typeface="Arial Unicode MS"/>
                          <a:ea typeface="Arial Unicode MS"/>
                          <a:cs typeface="Arial Unicode MS"/>
                        </a:rPr>
                        <a:t>比较项</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普通线性回归</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随机森林回归</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657225">
                <a:tc>
                  <a:txBody>
                    <a:bodyPr/>
                    <a:lstStyle/>
                    <a:p>
                      <a:r>
                        <a:rPr sz="1875">
                          <a:solidFill>
                            <a:srgbClr val="172B3A"/>
                          </a:solidFill>
                          <a:latin typeface="Arial Unicode MS"/>
                          <a:ea typeface="Arial Unicode MS"/>
                          <a:cs typeface="Arial Unicode MS"/>
                        </a:rPr>
                        <a:t>函数形式</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四个输入的加权和加截距</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多棵决策树的分段关系平均</a:t>
                      </a:r>
                    </a:p>
                  </a:txBody>
                  <a:tcPr marL="91440" marR="91440" marT="45720" marB="45720">
                    <a:lnR w="9525">
                      <a:solidFill>
                        <a:srgbClr val="D6E0E5"/>
                      </a:solidFill>
                    </a:lnR>
                    <a:lnB w="9525">
                      <a:solidFill>
                        <a:srgbClr val="D6E0E5"/>
                      </a:solidFill>
                    </a:lnB>
                    <a:solidFill>
                      <a:srgbClr val="F0F5F7"/>
                    </a:solidFill>
                  </a:tcPr>
                </a:tc>
              </a:tr>
              <a:tr h="657225">
                <a:tc>
                  <a:txBody>
                    <a:bodyPr/>
                    <a:lstStyle/>
                    <a:p>
                      <a:r>
                        <a:rPr sz="1875">
                          <a:solidFill>
                            <a:srgbClr val="172B3A"/>
                          </a:solidFill>
                          <a:latin typeface="Arial Unicode MS"/>
                          <a:ea typeface="Arial Unicode MS"/>
                          <a:cs typeface="Arial Unicode MS"/>
                        </a:rPr>
                        <a:t>学习内容</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回归系数</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分裂阈值与叶节点均值</a:t>
                      </a:r>
                    </a:p>
                  </a:txBody>
                  <a:tcPr marL="91440" marR="91440" marT="45720" marB="45720">
                    <a:lnR w="9525">
                      <a:solidFill>
                        <a:srgbClr val="D6E0E5"/>
                      </a:solidFill>
                    </a:lnR>
                    <a:lnB w="9525">
                      <a:solidFill>
                        <a:srgbClr val="D6E0E5"/>
                      </a:solidFill>
                    </a:lnB>
                    <a:solidFill>
                      <a:srgbClr val="FFFFFF"/>
                    </a:solidFill>
                  </a:tcPr>
                </a:tc>
              </a:tr>
              <a:tr h="657225">
                <a:tc>
                  <a:txBody>
                    <a:bodyPr/>
                    <a:lstStyle/>
                    <a:p>
                      <a:r>
                        <a:rPr sz="1875">
                          <a:solidFill>
                            <a:srgbClr val="172B3A"/>
                          </a:solidFill>
                          <a:latin typeface="Arial Unicode MS"/>
                          <a:ea typeface="Arial Unicode MS"/>
                          <a:cs typeface="Arial Unicode MS"/>
                        </a:rPr>
                        <a:t>关系形状</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对输入呈线性</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可表达非线性与特征交互</a:t>
                      </a:r>
                    </a:p>
                  </a:txBody>
                  <a:tcPr marL="91440" marR="91440" marT="45720" marB="45720">
                    <a:lnR w="9525">
                      <a:solidFill>
                        <a:srgbClr val="D6E0E5"/>
                      </a:solidFill>
                    </a:lnR>
                    <a:lnB w="9525">
                      <a:solidFill>
                        <a:srgbClr val="D6E0E5"/>
                      </a:solidFill>
                    </a:lnB>
                    <a:solidFill>
                      <a:srgbClr val="F0F5F7"/>
                    </a:solidFill>
                  </a:tcPr>
                </a:tc>
              </a:tr>
              <a:tr h="657225">
                <a:tc>
                  <a:txBody>
                    <a:bodyPr/>
                    <a:lstStyle/>
                    <a:p>
                      <a:r>
                        <a:rPr sz="1875">
                          <a:solidFill>
                            <a:srgbClr val="172B3A"/>
                          </a:solidFill>
                          <a:latin typeface="Arial Unicode MS"/>
                          <a:ea typeface="Arial Unicode MS"/>
                          <a:cs typeface="Arial Unicode MS"/>
                        </a:rPr>
                        <a:t>参数选择</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本次无超参数搜索</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仅在验证段选择树深和叶大小</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452421D-6A10-43EA-A082-6A5AEDB824C4}"/>
              </a:ext>
            </a:extLst>
          </p:cNvPr>
          <p:cNvSpPr>
            <a:spLocks xmlns:a="http://schemas.openxmlformats.org/drawingml/2006/main" noGrp="1"/>
          </p:cNvSpPr>
          <p:nvPr/>
        </p:nvSpPr>
        <p:spPr>
          <a:xfrm xmlns:a="http://schemas.openxmlformats.org/drawingml/2006/main">
            <a:off x="619125" y="52863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a:solidFill>
                  <a:srgbClr val="176B87"/>
                </a:solidFill>
                <a:latin typeface="Arial Unicode MS"/>
                <a:ea typeface="Arial Unicode MS"/>
                <a:cs typeface="Arial Unicode MS"/>
              </a:defRPr>
            </a:defPPr>
            <a:lvl1pPr>
              <a:buNone/>
              <a:defRPr sz="1950">
                <a:solidFill>
                  <a:srgbClr val="176B87"/>
                </a:solidFill>
                <a:latin typeface="Arial Unicode MS"/>
                <a:ea typeface="Arial Unicode MS"/>
                <a:cs typeface="Arial Unicode MS"/>
              </a:defRPr>
            </a:lvl1pPr>
            <a:lvl2pPr>
              <a:buNone/>
              <a:defRPr sz="1950">
                <a:solidFill>
                  <a:srgbClr val="176B87"/>
                </a:solidFill>
                <a:latin typeface="Arial Unicode MS"/>
                <a:ea typeface="Arial Unicode MS"/>
                <a:cs typeface="Arial Unicode MS"/>
              </a:defRPr>
            </a:lvl2pPr>
            <a:lvl3pPr>
              <a:buNone/>
              <a:defRPr sz="1950">
                <a:solidFill>
                  <a:srgbClr val="176B87"/>
                </a:solidFill>
                <a:latin typeface="Arial Unicode MS"/>
                <a:ea typeface="Arial Unicode MS"/>
                <a:cs typeface="Arial Unicode MS"/>
              </a:defRPr>
            </a:lvl3pPr>
            <a:lvl4pPr>
              <a:buNone/>
              <a:defRPr sz="1950">
                <a:solidFill>
                  <a:srgbClr val="176B87"/>
                </a:solidFill>
                <a:latin typeface="Arial Unicode MS"/>
                <a:ea typeface="Arial Unicode MS"/>
                <a:cs typeface="Arial Unicode MS"/>
              </a:defRPr>
            </a:lvl4pPr>
            <a:lvl5pPr>
              <a:buNone/>
              <a:defRPr sz="1950">
                <a:solidFill>
                  <a:srgbClr val="176B87"/>
                </a:solidFill>
                <a:latin typeface="Arial Unicode MS"/>
                <a:ea typeface="Arial Unicode MS"/>
                <a:cs typeface="Arial Unicode MS"/>
              </a:defRPr>
            </a:lvl5pPr>
            <a:lvl6pPr>
              <a:buNone/>
              <a:defRPr sz="1950">
                <a:solidFill>
                  <a:srgbClr val="176B87"/>
                </a:solidFill>
                <a:latin typeface="Arial Unicode MS"/>
                <a:ea typeface="Arial Unicode MS"/>
                <a:cs typeface="Arial Unicode MS"/>
              </a:defRPr>
            </a:lvl6pPr>
            <a:lvl7pPr>
              <a:buNone/>
              <a:defRPr sz="1950">
                <a:solidFill>
                  <a:srgbClr val="176B87"/>
                </a:solidFill>
                <a:latin typeface="Arial Unicode MS"/>
                <a:ea typeface="Arial Unicode MS"/>
                <a:cs typeface="Arial Unicode MS"/>
              </a:defRPr>
            </a:lvl7pPr>
            <a:lvl8pPr>
              <a:buNone/>
              <a:defRPr sz="1950">
                <a:solidFill>
                  <a:srgbClr val="176B87"/>
                </a:solidFill>
                <a:latin typeface="Arial Unicode MS"/>
                <a:ea typeface="Arial Unicode MS"/>
                <a:cs typeface="Arial Unicode MS"/>
              </a:defRPr>
            </a:lvl8pPr>
            <a:lvl9pPr>
              <a:buNone/>
              <a:defRPr sz="1950">
                <a:solidFill>
                  <a:srgbClr val="176B87"/>
                </a:solidFill>
                <a:latin typeface="Arial Unicode MS"/>
                <a:ea typeface="Arial Unicode MS"/>
                <a:cs typeface="Arial Unicode MS"/>
              </a:defRPr>
            </a:lvl9pPr>
          </a:lstStyle>
          <a:p xmlns:a="http://schemas.openxmlformats.org/drawingml/2006/main">
            <a:pPr>
              <a:buNone/>
              <a:defRPr sz="1950">
                <a:solidFill>
                  <a:srgbClr val="176B87"/>
                </a:solidFill>
                <a:latin typeface="Arial Unicode MS"/>
                <a:ea typeface="Arial Unicode MS"/>
                <a:cs typeface="Arial Unicode MS"/>
              </a:defRPr>
            </a:pPr>
            <a:r>
              <a:rPr sz="1950">
                <a:solidFill>
                  <a:srgbClr val="176B87"/>
                </a:solidFill>
                <a:latin typeface="Arial Unicode MS"/>
                <a:ea typeface="Arial Unicode MS"/>
                <a:cs typeface="Arial Unicode MS"/>
              </a:rPr>
              <a:t>相同输入：循环次数、上次容量、最近5次均值和斜率</a:t>
            </a:r>
          </a:p>
          <a:p xmlns:a="http://schemas.openxmlformats.org/drawingml/2006/main">
            <a:pPr>
              <a:buNone/>
              <a:defRPr sz="1950">
                <a:solidFill>
                  <a:srgbClr val="176B87"/>
                </a:solidFill>
                <a:latin typeface="Arial Unicode MS"/>
                <a:ea typeface="Arial Unicode MS"/>
                <a:cs typeface="Arial Unicode MS"/>
              </a:defRPr>
            </a:pPr>
            <a:r>
              <a:rPr sz="1950">
                <a:solidFill>
                  <a:srgbClr val="176B87"/>
                </a:solidFill>
                <a:latin typeface="Arial Unicode MS"/>
                <a:ea typeface="Arial Unicode MS"/>
                <a:cs typeface="Arial Unicode MS"/>
              </a:rPr>
              <a:t>相同目标：下一次循环容量    相同时间划分：60% / 20% / 20%</a:t>
            </a:r>
          </a:p>
        </p:txBody>
      </p:sp>
    </p:spTree>
    <p:extLst>
      <p:ext uri="{BB962C8B-B14F-4D97-AF65-F5344CB8AC3E}">
        <p14:creationId xmlns:p14="http://schemas.microsoft.com/office/powerpoint/2010/main" val="109061625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48E79E-52DE-4A33-92AD-C3C8E26DC1B2}"/>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03 / 普通最小二乘线性回归</a:t>
            </a:r>
          </a:p>
        </p:txBody>
      </p:sp>
      <p:sp>
        <p:nvSpPr>
          <p:cNvPr id="2" name="">
            <a:extLst xmlns:a="http://schemas.openxmlformats.org/drawingml/2006/main">
              <a:ext uri="{FF2B5EF4-FFF2-40B4-BE49-F238E27FC236}">
                <a16:creationId xmlns:a16="http://schemas.microsoft.com/office/drawing/2014/main" id="{31BE7620-9FAF-4DEF-B077-FAED31FFE2EB}"/>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F8A57839-4C7D-4B6F-B7F8-2853E670D5F3}"/>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17</a:t>
            </a:r>
          </a:p>
        </p:txBody>
      </p:sp>
      <p:sp>
        <p:nvSpPr>
          <p:cNvPr id="4" name="">
            <a:extLst xmlns:a="http://schemas.openxmlformats.org/drawingml/2006/main">
              <a:ext uri="{FF2B5EF4-FFF2-40B4-BE49-F238E27FC236}">
                <a16:creationId xmlns:a16="http://schemas.microsoft.com/office/drawing/2014/main" id="{1783A548-51BD-4607-B126-A5F3F10E1602}"/>
              </a:ext>
            </a:extLst>
          </p:cNvPr>
          <p:cNvSpPr>
            <a:spLocks xmlns:a="http://schemas.openxmlformats.org/drawingml/2006/main" noGrp="1"/>
          </p:cNvSpPr>
          <p:nvPr/>
        </p:nvSpPr>
        <p:spPr>
          <a:xfrm xmlns:a="http://schemas.openxmlformats.org/drawingml/2006/main">
            <a:off x="619125" y="14287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预测容量＝截距＋四个特征的加权和</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测试目标共129个，预测第t次时历史最多到t−1</a:t>
            </a:r>
          </a:p>
        </p:txBody>
      </p:sp>
      <p:graphicFrame>
        <p:nvGraphicFramePr>
          <p:cNvPr id="5" name="">
            <a:extLst xmlns:a="http://schemas.openxmlformats.org/drawingml/2006/main">
              <a:ext uri="{FF2B5EF4-FFF2-40B4-BE49-F238E27FC236}">
                <a16:creationId xmlns:a16="http://schemas.microsoft.com/office/drawing/2014/main" id="{0073241A-A06E-4346-A968-2EA28B70219A}"/>
              </a:ext>
            </a:extLst>
          </p:cNvPr>
          <p:cNvGraphicFramePr/>
          <p:nvPr/>
        </p:nvGraphicFramePr>
        <p:xfrm>
          <a:off xmlns:a="http://schemas.openxmlformats.org/drawingml/2006/main" x="619125" y="2857500"/>
          <a:ext xmlns:a="http://schemas.openxmlformats.org/drawingml/2006/main" cx="10763250" cy="2524125"/>
        </p:xfrm>
        <a:graphic xmlns:a="http://schemas.openxmlformats.org/drawingml/2006/main">
          <a:graphicData uri="http://schemas.openxmlformats.org/drawingml/2006/table">
            <a:tbl>
              <a:tblPr/>
              <a:tblGrid>
                <a:gridCol w="2762250"/>
                <a:gridCol w="4000500"/>
                <a:gridCol w="4000500"/>
              </a:tblGrid>
              <a:tr h="504825">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回归测试RMSE 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基线测试RMSE 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04825">
                <a:tc>
                  <a:txBody>
                    <a:bodyPr/>
                    <a:lstStyle/>
                    <a:p>
                      <a:r>
                        <a:rPr sz="1875">
                          <a:solidFill>
                            <a:srgbClr val="172B3A"/>
                          </a:solidFill>
                          <a:latin typeface="Arial Unicode MS"/>
                          <a:ea typeface="Arial Unicode MS"/>
                          <a:cs typeface="Arial Unicode MS"/>
                        </a:rPr>
                        <a:t>B0005</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0.013114</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0.010001</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B0006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0.011730</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0.012239</a:t>
                      </a:r>
                    </a:p>
                  </a:txBody>
                  <a:tcPr marL="91440" marR="91440" marT="45720" marB="45720">
                    <a:lnR w="9525">
                      <a:solidFill>
                        <a:srgbClr val="D6E0E5"/>
                      </a:solidFill>
                    </a:lnR>
                    <a:lnB w="9525">
                      <a:solidFill>
                        <a:srgbClr val="D6E0E5"/>
                      </a:solidFill>
                    </a:lnB>
                    <a:solidFill>
                      <a:srgbClr val="FFFFFF"/>
                    </a:solidFill>
                  </a:tcPr>
                </a:tc>
              </a:tr>
              <a:tr h="504825">
                <a:tc>
                  <a:txBody>
                    <a:bodyPr/>
                    <a:lstStyle/>
                    <a:p>
                      <a:r>
                        <a:rPr sz="1875">
                          <a:solidFill>
                            <a:srgbClr val="172B3A"/>
                          </a:solidFill>
                          <a:latin typeface="Arial Unicode MS"/>
                          <a:ea typeface="Arial Unicode MS"/>
                          <a:cs typeface="Arial Unicode MS"/>
                        </a:rPr>
                        <a:t>B0007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0.011011</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0.008210</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0.033624</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0.027251</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F2E6DE2D-E47E-4CCE-BB2D-1D8FB3D86B13}"/>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B0006普通回归略优于基线，另外三块仍是基线误差更低。</a:t>
            </a:r>
          </a:p>
        </p:txBody>
      </p:sp>
    </p:spTree>
    <p:extLst>
      <p:ext uri="{BB962C8B-B14F-4D97-AF65-F5344CB8AC3E}">
        <p14:creationId xmlns:p14="http://schemas.microsoft.com/office/powerpoint/2010/main" val="18079627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22930D-58F1-4AA3-A930-E697BA973017}"/>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04 / 随机森林验证选参</a:t>
            </a:r>
          </a:p>
        </p:txBody>
      </p:sp>
      <p:sp>
        <p:nvSpPr>
          <p:cNvPr id="2" name="">
            <a:extLst xmlns:a="http://schemas.openxmlformats.org/drawingml/2006/main">
              <a:ext uri="{FF2B5EF4-FFF2-40B4-BE49-F238E27FC236}">
                <a16:creationId xmlns:a16="http://schemas.microsoft.com/office/drawing/2014/main" id="{929D277D-B2F5-472D-98E7-A0982A5CCA8E}"/>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0778589E-75B5-43CB-868D-CB5B42C8462E}"/>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18</a:t>
            </a:r>
          </a:p>
        </p:txBody>
      </p:sp>
      <p:sp>
        <p:nvSpPr>
          <p:cNvPr id="4" name="">
            <a:extLst xmlns:a="http://schemas.openxmlformats.org/drawingml/2006/main">
              <a:ext uri="{FF2B5EF4-FFF2-40B4-BE49-F238E27FC236}">
                <a16:creationId xmlns:a16="http://schemas.microsoft.com/office/drawing/2014/main" id="{8FFCFB7B-2299-4BA5-8982-C98C7357C326}"/>
              </a:ext>
            </a:extLst>
          </p:cNvPr>
          <p:cNvSpPr>
            <a:spLocks xmlns:a="http://schemas.openxmlformats.org/drawingml/2006/main" noGrp="1"/>
          </p:cNvSpPr>
          <p:nvPr/>
        </p:nvSpPr>
        <p:spPr>
          <a:xfrm xmlns:a="http://schemas.openxmlformats.org/drawingml/2006/main">
            <a:off x="619125" y="1476375"/>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300棵树   固定随机种子25121619</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6种参数组合，逐电池选择验证RMSE最低的一组</a:t>
            </a:r>
          </a:p>
        </p:txBody>
      </p:sp>
      <p:graphicFrame>
        <p:nvGraphicFramePr>
          <p:cNvPr id="5" name="">
            <a:extLst xmlns:a="http://schemas.openxmlformats.org/drawingml/2006/main">
              <a:ext uri="{FF2B5EF4-FFF2-40B4-BE49-F238E27FC236}">
                <a16:creationId xmlns:a16="http://schemas.microsoft.com/office/drawing/2014/main" id="{BF685407-9616-4496-B15B-5DF2202331B4}"/>
              </a:ext>
            </a:extLst>
          </p:cNvPr>
          <p:cNvGraphicFramePr/>
          <p:nvPr/>
        </p:nvGraphicFramePr>
        <p:xfrm>
          <a:off xmlns:a="http://schemas.openxmlformats.org/drawingml/2006/main" x="619125" y="2857500"/>
          <a:ext xmlns:a="http://schemas.openxmlformats.org/drawingml/2006/main" cx="10763250" cy="2524125"/>
        </p:xfrm>
        <a:graphic xmlns:a="http://schemas.openxmlformats.org/drawingml/2006/main">
          <a:graphicData uri="http://schemas.openxmlformats.org/drawingml/2006/table">
            <a:tbl>
              <a:tblPr/>
              <a:tblGrid>
                <a:gridCol w="2286000"/>
                <a:gridCol w="2476500"/>
                <a:gridCol w="2667000"/>
                <a:gridCol w="3333750"/>
              </a:tblGrid>
              <a:tr h="504825">
                <a:tc>
                  <a:txBody>
                    <a:bodyPr/>
                    <a:lstStyle/>
                    <a:p>
                      <a:r>
                        <a:rPr sz="1875">
                          <a:solidFill>
                            <a:srgbClr val="FFFFFF"/>
                          </a:solidFill>
                          <a:latin typeface="Arial Unicode MS"/>
                          <a:ea typeface="Arial Unicode MS"/>
                          <a:cs typeface="Arial Unicode MS"/>
                        </a:rPr>
                        <a:t>电池</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最大树深</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最少叶样本</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测试RMSE Ah</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04825">
                <a:tc>
                  <a:txBody>
                    <a:bodyPr/>
                    <a:lstStyle/>
                    <a:p>
                      <a:r>
                        <a:rPr sz="1875">
                          <a:solidFill>
                            <a:srgbClr val="172B3A"/>
                          </a:solidFill>
                          <a:latin typeface="Arial Unicode MS"/>
                          <a:ea typeface="Arial Unicode MS"/>
                          <a:cs typeface="Arial Unicode MS"/>
                        </a:rPr>
                        <a:t>B0005</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不限</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0.054133</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B0006</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不限</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0.100671</a:t>
                      </a:r>
                    </a:p>
                  </a:txBody>
                  <a:tcPr marL="91440" marR="91440" marT="45720" marB="45720">
                    <a:lnR w="9525">
                      <a:solidFill>
                        <a:srgbClr val="D6E0E5"/>
                      </a:solidFill>
                    </a:lnR>
                    <a:lnB w="9525">
                      <a:solidFill>
                        <a:srgbClr val="D6E0E5"/>
                      </a:solidFill>
                    </a:lnB>
                    <a:solidFill>
                      <a:srgbClr val="FFFFFF"/>
                    </a:solidFill>
                  </a:tcPr>
                </a:tc>
              </a:tr>
              <a:tr h="504825">
                <a:tc>
                  <a:txBody>
                    <a:bodyPr/>
                    <a:lstStyle/>
                    <a:p>
                      <a:r>
                        <a:rPr sz="1875">
                          <a:solidFill>
                            <a:srgbClr val="172B3A"/>
                          </a:solidFill>
                          <a:latin typeface="Arial Unicode MS"/>
                          <a:ea typeface="Arial Unicode MS"/>
                          <a:cs typeface="Arial Unicode MS"/>
                        </a:rPr>
                        <a:t>B0007</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不限</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0.051718</a:t>
                      </a:r>
                    </a:p>
                  </a:txBody>
                  <a:tcPr marL="91440" marR="91440" marT="45720" marB="45720">
                    <a:lnR w="9525">
                      <a:solidFill>
                        <a:srgbClr val="D6E0E5"/>
                      </a:solidFill>
                    </a:lnR>
                    <a:lnB w="9525">
                      <a:solidFill>
                        <a:srgbClr val="D6E0E5"/>
                      </a:solidFill>
                    </a:lnB>
                    <a:solidFill>
                      <a:srgbClr val="F0F5F7"/>
                    </a:solidFill>
                  </a:tcPr>
                </a:tc>
              </a:tr>
              <a:tr h="504825">
                <a:tc>
                  <a:txBody>
                    <a:bodyPr/>
                    <a:lstStyle/>
                    <a:p>
                      <a:r>
                        <a:rPr sz="1875">
                          <a:solidFill>
                            <a:srgbClr val="172B3A"/>
                          </a:solidFill>
                          <a:latin typeface="Arial Unicode MS"/>
                          <a:ea typeface="Arial Unicode MS"/>
                          <a:cs typeface="Arial Unicode MS"/>
                        </a:rPr>
                        <a:t>B0018</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4</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3</a:t>
                      </a:r>
                    </a:p>
                  </a:txBody>
                  <a:tcPr marL="91440" marR="91440" marT="45720" marB="45720">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0.028542</a:t>
                      </a:r>
                    </a:p>
                  </a:txBody>
                  <a:tcPr marL="91440" marR="91440" marT="45720" marB="45720">
                    <a:lnR w="9525">
                      <a:solidFill>
                        <a:srgbClr val="D6E0E5"/>
                      </a:solidFill>
                    </a:lnR>
                    <a:lnB w="9525">
                      <a:solidFill>
                        <a:srgbClr val="D6E0E5"/>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B6DB8ED-3C72-4B57-885B-EFC26915FEBA}"/>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固定模型预测绝对容量，叶节点均值限制了超出训练范围的外推。</a:t>
            </a:r>
          </a:p>
        </p:txBody>
      </p:sp>
    </p:spTree>
    <p:extLst>
      <p:ext uri="{BB962C8B-B14F-4D97-AF65-F5344CB8AC3E}">
        <p14:creationId xmlns:p14="http://schemas.microsoft.com/office/powerpoint/2010/main" val="10648115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F25426-A902-4BEA-9881-EF86264F3201}"/>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05 / 相同目标上的预测误差</a:t>
            </a:r>
          </a:p>
        </p:txBody>
      </p:sp>
      <p:sp>
        <p:nvSpPr>
          <p:cNvPr id="2" name="">
            <a:extLst xmlns:a="http://schemas.openxmlformats.org/drawingml/2006/main">
              <a:ext uri="{FF2B5EF4-FFF2-40B4-BE49-F238E27FC236}">
                <a16:creationId xmlns:a16="http://schemas.microsoft.com/office/drawing/2014/main" id="{185B17C6-6935-4F92-BE6F-3E260A8C6851}"/>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0802224D-0A54-46E4-9A6F-8E55C1DE910B}"/>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19</a:t>
            </a:r>
          </a:p>
        </p:txBody>
      </p:sp>
      <p:graphicFrame>
        <p:nvGraphicFramePr>
          <p:cNvPr id="4" name="Chart">
            <a:extLst xmlns:a="http://schemas.openxmlformats.org/drawingml/2006/main">
              <a:ext uri="{FF2B5EF4-FFF2-40B4-BE49-F238E27FC236}">
                <a16:creationId xmlns:a16="http://schemas.microsoft.com/office/drawing/2014/main" id="{48A84C4A-626D-49FE-853D-4306B58FAA4A}"/>
              </a:ext>
            </a:extLst>
          </p:cNvPr>
          <p:cNvGraphicFramePr/>
          <p:nvPr/>
        </p:nvGraphicFramePr>
        <p:xfrm>
          <a:off xmlns:a="http://schemas.openxmlformats.org/drawingml/2006/main" x="619125" y="1428750"/>
          <a:ext xmlns:a="http://schemas.openxmlformats.org/drawingml/2006/main" cx="10763250" cy="4048125"/>
        </p:xfrm>
        <a:graphic xmlns:a="http://schemas.openxmlformats.org/drawingml/2006/main">
          <a:graphicData uri="http://schemas.openxmlformats.org/drawingml/2006/chart">
            <c:chart xmlns:r="http://schemas.openxmlformats.org/officeDocument/2006/relationships" xmlns:c="http://schemas.openxmlformats.org/drawingml/2006/chart" r:id="R9a50f2954fbe4523"/>
          </a:graphicData>
        </a:graphic>
      </p:graphicFrame>
      <p:sp>
        <p:nvSpPr>
          <p:cNvPr id="5" name="">
            <a:extLst xmlns:a="http://schemas.openxmlformats.org/drawingml/2006/main">
              <a:ext uri="{FF2B5EF4-FFF2-40B4-BE49-F238E27FC236}">
                <a16:creationId xmlns:a16="http://schemas.microsoft.com/office/drawing/2014/main" id="{19D89FBB-BECA-47C1-AFB6-93B150A0A53B}"/>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四电池平均RMSE：基线0.014425  回归0.017370  森林0.058766 Ah</a:t>
            </a:r>
          </a:p>
        </p:txBody>
      </p:sp>
    </p:spTree>
    <p:extLst>
      <p:ext uri="{BB962C8B-B14F-4D97-AF65-F5344CB8AC3E}">
        <p14:creationId xmlns:p14="http://schemas.microsoft.com/office/powerpoint/2010/main" val="20581197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A4926C-4DF7-486C-B17A-DDFE71553351}"/>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05 / B0006实测容量与预测</a:t>
            </a:r>
          </a:p>
        </p:txBody>
      </p:sp>
      <p:sp>
        <p:nvSpPr>
          <p:cNvPr id="2" name="">
            <a:extLst xmlns:a="http://schemas.openxmlformats.org/drawingml/2006/main">
              <a:ext uri="{FF2B5EF4-FFF2-40B4-BE49-F238E27FC236}">
                <a16:creationId xmlns:a16="http://schemas.microsoft.com/office/drawing/2014/main" id="{447D7741-8B1A-487C-8537-BEA37708A310}"/>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33AF2A2B-9A1B-4C89-B4C4-56D84632EDA9}"/>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20</a:t>
            </a:r>
          </a:p>
        </p:txBody>
      </p:sp>
      <p:graphicFrame>
        <p:nvGraphicFramePr>
          <p:cNvPr id="4" name="Chart">
            <a:extLst xmlns:a="http://schemas.openxmlformats.org/drawingml/2006/main">
              <a:ext uri="{FF2B5EF4-FFF2-40B4-BE49-F238E27FC236}">
                <a16:creationId xmlns:a16="http://schemas.microsoft.com/office/drawing/2014/main" id="{B4C72159-1E81-4147-931A-14452582EEA3}"/>
              </a:ext>
            </a:extLst>
          </p:cNvPr>
          <p:cNvGraphicFramePr/>
          <p:nvPr/>
        </p:nvGraphicFramePr>
        <p:xfrm>
          <a:off xmlns:a="http://schemas.openxmlformats.org/drawingml/2006/main" x="619125" y="1381125"/>
          <a:ext xmlns:a="http://schemas.openxmlformats.org/drawingml/2006/main" cx="10763250" cy="4000500"/>
        </p:xfrm>
        <a:graphic xmlns:a="http://schemas.openxmlformats.org/drawingml/2006/main">
          <a:graphicData uri="http://schemas.openxmlformats.org/drawingml/2006/chart">
            <c:chart xmlns:r="http://schemas.openxmlformats.org/officeDocument/2006/relationships" xmlns:c="http://schemas.openxmlformats.org/drawingml/2006/chart" r:id="R556caffeb45e466b"/>
          </a:graphicData>
        </a:graphic>
      </p:graphicFrame>
      <p:sp>
        <p:nvSpPr>
          <p:cNvPr id="5" name="">
            <a:extLst xmlns:a="http://schemas.openxmlformats.org/drawingml/2006/main">
              <a:ext uri="{FF2B5EF4-FFF2-40B4-BE49-F238E27FC236}">
                <a16:creationId xmlns:a16="http://schemas.microsoft.com/office/drawing/2014/main" id="{7A226040-3245-4436-8D46-44D420AA1F72}"/>
              </a:ext>
            </a:extLst>
          </p:cNvPr>
          <p:cNvSpPr>
            <a:spLocks xmlns:a="http://schemas.openxmlformats.org/drawingml/2006/main" noGrp="1"/>
          </p:cNvSpPr>
          <p:nvPr/>
        </p:nvSpPr>
        <p:spPr>
          <a:xfrm xmlns:a="http://schemas.openxmlformats.org/drawingml/2006/main">
            <a:off x="619125" y="57626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172B3A"/>
                </a:solidFill>
                <a:latin typeface="Arial Unicode MS"/>
                <a:ea typeface="Arial Unicode MS"/>
                <a:cs typeface="Arial Unicode MS"/>
              </a:defRPr>
            </a:defPPr>
            <a:lvl1pPr>
              <a:buNone/>
              <a:defRPr sz="1875">
                <a:solidFill>
                  <a:srgbClr val="172B3A"/>
                </a:solidFill>
                <a:latin typeface="Arial Unicode MS"/>
                <a:ea typeface="Arial Unicode MS"/>
                <a:cs typeface="Arial Unicode MS"/>
              </a:defRPr>
            </a:lvl1pPr>
            <a:lvl2pPr>
              <a:buNone/>
              <a:defRPr sz="1875">
                <a:solidFill>
                  <a:srgbClr val="172B3A"/>
                </a:solidFill>
                <a:latin typeface="Arial Unicode MS"/>
                <a:ea typeface="Arial Unicode MS"/>
                <a:cs typeface="Arial Unicode MS"/>
              </a:defRPr>
            </a:lvl2pPr>
            <a:lvl3pPr>
              <a:buNone/>
              <a:defRPr sz="1875">
                <a:solidFill>
                  <a:srgbClr val="172B3A"/>
                </a:solidFill>
                <a:latin typeface="Arial Unicode MS"/>
                <a:ea typeface="Arial Unicode MS"/>
                <a:cs typeface="Arial Unicode MS"/>
              </a:defRPr>
            </a:lvl3pPr>
            <a:lvl4pPr>
              <a:buNone/>
              <a:defRPr sz="1875">
                <a:solidFill>
                  <a:srgbClr val="172B3A"/>
                </a:solidFill>
                <a:latin typeface="Arial Unicode MS"/>
                <a:ea typeface="Arial Unicode MS"/>
                <a:cs typeface="Arial Unicode MS"/>
              </a:defRPr>
            </a:lvl4pPr>
            <a:lvl5pPr>
              <a:buNone/>
              <a:defRPr sz="1875">
                <a:solidFill>
                  <a:srgbClr val="172B3A"/>
                </a:solidFill>
                <a:latin typeface="Arial Unicode MS"/>
                <a:ea typeface="Arial Unicode MS"/>
                <a:cs typeface="Arial Unicode MS"/>
              </a:defRPr>
            </a:lvl5pPr>
            <a:lvl6pPr>
              <a:buNone/>
              <a:defRPr sz="1875">
                <a:solidFill>
                  <a:srgbClr val="172B3A"/>
                </a:solidFill>
                <a:latin typeface="Arial Unicode MS"/>
                <a:ea typeface="Arial Unicode MS"/>
                <a:cs typeface="Arial Unicode MS"/>
              </a:defRPr>
            </a:lvl6pPr>
            <a:lvl7pPr>
              <a:buNone/>
              <a:defRPr sz="1875">
                <a:solidFill>
                  <a:srgbClr val="172B3A"/>
                </a:solidFill>
                <a:latin typeface="Arial Unicode MS"/>
                <a:ea typeface="Arial Unicode MS"/>
                <a:cs typeface="Arial Unicode MS"/>
              </a:defRPr>
            </a:lvl7pPr>
            <a:lvl8pPr>
              <a:buNone/>
              <a:defRPr sz="1875">
                <a:solidFill>
                  <a:srgbClr val="172B3A"/>
                </a:solidFill>
                <a:latin typeface="Arial Unicode MS"/>
                <a:ea typeface="Arial Unicode MS"/>
                <a:cs typeface="Arial Unicode MS"/>
              </a:defRPr>
            </a:lvl8pPr>
            <a:lvl9pPr>
              <a:buNone/>
              <a:defRPr sz="1875">
                <a:solidFill>
                  <a:srgbClr val="172B3A"/>
                </a:solidFill>
                <a:latin typeface="Arial Unicode MS"/>
                <a:ea typeface="Arial Unicode MS"/>
                <a:cs typeface="Arial Unicode MS"/>
              </a:defRPr>
            </a:lvl9pPr>
          </a:lstStyle>
          <a:p xmlns:a="http://schemas.openxmlformats.org/drawingml/2006/main">
            <a:pPr>
              <a:buNone/>
              <a:defRPr sz="1875">
                <a:solidFill>
                  <a:srgbClr val="172B3A"/>
                </a:solidFill>
                <a:latin typeface="Arial Unicode MS"/>
                <a:ea typeface="Arial Unicode MS"/>
                <a:cs typeface="Arial Unicode MS"/>
              </a:defRPr>
            </a:pPr>
            <a:r>
              <a:rPr sz="1875">
                <a:solidFill>
                  <a:srgbClr val="172B3A"/>
                </a:solidFill>
                <a:latin typeface="Arial Unicode MS"/>
                <a:ea typeface="Arial Unicode MS"/>
                <a:cs typeface="Arial Unicode MS"/>
              </a:rPr>
              <a:t>森林预测仍接近1.33 Ah，难以跟随后期实测容量下降。</a:t>
            </a:r>
          </a:p>
        </p:txBody>
      </p:sp>
    </p:spTree>
    <p:extLst>
      <p:ext uri="{BB962C8B-B14F-4D97-AF65-F5344CB8AC3E}">
        <p14:creationId xmlns:p14="http://schemas.microsoft.com/office/powerpoint/2010/main" val="11920153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33943C-D77C-4FED-9E67-DBA735CC9138}"/>
              </a:ext>
            </a:extLst>
          </p:cNvPr>
          <p:cNvSpPr>
            <a:spLocks xmlns:a="http://schemas.openxmlformats.org/drawingml/2006/main" noGrp="1"/>
          </p:cNvSpPr>
          <p:nvPr/>
        </p:nvSpPr>
        <p:spPr>
          <a:xfrm xmlns:a="http://schemas.openxmlformats.org/drawingml/2006/main">
            <a:off x="57150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a:solidFill>
                  <a:srgbClr val="172B3A"/>
                </a:solidFill>
                <a:latin typeface="Arial Unicode MS"/>
                <a:ea typeface="Arial Unicode MS"/>
                <a:cs typeface="Arial Unicode MS"/>
              </a:defRPr>
            </a:defPPr>
            <a:lvl1pPr>
              <a:buNone/>
              <a:defRPr sz="2925">
                <a:solidFill>
                  <a:srgbClr val="172B3A"/>
                </a:solidFill>
                <a:latin typeface="Arial Unicode MS"/>
                <a:ea typeface="Arial Unicode MS"/>
                <a:cs typeface="Arial Unicode MS"/>
              </a:defRPr>
            </a:lvl1pPr>
            <a:lvl2pPr>
              <a:buNone/>
              <a:defRPr sz="2925">
                <a:solidFill>
                  <a:srgbClr val="172B3A"/>
                </a:solidFill>
                <a:latin typeface="Arial Unicode MS"/>
                <a:ea typeface="Arial Unicode MS"/>
                <a:cs typeface="Arial Unicode MS"/>
              </a:defRPr>
            </a:lvl2pPr>
            <a:lvl3pPr>
              <a:buNone/>
              <a:defRPr sz="2925">
                <a:solidFill>
                  <a:srgbClr val="172B3A"/>
                </a:solidFill>
                <a:latin typeface="Arial Unicode MS"/>
                <a:ea typeface="Arial Unicode MS"/>
                <a:cs typeface="Arial Unicode MS"/>
              </a:defRPr>
            </a:lvl3pPr>
            <a:lvl4pPr>
              <a:buNone/>
              <a:defRPr sz="2925">
                <a:solidFill>
                  <a:srgbClr val="172B3A"/>
                </a:solidFill>
                <a:latin typeface="Arial Unicode MS"/>
                <a:ea typeface="Arial Unicode MS"/>
                <a:cs typeface="Arial Unicode MS"/>
              </a:defRPr>
            </a:lvl4pPr>
            <a:lvl5pPr>
              <a:buNone/>
              <a:defRPr sz="2925">
                <a:solidFill>
                  <a:srgbClr val="172B3A"/>
                </a:solidFill>
                <a:latin typeface="Arial Unicode MS"/>
                <a:ea typeface="Arial Unicode MS"/>
                <a:cs typeface="Arial Unicode MS"/>
              </a:defRPr>
            </a:lvl5pPr>
            <a:lvl6pPr>
              <a:buNone/>
              <a:defRPr sz="2925">
                <a:solidFill>
                  <a:srgbClr val="172B3A"/>
                </a:solidFill>
                <a:latin typeface="Arial Unicode MS"/>
                <a:ea typeface="Arial Unicode MS"/>
                <a:cs typeface="Arial Unicode MS"/>
              </a:defRPr>
            </a:lvl6pPr>
            <a:lvl7pPr>
              <a:buNone/>
              <a:defRPr sz="2925">
                <a:solidFill>
                  <a:srgbClr val="172B3A"/>
                </a:solidFill>
                <a:latin typeface="Arial Unicode MS"/>
                <a:ea typeface="Arial Unicode MS"/>
                <a:cs typeface="Arial Unicode MS"/>
              </a:defRPr>
            </a:lvl7pPr>
            <a:lvl8pPr>
              <a:buNone/>
              <a:defRPr sz="2925">
                <a:solidFill>
                  <a:srgbClr val="172B3A"/>
                </a:solidFill>
                <a:latin typeface="Arial Unicode MS"/>
                <a:ea typeface="Arial Unicode MS"/>
                <a:cs typeface="Arial Unicode MS"/>
              </a:defRPr>
            </a:lvl8pPr>
            <a:lvl9pPr>
              <a:buNone/>
              <a:defRPr sz="2925">
                <a:solidFill>
                  <a:srgbClr val="172B3A"/>
                </a:solidFill>
                <a:latin typeface="Arial Unicode MS"/>
                <a:ea typeface="Arial Unicode MS"/>
                <a:cs typeface="Arial Unicode MS"/>
              </a:defRPr>
            </a:lvl9pPr>
          </a:lstStyle>
          <a:p xmlns:a="http://schemas.openxmlformats.org/drawingml/2006/main">
            <a:pPr>
              <a:buNone/>
              <a:defRPr sz="2925">
                <a:solidFill>
                  <a:srgbClr val="172B3A"/>
                </a:solidFill>
                <a:latin typeface="Arial Unicode MS"/>
                <a:ea typeface="Arial Unicode MS"/>
                <a:cs typeface="Arial Unicode MS"/>
              </a:defRPr>
            </a:pPr>
            <a:r>
              <a:rPr sz="2925">
                <a:solidFill>
                  <a:srgbClr val="172B3A"/>
                </a:solidFill>
                <a:latin typeface="Arial Unicode MS"/>
                <a:ea typeface="Arial Unicode MS"/>
                <a:cs typeface="Arial Unicode MS"/>
              </a:rPr>
              <a:t>05 / 结果解释与版本记录</a:t>
            </a:r>
          </a:p>
        </p:txBody>
      </p:sp>
      <p:sp>
        <p:nvSpPr>
          <p:cNvPr id="2" name="">
            <a:extLst xmlns:a="http://schemas.openxmlformats.org/drawingml/2006/main">
              <a:ext uri="{FF2B5EF4-FFF2-40B4-BE49-F238E27FC236}">
                <a16:creationId xmlns:a16="http://schemas.microsoft.com/office/drawing/2014/main" id="{EF27347F-DC9F-492C-8E1A-4C283BC9C418}"/>
              </a:ext>
            </a:extLst>
          </p:cNvPr>
          <p:cNvSpPr>
            <a:spLocks xmlns:a="http://schemas.openxmlformats.org/drawingml/2006/main" noGrp="1"/>
          </p:cNvSpPr>
          <p:nvPr/>
        </p:nvSpPr>
        <p:spPr>
          <a:xfrm xmlns:a="http://schemas.openxmlformats.org/drawingml/2006/main">
            <a:off x="571500" y="6334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687985"/>
                </a:solidFill>
                <a:latin typeface="Arial Unicode MS"/>
                <a:ea typeface="Arial Unicode MS"/>
                <a:cs typeface="Arial Unicode MS"/>
              </a:defRPr>
            </a:defPPr>
            <a:lvl1pPr>
              <a:buNone/>
              <a:defRPr sz="1200">
                <a:solidFill>
                  <a:srgbClr val="687985"/>
                </a:solidFill>
                <a:latin typeface="Arial Unicode MS"/>
                <a:ea typeface="Arial Unicode MS"/>
                <a:cs typeface="Arial Unicode MS"/>
              </a:defRPr>
            </a:lvl1pPr>
            <a:lvl2pPr>
              <a:buNone/>
              <a:defRPr sz="1200">
                <a:solidFill>
                  <a:srgbClr val="687985"/>
                </a:solidFill>
                <a:latin typeface="Arial Unicode MS"/>
                <a:ea typeface="Arial Unicode MS"/>
                <a:cs typeface="Arial Unicode MS"/>
              </a:defRPr>
            </a:lvl2pPr>
            <a:lvl3pPr>
              <a:buNone/>
              <a:defRPr sz="1200">
                <a:solidFill>
                  <a:srgbClr val="687985"/>
                </a:solidFill>
                <a:latin typeface="Arial Unicode MS"/>
                <a:ea typeface="Arial Unicode MS"/>
                <a:cs typeface="Arial Unicode MS"/>
              </a:defRPr>
            </a:lvl3pPr>
            <a:lvl4pPr>
              <a:buNone/>
              <a:defRPr sz="1200">
                <a:solidFill>
                  <a:srgbClr val="687985"/>
                </a:solidFill>
                <a:latin typeface="Arial Unicode MS"/>
                <a:ea typeface="Arial Unicode MS"/>
                <a:cs typeface="Arial Unicode MS"/>
              </a:defRPr>
            </a:lvl4pPr>
            <a:lvl5pPr>
              <a:buNone/>
              <a:defRPr sz="1200">
                <a:solidFill>
                  <a:srgbClr val="687985"/>
                </a:solidFill>
                <a:latin typeface="Arial Unicode MS"/>
                <a:ea typeface="Arial Unicode MS"/>
                <a:cs typeface="Arial Unicode MS"/>
              </a:defRPr>
            </a:lvl5pPr>
            <a:lvl6pPr>
              <a:buNone/>
              <a:defRPr sz="1200">
                <a:solidFill>
                  <a:srgbClr val="687985"/>
                </a:solidFill>
                <a:latin typeface="Arial Unicode MS"/>
                <a:ea typeface="Arial Unicode MS"/>
                <a:cs typeface="Arial Unicode MS"/>
              </a:defRPr>
            </a:lvl6pPr>
            <a:lvl7pPr>
              <a:buNone/>
              <a:defRPr sz="1200">
                <a:solidFill>
                  <a:srgbClr val="687985"/>
                </a:solidFill>
                <a:latin typeface="Arial Unicode MS"/>
                <a:ea typeface="Arial Unicode MS"/>
                <a:cs typeface="Arial Unicode MS"/>
              </a:defRPr>
            </a:lvl7pPr>
            <a:lvl8pPr>
              <a:buNone/>
              <a:defRPr sz="1200">
                <a:solidFill>
                  <a:srgbClr val="687985"/>
                </a:solidFill>
                <a:latin typeface="Arial Unicode MS"/>
                <a:ea typeface="Arial Unicode MS"/>
                <a:cs typeface="Arial Unicode MS"/>
              </a:defRPr>
            </a:lvl8pPr>
            <a:lvl9pPr>
              <a:buNone/>
              <a:defRPr sz="1200">
                <a:solidFill>
                  <a:srgbClr val="687985"/>
                </a:solidFill>
                <a:latin typeface="Arial Unicode MS"/>
                <a:ea typeface="Arial Unicode MS"/>
                <a:cs typeface="Arial Unicode MS"/>
              </a:defRPr>
            </a:lvl9pPr>
          </a:lstStyle>
          <a:p xmlns:a="http://schemas.openxmlformats.org/drawingml/2006/main">
            <a:pPr>
              <a:buNone/>
              <a:defRPr sz="1200">
                <a:solidFill>
                  <a:srgbClr val="687985"/>
                </a:solidFill>
                <a:latin typeface="Arial Unicode MS"/>
                <a:ea typeface="Arial Unicode MS"/>
                <a:cs typeface="Arial Unicode MS"/>
              </a:defRPr>
            </a:pPr>
            <a:r>
              <a:rPr sz="1200">
                <a:solidFill>
                  <a:srgbClr val="687985"/>
                </a:solidFill>
                <a:latin typeface="Arial Unicode MS"/>
                <a:ea typeface="Arial Unicode MS"/>
                <a:cs typeface="Arial Unicode MS"/>
              </a:rPr>
              <a:t>工作过程记录  杨晓真 25121619  2026.10.28</a:t>
            </a:r>
          </a:p>
        </p:txBody>
      </p:sp>
      <p:sp>
        <p:nvSpPr>
          <p:cNvPr id="3" name="">
            <a:extLst xmlns:a="http://schemas.openxmlformats.org/drawingml/2006/main">
              <a:ext uri="{FF2B5EF4-FFF2-40B4-BE49-F238E27FC236}">
                <a16:creationId xmlns:a16="http://schemas.microsoft.com/office/drawing/2014/main" id="{EA7F18CD-F31C-4C75-8DFE-699494A1ED18}"/>
              </a:ext>
            </a:extLst>
          </p:cNvPr>
          <p:cNvSpPr>
            <a:spLocks xmlns:a="http://schemas.openxmlformats.org/drawingml/2006/main" noGrp="1"/>
          </p:cNvSpPr>
          <p:nvPr/>
        </p:nvSpPr>
        <p:spPr>
          <a:xfrm xmlns:a="http://schemas.openxmlformats.org/drawingml/2006/main">
            <a:off x="11144250" y="6334125"/>
            <a:ext cx="71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172B3A"/>
                </a:solidFill>
                <a:latin typeface="Arial Unicode MS"/>
                <a:ea typeface="Arial Unicode MS"/>
                <a:cs typeface="Arial Unicode MS"/>
              </a:defRPr>
            </a:defPPr>
            <a:lvl1pPr>
              <a:buNone/>
              <a:defRPr sz="1200">
                <a:solidFill>
                  <a:srgbClr val="172B3A"/>
                </a:solidFill>
                <a:latin typeface="Arial Unicode MS"/>
                <a:ea typeface="Arial Unicode MS"/>
                <a:cs typeface="Arial Unicode MS"/>
              </a:defRPr>
            </a:lvl1pPr>
            <a:lvl2pPr>
              <a:buNone/>
              <a:defRPr sz="1200">
                <a:solidFill>
                  <a:srgbClr val="172B3A"/>
                </a:solidFill>
                <a:latin typeface="Arial Unicode MS"/>
                <a:ea typeface="Arial Unicode MS"/>
                <a:cs typeface="Arial Unicode MS"/>
              </a:defRPr>
            </a:lvl2pPr>
            <a:lvl3pPr>
              <a:buNone/>
              <a:defRPr sz="1200">
                <a:solidFill>
                  <a:srgbClr val="172B3A"/>
                </a:solidFill>
                <a:latin typeface="Arial Unicode MS"/>
                <a:ea typeface="Arial Unicode MS"/>
                <a:cs typeface="Arial Unicode MS"/>
              </a:defRPr>
            </a:lvl3pPr>
            <a:lvl4pPr>
              <a:buNone/>
              <a:defRPr sz="1200">
                <a:solidFill>
                  <a:srgbClr val="172B3A"/>
                </a:solidFill>
                <a:latin typeface="Arial Unicode MS"/>
                <a:ea typeface="Arial Unicode MS"/>
                <a:cs typeface="Arial Unicode MS"/>
              </a:defRPr>
            </a:lvl4pPr>
            <a:lvl5pPr>
              <a:buNone/>
              <a:defRPr sz="1200">
                <a:solidFill>
                  <a:srgbClr val="172B3A"/>
                </a:solidFill>
                <a:latin typeface="Arial Unicode MS"/>
                <a:ea typeface="Arial Unicode MS"/>
                <a:cs typeface="Arial Unicode MS"/>
              </a:defRPr>
            </a:lvl5pPr>
            <a:lvl6pPr>
              <a:buNone/>
              <a:defRPr sz="1200">
                <a:solidFill>
                  <a:srgbClr val="172B3A"/>
                </a:solidFill>
                <a:latin typeface="Arial Unicode MS"/>
                <a:ea typeface="Arial Unicode MS"/>
                <a:cs typeface="Arial Unicode MS"/>
              </a:defRPr>
            </a:lvl6pPr>
            <a:lvl7pPr>
              <a:buNone/>
              <a:defRPr sz="1200">
                <a:solidFill>
                  <a:srgbClr val="172B3A"/>
                </a:solidFill>
                <a:latin typeface="Arial Unicode MS"/>
                <a:ea typeface="Arial Unicode MS"/>
                <a:cs typeface="Arial Unicode MS"/>
              </a:defRPr>
            </a:lvl7pPr>
            <a:lvl8pPr>
              <a:buNone/>
              <a:defRPr sz="1200">
                <a:solidFill>
                  <a:srgbClr val="172B3A"/>
                </a:solidFill>
                <a:latin typeface="Arial Unicode MS"/>
                <a:ea typeface="Arial Unicode MS"/>
                <a:cs typeface="Arial Unicode MS"/>
              </a:defRPr>
            </a:lvl8pPr>
            <a:lvl9pPr>
              <a:buNone/>
              <a:defRPr sz="1200">
                <a:solidFill>
                  <a:srgbClr val="172B3A"/>
                </a:solidFill>
                <a:latin typeface="Arial Unicode MS"/>
                <a:ea typeface="Arial Unicode MS"/>
                <a:cs typeface="Arial Unicode MS"/>
              </a:defRPr>
            </a:lvl9pPr>
          </a:lstStyle>
          <a:p xmlns:a="http://schemas.openxmlformats.org/drawingml/2006/main">
            <a:pPr>
              <a:buNone/>
              <a:defRPr sz="1200">
                <a:solidFill>
                  <a:srgbClr val="172B3A"/>
                </a:solidFill>
                <a:latin typeface="Arial Unicode MS"/>
                <a:ea typeface="Arial Unicode MS"/>
                <a:cs typeface="Arial Unicode MS"/>
              </a:defRPr>
            </a:pPr>
            <a:r>
              <a:rPr sz="1200">
                <a:solidFill>
                  <a:srgbClr val="172B3A"/>
                </a:solidFill>
                <a:latin typeface="Arial Unicode MS"/>
                <a:ea typeface="Arial Unicode MS"/>
                <a:cs typeface="Arial Unicode MS"/>
              </a:rPr>
              <a:t>21</a:t>
            </a:r>
          </a:p>
        </p:txBody>
      </p:sp>
      <p:sp>
        <p:nvSpPr>
          <p:cNvPr id="4" name="">
            <a:extLst xmlns:a="http://schemas.openxmlformats.org/drawingml/2006/main">
              <a:ext uri="{FF2B5EF4-FFF2-40B4-BE49-F238E27FC236}">
                <a16:creationId xmlns:a16="http://schemas.microsoft.com/office/drawing/2014/main" id="{A60AB486-355F-429A-B981-7BAD89AFF093}"/>
              </a:ext>
            </a:extLst>
          </p:cNvPr>
          <p:cNvSpPr>
            <a:spLocks xmlns:a="http://schemas.openxmlformats.org/drawingml/2006/main" noGrp="1"/>
          </p:cNvSpPr>
          <p:nvPr/>
        </p:nvSpPr>
        <p:spPr>
          <a:xfrm xmlns:a="http://schemas.openxmlformats.org/drawingml/2006/main">
            <a:off x="619125" y="1476375"/>
            <a:ext cx="1076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a:solidFill>
                  <a:srgbClr val="176B87"/>
                </a:solidFill>
                <a:latin typeface="Arial Unicode MS"/>
                <a:ea typeface="Arial Unicode MS"/>
                <a:cs typeface="Arial Unicode MS"/>
              </a:defRPr>
            </a:defPPr>
            <a:lvl1pPr>
              <a:buNone/>
              <a:defRPr sz="2175">
                <a:solidFill>
                  <a:srgbClr val="176B87"/>
                </a:solidFill>
                <a:latin typeface="Arial Unicode MS"/>
                <a:ea typeface="Arial Unicode MS"/>
                <a:cs typeface="Arial Unicode MS"/>
              </a:defRPr>
            </a:lvl1pPr>
            <a:lvl2pPr>
              <a:buNone/>
              <a:defRPr sz="2175">
                <a:solidFill>
                  <a:srgbClr val="176B87"/>
                </a:solidFill>
                <a:latin typeface="Arial Unicode MS"/>
                <a:ea typeface="Arial Unicode MS"/>
                <a:cs typeface="Arial Unicode MS"/>
              </a:defRPr>
            </a:lvl2pPr>
            <a:lvl3pPr>
              <a:buNone/>
              <a:defRPr sz="2175">
                <a:solidFill>
                  <a:srgbClr val="176B87"/>
                </a:solidFill>
                <a:latin typeface="Arial Unicode MS"/>
                <a:ea typeface="Arial Unicode MS"/>
                <a:cs typeface="Arial Unicode MS"/>
              </a:defRPr>
            </a:lvl3pPr>
            <a:lvl4pPr>
              <a:buNone/>
              <a:defRPr sz="2175">
                <a:solidFill>
                  <a:srgbClr val="176B87"/>
                </a:solidFill>
                <a:latin typeface="Arial Unicode MS"/>
                <a:ea typeface="Arial Unicode MS"/>
                <a:cs typeface="Arial Unicode MS"/>
              </a:defRPr>
            </a:lvl4pPr>
            <a:lvl5pPr>
              <a:buNone/>
              <a:defRPr sz="2175">
                <a:solidFill>
                  <a:srgbClr val="176B87"/>
                </a:solidFill>
                <a:latin typeface="Arial Unicode MS"/>
                <a:ea typeface="Arial Unicode MS"/>
                <a:cs typeface="Arial Unicode MS"/>
              </a:defRPr>
            </a:lvl5pPr>
            <a:lvl6pPr>
              <a:buNone/>
              <a:defRPr sz="2175">
                <a:solidFill>
                  <a:srgbClr val="176B87"/>
                </a:solidFill>
                <a:latin typeface="Arial Unicode MS"/>
                <a:ea typeface="Arial Unicode MS"/>
                <a:cs typeface="Arial Unicode MS"/>
              </a:defRPr>
            </a:lvl6pPr>
            <a:lvl7pPr>
              <a:buNone/>
              <a:defRPr sz="2175">
                <a:solidFill>
                  <a:srgbClr val="176B87"/>
                </a:solidFill>
                <a:latin typeface="Arial Unicode MS"/>
                <a:ea typeface="Arial Unicode MS"/>
                <a:cs typeface="Arial Unicode MS"/>
              </a:defRPr>
            </a:lvl7pPr>
            <a:lvl8pPr>
              <a:buNone/>
              <a:defRPr sz="2175">
                <a:solidFill>
                  <a:srgbClr val="176B87"/>
                </a:solidFill>
                <a:latin typeface="Arial Unicode MS"/>
                <a:ea typeface="Arial Unicode MS"/>
                <a:cs typeface="Arial Unicode MS"/>
              </a:defRPr>
            </a:lvl8pPr>
            <a:lvl9pPr>
              <a:buNone/>
              <a:defRPr sz="2175">
                <a:solidFill>
                  <a:srgbClr val="176B87"/>
                </a:solidFill>
                <a:latin typeface="Arial Unicode MS"/>
                <a:ea typeface="Arial Unicode MS"/>
                <a:cs typeface="Arial Unicode MS"/>
              </a:defRPr>
            </a:lvl9pPr>
          </a:lstStyle>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本次普通回归整体优于直接预测容量的随机森林</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基线仍有竞争力，不能凭算法复杂度判断效果</a:t>
            </a:r>
          </a:p>
          <a:p xmlns:a="http://schemas.openxmlformats.org/drawingml/2006/main">
            <a:pPr>
              <a:buNone/>
              <a:defRPr sz="2175">
                <a:solidFill>
                  <a:srgbClr val="176B87"/>
                </a:solidFill>
                <a:latin typeface="Arial Unicode MS"/>
                <a:ea typeface="Arial Unicode MS"/>
                <a:cs typeface="Arial Unicode MS"/>
              </a:defRPr>
            </a:pPr>
            <a:r>
              <a:rPr sz="2175">
                <a:solidFill>
                  <a:srgbClr val="176B87"/>
                </a:solidFill>
                <a:latin typeface="Arial Unicode MS"/>
                <a:ea typeface="Arial Unicode MS"/>
                <a:cs typeface="Arial Unicode MS"/>
              </a:rPr>
              <a:t>所有方法仅使用当时已知历史，保留失败案例</a:t>
            </a:r>
          </a:p>
        </p:txBody>
      </p:sp>
      <p:graphicFrame>
        <p:nvGraphicFramePr>
          <p:cNvPr id="5" name="">
            <a:extLst xmlns:a="http://schemas.openxmlformats.org/drawingml/2006/main">
              <a:ext uri="{FF2B5EF4-FFF2-40B4-BE49-F238E27FC236}">
                <a16:creationId xmlns:a16="http://schemas.microsoft.com/office/drawing/2014/main" id="{5BA34EF6-178D-42A7-8661-145360D927DE}"/>
              </a:ext>
            </a:extLst>
          </p:cNvPr>
          <p:cNvGraphicFramePr/>
          <p:nvPr/>
        </p:nvGraphicFramePr>
        <p:xfrm>
          <a:off xmlns:a="http://schemas.openxmlformats.org/drawingml/2006/main" x="619125" y="3476625"/>
          <a:ext xmlns:a="http://schemas.openxmlformats.org/drawingml/2006/main" cx="10763250" cy="2047875"/>
        </p:xfrm>
        <a:graphic xmlns:a="http://schemas.openxmlformats.org/drawingml/2006/main">
          <a:graphicData uri="http://schemas.openxmlformats.org/drawingml/2006/table">
            <a:tbl>
              <a:tblPr/>
              <a:tblGrid>
                <a:gridCol w="2571750"/>
                <a:gridCol w="8191500"/>
              </a:tblGrid>
              <a:tr h="511969">
                <a:tc>
                  <a:txBody>
                    <a:bodyPr/>
                    <a:lstStyle/>
                    <a:p>
                      <a:r>
                        <a:rPr sz="1875">
                          <a:solidFill>
                            <a:srgbClr val="FFFFFF"/>
                          </a:solidFill>
                          <a:latin typeface="Arial Unicode MS"/>
                          <a:ea typeface="Arial Unicode MS"/>
                          <a:cs typeface="Arial Unicode MS"/>
                        </a:rPr>
                        <a:t>独立版本</a:t>
                      </a:r>
                    </a:p>
                  </a:txBody>
                  <a:tcPr marL="91440" marR="91440" marT="45720" marB="45720">
                    <a:lnL w="9525">
                      <a:solidFill>
                        <a:srgbClr val="D6E0E5"/>
                      </a:solidFill>
                    </a:lnL>
                    <a:lnR w="9525">
                      <a:solidFill>
                        <a:srgbClr val="D6E0E5"/>
                      </a:solidFill>
                    </a:lnR>
                    <a:lnT w="9525">
                      <a:solidFill>
                        <a:srgbClr val="D6E0E5"/>
                      </a:solidFill>
                    </a:lnT>
                    <a:lnB w="9525">
                      <a:solidFill>
                        <a:srgbClr val="D6E0E5"/>
                      </a:solidFill>
                    </a:lnB>
                    <a:solidFill>
                      <a:srgbClr val="176B87"/>
                    </a:solidFill>
                  </a:tcPr>
                </a:tc>
                <a:tc>
                  <a:txBody>
                    <a:bodyPr/>
                    <a:lstStyle/>
                    <a:p>
                      <a:r>
                        <a:rPr sz="1875">
                          <a:solidFill>
                            <a:srgbClr val="FFFFFF"/>
                          </a:solidFill>
                          <a:latin typeface="Arial Unicode MS"/>
                          <a:ea typeface="Arial Unicode MS"/>
                          <a:cs typeface="Arial Unicode MS"/>
                        </a:rPr>
                        <a:t>保存内容</a:t>
                      </a:r>
                    </a:p>
                  </a:txBody>
                  <a:tcPr marL="91440" marR="91440" marT="45720" marB="45720">
                    <a:lnR w="9525">
                      <a:solidFill>
                        <a:srgbClr val="D6E0E5"/>
                      </a:solidFill>
                    </a:lnR>
                    <a:lnT w="9525">
                      <a:solidFill>
                        <a:srgbClr val="D6E0E5"/>
                      </a:solidFill>
                    </a:lnT>
                    <a:lnB w="9525">
                      <a:solidFill>
                        <a:srgbClr val="D6E0E5"/>
                      </a:solidFill>
                    </a:lnB>
                    <a:solidFill>
                      <a:srgbClr val="176B87"/>
                    </a:solidFill>
                  </a:tcPr>
                </a:tc>
              </a:tr>
              <a:tr h="511969">
                <a:tc>
                  <a:txBody>
                    <a:bodyPr/>
                    <a:lstStyle/>
                    <a:p>
                      <a:r>
                        <a:rPr sz="1875">
                          <a:solidFill>
                            <a:srgbClr val="172B3A"/>
                          </a:solidFill>
                          <a:latin typeface="Arial Unicode MS"/>
                          <a:ea typeface="Arial Unicode MS"/>
                          <a:cs typeface="Arial Unicode MS"/>
                        </a:rPr>
                        <a:t>a1a2940</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普通回归代码、参数、逐点预测和检查</a:t>
                      </a:r>
                    </a:p>
                  </a:txBody>
                  <a:tcPr marL="91440" marR="91440" marT="45720" marB="45720">
                    <a:lnR w="9525">
                      <a:solidFill>
                        <a:srgbClr val="D6E0E5"/>
                      </a:solidFill>
                    </a:lnR>
                    <a:lnB w="9525">
                      <a:solidFill>
                        <a:srgbClr val="D6E0E5"/>
                      </a:solidFill>
                    </a:lnB>
                    <a:solidFill>
                      <a:srgbClr val="F0F5F7"/>
                    </a:solidFill>
                  </a:tcPr>
                </a:tc>
              </a:tr>
              <a:tr h="511969">
                <a:tc>
                  <a:txBody>
                    <a:bodyPr/>
                    <a:lstStyle/>
                    <a:p>
                      <a:r>
                        <a:rPr sz="1875">
                          <a:solidFill>
                            <a:srgbClr val="172B3A"/>
                          </a:solidFill>
                          <a:latin typeface="Arial Unicode MS"/>
                          <a:ea typeface="Arial Unicode MS"/>
                          <a:cs typeface="Arial Unicode MS"/>
                        </a:rPr>
                        <a:t>8e4d38e</a:t>
                      </a:r>
                    </a:p>
                  </a:txBody>
                  <a:tcPr marL="91440" marR="91440" marT="45720" marB="45720">
                    <a:lnL w="9525">
                      <a:solidFill>
                        <a:srgbClr val="D6E0E5"/>
                      </a:solidFill>
                    </a:lnL>
                    <a:lnR w="9525">
                      <a:solidFill>
                        <a:srgbClr val="D6E0E5"/>
                      </a:solidFill>
                    </a:lnR>
                    <a:lnB w="9525">
                      <a:solidFill>
                        <a:srgbClr val="D6E0E5"/>
                      </a:solidFill>
                    </a:lnB>
                    <a:solidFill>
                      <a:srgbClr val="FFFFFF"/>
                    </a:solidFill>
                  </a:tcPr>
                </a:tc>
                <a:tc>
                  <a:txBody>
                    <a:bodyPr/>
                    <a:lstStyle/>
                    <a:p>
                      <a:r>
                        <a:rPr sz="1875">
                          <a:solidFill>
                            <a:srgbClr val="172B3A"/>
                          </a:solidFill>
                          <a:latin typeface="Arial Unicode MS"/>
                          <a:ea typeface="Arial Unicode MS"/>
                          <a:cs typeface="Arial Unicode MS"/>
                        </a:rPr>
                        <a:t>随机森林代码、验证搜索、模型和预测</a:t>
                      </a:r>
                    </a:p>
                  </a:txBody>
                  <a:tcPr marL="91440" marR="91440" marT="45720" marB="45720">
                    <a:lnR w="9525">
                      <a:solidFill>
                        <a:srgbClr val="D6E0E5"/>
                      </a:solidFill>
                    </a:lnR>
                    <a:lnB w="9525">
                      <a:solidFill>
                        <a:srgbClr val="D6E0E5"/>
                      </a:solidFill>
                    </a:lnB>
                    <a:solidFill>
                      <a:srgbClr val="FFFFFF"/>
                    </a:solidFill>
                  </a:tcPr>
                </a:tc>
              </a:tr>
              <a:tr h="511969">
                <a:tc>
                  <a:txBody>
                    <a:bodyPr/>
                    <a:lstStyle/>
                    <a:p>
                      <a:r>
                        <a:rPr sz="1875">
                          <a:solidFill>
                            <a:srgbClr val="172B3A"/>
                          </a:solidFill>
                          <a:latin typeface="Arial Unicode MS"/>
                          <a:ea typeface="Arial Unicode MS"/>
                          <a:cs typeface="Arial Unicode MS"/>
                        </a:rPr>
                        <a:t>本次报告</a:t>
                      </a:r>
                    </a:p>
                  </a:txBody>
                  <a:tcPr marL="91440" marR="91440" marT="45720" marB="45720">
                    <a:lnL w="9525">
                      <a:solidFill>
                        <a:srgbClr val="D6E0E5"/>
                      </a:solidFill>
                    </a:lnL>
                    <a:lnR w="9525">
                      <a:solidFill>
                        <a:srgbClr val="D6E0E5"/>
                      </a:solidFill>
                    </a:lnR>
                    <a:lnB w="9525">
                      <a:solidFill>
                        <a:srgbClr val="D6E0E5"/>
                      </a:solidFill>
                    </a:lnB>
                    <a:solidFill>
                      <a:srgbClr val="F0F5F7"/>
                    </a:solidFill>
                  </a:tcPr>
                </a:tc>
                <a:tc>
                  <a:txBody>
                    <a:bodyPr/>
                    <a:lstStyle/>
                    <a:p>
                      <a:r>
                        <a:rPr sz="1875">
                          <a:solidFill>
                            <a:srgbClr val="172B3A"/>
                          </a:solidFill>
                          <a:latin typeface="Arial Unicode MS"/>
                          <a:ea typeface="Arial Unicode MS"/>
                          <a:cs typeface="Arial Unicode MS"/>
                        </a:rPr>
                        <a:t>方法区别、容量外推限制和完整测试结果</a:t>
                      </a:r>
                    </a:p>
                  </a:txBody>
                  <a:tcPr marL="91440" marR="91440" marT="45720" marB="45720">
                    <a:lnR w="9525">
                      <a:solidFill>
                        <a:srgbClr val="D6E0E5"/>
                      </a:solidFill>
                    </a:lnR>
                    <a:lnB w="9525">
                      <a:solidFill>
                        <a:srgbClr val="D6E0E5"/>
                      </a:solidFill>
                    </a:lnB>
                    <a:solidFill>
                      <a:srgbClr val="F0F5F7"/>
                    </a:solidFill>
                  </a:tcPr>
                </a:tc>
              </a:tr>
            </a:tbl>
          </a:graphicData>
        </a:graphic>
      </p:graphicFrame>
      <p:sp>
        <p:nvSpPr>
          <p:cNvPr id="6" name="">
            <a:extLst xmlns:a="http://schemas.openxmlformats.org/drawingml/2006/main">
              <a:ext uri="{FF2B5EF4-FFF2-40B4-BE49-F238E27FC236}">
                <a16:creationId xmlns:a16="http://schemas.microsoft.com/office/drawing/2014/main" id="{C48CD9C3-4247-436D-9961-98085FC5748F}"/>
              </a:ext>
            </a:extLst>
          </p:cNvPr>
          <p:cNvSpPr>
            <a:spLocks xmlns:a="http://schemas.openxmlformats.org/drawingml/2006/main" noGrp="1"/>
          </p:cNvSpPr>
          <p:nvPr/>
        </p:nvSpPr>
        <p:spPr>
          <a:xfrm xmlns:a="http://schemas.openxmlformats.org/drawingml/2006/main">
            <a:off x="619125" y="58102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a:solidFill>
                  <a:srgbClr val="172B3A"/>
                </a:solidFill>
                <a:latin typeface="Arial Unicode MS"/>
                <a:ea typeface="Arial Unicode MS"/>
                <a:cs typeface="Arial Unicode MS"/>
              </a:defRPr>
            </a:defPPr>
            <a:lvl1pPr>
              <a:buNone/>
              <a:defRPr sz="1800">
                <a:solidFill>
                  <a:srgbClr val="172B3A"/>
                </a:solidFill>
                <a:latin typeface="Arial Unicode MS"/>
                <a:ea typeface="Arial Unicode MS"/>
                <a:cs typeface="Arial Unicode MS"/>
              </a:defRPr>
            </a:lvl1pPr>
            <a:lvl2pPr>
              <a:buNone/>
              <a:defRPr sz="1800">
                <a:solidFill>
                  <a:srgbClr val="172B3A"/>
                </a:solidFill>
                <a:latin typeface="Arial Unicode MS"/>
                <a:ea typeface="Arial Unicode MS"/>
                <a:cs typeface="Arial Unicode MS"/>
              </a:defRPr>
            </a:lvl2pPr>
            <a:lvl3pPr>
              <a:buNone/>
              <a:defRPr sz="1800">
                <a:solidFill>
                  <a:srgbClr val="172B3A"/>
                </a:solidFill>
                <a:latin typeface="Arial Unicode MS"/>
                <a:ea typeface="Arial Unicode MS"/>
                <a:cs typeface="Arial Unicode MS"/>
              </a:defRPr>
            </a:lvl3pPr>
            <a:lvl4pPr>
              <a:buNone/>
              <a:defRPr sz="1800">
                <a:solidFill>
                  <a:srgbClr val="172B3A"/>
                </a:solidFill>
                <a:latin typeface="Arial Unicode MS"/>
                <a:ea typeface="Arial Unicode MS"/>
                <a:cs typeface="Arial Unicode MS"/>
              </a:defRPr>
            </a:lvl4pPr>
            <a:lvl5pPr>
              <a:buNone/>
              <a:defRPr sz="1800">
                <a:solidFill>
                  <a:srgbClr val="172B3A"/>
                </a:solidFill>
                <a:latin typeface="Arial Unicode MS"/>
                <a:ea typeface="Arial Unicode MS"/>
                <a:cs typeface="Arial Unicode MS"/>
              </a:defRPr>
            </a:lvl5pPr>
            <a:lvl6pPr>
              <a:buNone/>
              <a:defRPr sz="1800">
                <a:solidFill>
                  <a:srgbClr val="172B3A"/>
                </a:solidFill>
                <a:latin typeface="Arial Unicode MS"/>
                <a:ea typeface="Arial Unicode MS"/>
                <a:cs typeface="Arial Unicode MS"/>
              </a:defRPr>
            </a:lvl6pPr>
            <a:lvl7pPr>
              <a:buNone/>
              <a:defRPr sz="1800">
                <a:solidFill>
                  <a:srgbClr val="172B3A"/>
                </a:solidFill>
                <a:latin typeface="Arial Unicode MS"/>
                <a:ea typeface="Arial Unicode MS"/>
                <a:cs typeface="Arial Unicode MS"/>
              </a:defRPr>
            </a:lvl7pPr>
            <a:lvl8pPr>
              <a:buNone/>
              <a:defRPr sz="1800">
                <a:solidFill>
                  <a:srgbClr val="172B3A"/>
                </a:solidFill>
                <a:latin typeface="Arial Unicode MS"/>
                <a:ea typeface="Arial Unicode MS"/>
                <a:cs typeface="Arial Unicode MS"/>
              </a:defRPr>
            </a:lvl8pPr>
            <a:lvl9pPr>
              <a:buNone/>
              <a:defRPr sz="1800">
                <a:solidFill>
                  <a:srgbClr val="172B3A"/>
                </a:solidFill>
                <a:latin typeface="Arial Unicode MS"/>
                <a:ea typeface="Arial Unicode MS"/>
                <a:cs typeface="Arial Unicode MS"/>
              </a:defRPr>
            </a:lvl9pPr>
          </a:lstStyle>
          <a:p xmlns:a="http://schemas.openxmlformats.org/drawingml/2006/main">
            <a:pPr>
              <a:buNone/>
              <a:defRPr sz="1800">
                <a:solidFill>
                  <a:srgbClr val="172B3A"/>
                </a:solidFill>
                <a:latin typeface="Arial Unicode MS"/>
                <a:ea typeface="Arial Unicode MS"/>
                <a:cs typeface="Arial Unicode MS"/>
              </a:defRPr>
            </a:pPr>
            <a:r>
              <a:rPr sz="1800">
                <a:solidFill>
                  <a:srgbClr val="172B3A"/>
                </a:solidFill>
                <a:latin typeface="Arial Unicode MS"/>
                <a:ea typeface="Arial Unicode MS"/>
                <a:cs typeface="Arial Unicode MS"/>
              </a:rPr>
              <a:t>仅4块电池与24℃条件，后续仍需要新电池和更多工况验证。</a:t>
            </a:r>
          </a:p>
        </p:txBody>
      </p:sp>
    </p:spTree>
    <p:extLst>
      <p:ext uri="{BB962C8B-B14F-4D97-AF65-F5344CB8AC3E}">
        <p14:creationId xmlns:p14="http://schemas.microsoft.com/office/powerpoint/2010/main" val="1617682106"/>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45952" cy="813816"/>
          </a:xfrm>
          <a:prstGeom prst="rect">
            <a:avLst/>
          </a:prstGeom>
          <a:noFill/>
        </p:spPr>
        <p:txBody>
          <a:bodyPr wrap="square">
            <a:spAutoFit/>
          </a:bodyPr>
          <a:lstStyle/>
          <a:p>
            <a:r>
              <a:rPr sz="2925" b="0">
                <a:latin typeface="Arial Unicode MS"/>
                <a:ea typeface="Arial Unicode MS"/>
              </a:rPr>
              <a:t>06 / 误差方向与容量高估风险</a:t>
            </a:r>
          </a:p>
        </p:txBody>
      </p:sp>
      <p:pic>
        <p:nvPicPr>
          <p:cNvPr id="3" name="Picture 2" descr="01_error_risk.png"/>
          <p:cNvPicPr>
            <a:picLocks noChangeAspect="1"/>
          </p:cNvPicPr>
          <p:nvPr/>
        </p:nvPicPr>
        <p:blipFill>
          <a:blip r:embed="rId2"/>
          <a:stretch>
            <a:fillRect/>
          </a:stretch>
        </p:blipFill>
        <p:spPr>
          <a:xfrm>
            <a:off x="621792" y="1325880"/>
            <a:ext cx="9107424" cy="3794759"/>
          </a:xfrm>
          <a:prstGeom prst="rect">
            <a:avLst/>
          </a:prstGeom>
        </p:spPr>
      </p:pic>
      <p:sp>
        <p:nvSpPr>
          <p:cNvPr id="4" name="TextBox 3"/>
          <p:cNvSpPr txBox="1"/>
          <p:nvPr/>
        </p:nvSpPr>
        <p:spPr>
          <a:xfrm>
            <a:off x="621792" y="5230368"/>
            <a:ext cx="10762488" cy="960120"/>
          </a:xfrm>
          <a:prstGeom prst="rect">
            <a:avLst/>
          </a:prstGeom>
          <a:noFill/>
        </p:spPr>
        <p:txBody>
          <a:bodyPr wrap="square">
            <a:spAutoFit/>
          </a:bodyPr>
          <a:lstStyle/>
          <a:p>
            <a:r>
              <a:rPr sz="1600" b="0">
                <a:latin typeface="Arial Unicode MS"/>
                <a:ea typeface="Arial Unicode MS"/>
              </a:rPr>
              <a:t>平均偏差（预测−实测）：回归 −0.0111 Ah、森林 +0.0444 Ah、基线 +0.0023 Ah。</a:t>
            </a:r>
          </a:p>
          <a:p>
            <a:r>
              <a:rPr sz="1600" b="0">
                <a:latin typeface="Arial Unicode MS"/>
                <a:ea typeface="Arial Unicode MS"/>
              </a:rPr>
              <a:t>森林在B0005、B0006、B0007的全部34个测试点上高估容量，B0006最大高估0.173 Ah。</a:t>
            </a:r>
          </a:p>
          <a:p>
            <a:r>
              <a:rPr sz="1600" b="0">
                <a:latin typeface="Arial Unicode MS"/>
                <a:ea typeface="Arial Unicode MS"/>
              </a:rPr>
              <a:t>高估比低估更危险；不能因为回归整体偏低估就断言它更安全。</a:t>
            </a:r>
          </a:p>
        </p:txBody>
      </p:sp>
      <p:sp>
        <p:nvSpPr>
          <p:cNvPr id="5" name="TextBox 4"/>
          <p:cNvSpPr txBox="1"/>
          <p:nvPr/>
        </p:nvSpPr>
        <p:spPr>
          <a:xfrm>
            <a:off x="566928" y="6336792"/>
            <a:ext cx="10479024" cy="283464"/>
          </a:xfrm>
          <a:prstGeom prst="rect">
            <a:avLst/>
          </a:prstGeom>
          <a:noFill/>
        </p:spPr>
        <p:txBody>
          <a:bodyPr wrap="square">
            <a:spAutoFit/>
          </a:bodyPr>
          <a:lstStyle/>
          <a:p>
            <a:r>
              <a:rPr sz="1200" b="0">
                <a:latin typeface="Arial Unicode MS"/>
                <a:ea typeface="Arial Unicode MS"/>
              </a:rPr>
              <a:t>工作过程记录  杨晓真 25121619  2026.10.28</a:t>
            </a:r>
          </a:p>
        </p:txBody>
      </p:sp>
      <p:sp>
        <p:nvSpPr>
          <p:cNvPr id="6" name="TextBox 5"/>
          <p:cNvSpPr txBox="1"/>
          <p:nvPr/>
        </p:nvSpPr>
        <p:spPr>
          <a:xfrm>
            <a:off x="11146536" y="6336792"/>
            <a:ext cx="713232" cy="283464"/>
          </a:xfrm>
          <a:prstGeom prst="rect">
            <a:avLst/>
          </a:prstGeom>
          <a:noFill/>
        </p:spPr>
        <p:txBody>
          <a:bodyPr wrap="square">
            <a:spAutoFit/>
          </a:bodyPr>
          <a:lstStyle/>
          <a:p>
            <a:r>
              <a:rPr sz="1200" b="0">
                <a:latin typeface="Arial Unicode MS"/>
                <a:ea typeface="Arial Unicode M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45952" cy="813816"/>
          </a:xfrm>
          <a:prstGeom prst="rect">
            <a:avLst/>
          </a:prstGeom>
          <a:noFill/>
        </p:spPr>
        <p:txBody>
          <a:bodyPr wrap="square">
            <a:spAutoFit/>
          </a:bodyPr>
          <a:lstStyle/>
          <a:p>
            <a:r>
              <a:rPr sz="2925" b="0">
                <a:latin typeface="Arial Unicode MS"/>
                <a:ea typeface="Arial Unicode MS"/>
              </a:rPr>
              <a:t>06 / 提前预警与寿命外推的不确定性</a:t>
            </a:r>
          </a:p>
        </p:txBody>
      </p:sp>
      <p:pic>
        <p:nvPicPr>
          <p:cNvPr id="3" name="Picture 2" descr="03_lifetime_sensitivity.png"/>
          <p:cNvPicPr>
            <a:picLocks noChangeAspect="1"/>
          </p:cNvPicPr>
          <p:nvPr/>
        </p:nvPicPr>
        <p:blipFill>
          <a:blip r:embed="rId2"/>
          <a:stretch>
            <a:fillRect/>
          </a:stretch>
        </p:blipFill>
        <p:spPr>
          <a:xfrm>
            <a:off x="621792" y="1325880"/>
            <a:ext cx="5692140" cy="3794760"/>
          </a:xfrm>
          <a:prstGeom prst="rect">
            <a:avLst/>
          </a:prstGeom>
        </p:spPr>
      </p:pic>
      <p:sp>
        <p:nvSpPr>
          <p:cNvPr id="4" name="TextBox 3"/>
          <p:cNvSpPr txBox="1"/>
          <p:nvPr/>
        </p:nvSpPr>
        <p:spPr>
          <a:xfrm>
            <a:off x="621792" y="5230368"/>
            <a:ext cx="10762488" cy="960120"/>
          </a:xfrm>
          <a:prstGeom prst="rect">
            <a:avLst/>
          </a:prstGeom>
          <a:noFill/>
        </p:spPr>
        <p:txBody>
          <a:bodyPr wrap="square">
            <a:spAutoFit/>
          </a:bodyPr>
          <a:lstStyle/>
          <a:p>
            <a:r>
              <a:rPr sz="1600" b="0">
                <a:latin typeface="Arial Unicode MS"/>
                <a:ea typeface="Arial Unicode MS"/>
              </a:rPr>
              <a:t>四块电池首次跌到80%研究阈值的循环为101、61、124、75，均早于测试起点135（B0018为106），单步预测无法验证提前预警。</a:t>
            </a:r>
          </a:p>
          <a:p>
            <a:r>
              <a:rPr sz="1600" b="0">
                <a:latin typeface="Arial Unicode MS"/>
                <a:ea typeface="Arial Unicode MS"/>
              </a:rPr>
              <a:t>241个滚动起点只对应4个真实事件：最近20次线性趋势检出3次，容量保持基线全部漏报。</a:t>
            </a:r>
          </a:p>
          <a:p>
            <a:r>
              <a:rPr sz="1600" b="0">
                <a:latin typeface="Arial Unicode MS"/>
                <a:ea typeface="Arial Unicode MS"/>
              </a:rPr>
              <a:t>仅用前30%与50%历史外推时B0005估到228.6、115.1次（实测101）；历史变长不保证更准，该范围不是置信区间。</a:t>
            </a:r>
          </a:p>
        </p:txBody>
      </p:sp>
      <p:sp>
        <p:nvSpPr>
          <p:cNvPr id="5" name="TextBox 4"/>
          <p:cNvSpPr txBox="1"/>
          <p:nvPr/>
        </p:nvSpPr>
        <p:spPr>
          <a:xfrm>
            <a:off x="566928" y="6336792"/>
            <a:ext cx="10479024" cy="283464"/>
          </a:xfrm>
          <a:prstGeom prst="rect">
            <a:avLst/>
          </a:prstGeom>
          <a:noFill/>
        </p:spPr>
        <p:txBody>
          <a:bodyPr wrap="square">
            <a:spAutoFit/>
          </a:bodyPr>
          <a:lstStyle/>
          <a:p>
            <a:r>
              <a:rPr sz="1200" b="0">
                <a:latin typeface="Arial Unicode MS"/>
                <a:ea typeface="Arial Unicode MS"/>
              </a:rPr>
              <a:t>工作过程记录  杨晓真 25121619  2026.10.28</a:t>
            </a:r>
          </a:p>
        </p:txBody>
      </p:sp>
      <p:sp>
        <p:nvSpPr>
          <p:cNvPr id="6" name="TextBox 5"/>
          <p:cNvSpPr txBox="1"/>
          <p:nvPr/>
        </p:nvSpPr>
        <p:spPr>
          <a:xfrm>
            <a:off x="11146536" y="6336792"/>
            <a:ext cx="713232" cy="283464"/>
          </a:xfrm>
          <a:prstGeom prst="rect">
            <a:avLst/>
          </a:prstGeom>
          <a:noFill/>
        </p:spPr>
        <p:txBody>
          <a:bodyPr wrap="square">
            <a:spAutoFit/>
          </a:bodyPr>
          <a:lstStyle/>
          <a:p>
            <a:r>
              <a:rPr sz="1200" b="0">
                <a:latin typeface="Arial Unicode MS"/>
                <a:ea typeface="Arial Unicode M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45952" cy="813816"/>
          </a:xfrm>
          <a:prstGeom prst="rect">
            <a:avLst/>
          </a:prstGeom>
          <a:noFill/>
        </p:spPr>
        <p:txBody>
          <a:bodyPr wrap="square">
            <a:spAutoFit/>
          </a:bodyPr>
          <a:lstStyle/>
          <a:p>
            <a:r>
              <a:rPr sz="2925" b="0">
                <a:latin typeface="Arial Unicode MS"/>
                <a:ea typeface="Arial Unicode MS"/>
              </a:rPr>
              <a:t>07 / 使用、维护与更换建议</a:t>
            </a:r>
          </a:p>
        </p:txBody>
      </p:sp>
      <p:sp>
        <p:nvSpPr>
          <p:cNvPr id="3" name="TextBox 2"/>
          <p:cNvSpPr txBox="1"/>
          <p:nvPr/>
        </p:nvSpPr>
        <p:spPr>
          <a:xfrm>
            <a:off x="621792" y="1417320"/>
            <a:ext cx="10762488" cy="4663440"/>
          </a:xfrm>
          <a:prstGeom prst="rect">
            <a:avLst/>
          </a:prstGeom>
          <a:noFill/>
        </p:spPr>
        <p:txBody>
          <a:bodyPr wrap="square">
            <a:spAutoFit/>
          </a:bodyPr>
          <a:lstStyle/>
          <a:p>
            <a:r>
              <a:rPr sz="2000" b="0">
                <a:latin typeface="Arial Unicode MS"/>
                <a:ea typeface="Arial Unicode MS"/>
              </a:rPr>
              <a:t>· 保留容量保持作参照基线：它不训练任何参数，平均误差最低，可作为判断其他模型的下限。</a:t>
            </a:r>
          </a:p>
          <a:p>
            <a:r>
              <a:rPr sz="2000" b="0">
                <a:latin typeface="Arial Unicode MS"/>
                <a:ea typeface="Arial Unicode MS"/>
              </a:rPr>
              <a:t>· 逐电池查看预测偏差与最大高估，不能只看平均RMSE；本次森林后期持续高估，不能据此乐观安排续航。</a:t>
            </a:r>
          </a:p>
          <a:p>
            <a:r>
              <a:rPr sz="2000" b="0">
                <a:latin typeface="Arial Unicode MS"/>
                <a:ea typeface="Arial Unicode MS"/>
              </a:rPr>
              <a:t>· 接近研究阈值（首循环容量的80%）时用新一轮实测复核再决策，不要凭早期线性交点确定更换日期。</a:t>
            </a:r>
          </a:p>
          <a:p>
            <a:r>
              <a:rPr sz="2000" b="0">
                <a:latin typeface="Arial Unicode MS"/>
                <a:ea typeface="Arial Unicode MS"/>
              </a:rPr>
              <a:t>· 不要把容量误差换算成飞行分钟数或剩余寿命；数据集缺少任务能耗、电流与内阻信息。</a:t>
            </a:r>
          </a:p>
          <a:p>
            <a:r>
              <a:rPr sz="2000" b="0">
                <a:latin typeface="Arial Unicode MS"/>
                <a:ea typeface="Arial Unicode MS"/>
              </a:rPr>
              <a:t>· 需要新电池与更多工况外部验证后才可推广；结论只适用于这四块电池、24℃与本次时间划分。</a:t>
            </a:r>
          </a:p>
        </p:txBody>
      </p:sp>
      <p:sp>
        <p:nvSpPr>
          <p:cNvPr id="4" name="TextBox 3"/>
          <p:cNvSpPr txBox="1"/>
          <p:nvPr/>
        </p:nvSpPr>
        <p:spPr>
          <a:xfrm>
            <a:off x="566928" y="6336792"/>
            <a:ext cx="10479024" cy="283464"/>
          </a:xfrm>
          <a:prstGeom prst="rect">
            <a:avLst/>
          </a:prstGeom>
          <a:noFill/>
        </p:spPr>
        <p:txBody>
          <a:bodyPr wrap="square">
            <a:spAutoFit/>
          </a:bodyPr>
          <a:lstStyle/>
          <a:p>
            <a:r>
              <a:rPr sz="1200" b="0">
                <a:latin typeface="Arial Unicode MS"/>
                <a:ea typeface="Arial Unicode MS"/>
              </a:rPr>
              <a:t>工作过程记录  杨晓真 25121619  2026.10.28</a:t>
            </a:r>
          </a:p>
        </p:txBody>
      </p:sp>
      <p:sp>
        <p:nvSpPr>
          <p:cNvPr id="5" name="TextBox 4"/>
          <p:cNvSpPr txBox="1"/>
          <p:nvPr/>
        </p:nvSpPr>
        <p:spPr>
          <a:xfrm>
            <a:off x="11146536" y="6336792"/>
            <a:ext cx="713232" cy="283464"/>
          </a:xfrm>
          <a:prstGeom prst="rect">
            <a:avLst/>
          </a:prstGeom>
          <a:noFill/>
        </p:spPr>
        <p:txBody>
          <a:bodyPr wrap="square">
            <a:spAutoFit/>
          </a:bodyPr>
          <a:lstStyle/>
          <a:p>
            <a:r>
              <a:rPr sz="1200" b="0">
                <a:latin typeface="Arial Unicode MS"/>
                <a:ea typeface="Arial Unicode MS"/>
              </a:rPr>
              <a:t>24</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2026-10-28T01:38:28.4090000Z</dcterms:created>
  <dcterms:modified xsi:type="dcterms:W3CDTF">2026-10-28T01:38:28.4090000Z</dcterms:modified>
</coreProperties>
</file>
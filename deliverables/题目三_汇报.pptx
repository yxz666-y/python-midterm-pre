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4" d="100"/>
          <a:sy n="104" d="100"/>
        </p:scale>
        <p:origin x="96" y="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66928" y="2103120"/>
            <a:ext cx="1104595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0">
                <a:latin typeface="Arial Unicode MS"/>
                <a:ea typeface="Arial Unicode MS"/>
              </a:rPr>
              <a:t>题目三  无人设备电池健康评估与剩余寿命预测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3383280"/>
            <a:ext cx="110459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latin typeface="Arial Unicode MS"/>
                <a:ea typeface="Arial Unicode MS"/>
              </a:rPr>
              <a:t>基于 NASA 四块锂电池的容量退化分析与预测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754880"/>
            <a:ext cx="1104595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latin typeface="Arial Unicode MS"/>
                <a:ea typeface="Arial Unicode MS"/>
              </a:rPr>
              <a:t>组号：待填        组长：待填</a:t>
            </a:r>
          </a:p>
          <a:p>
            <a:r>
              <a:rPr sz="1600" b="0">
                <a:latin typeface="Arial Unicode MS"/>
                <a:ea typeface="Arial Unicode MS"/>
              </a:rPr>
              <a:t>组员：待填        汇报日期：2026.10.31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66928" y="384048"/>
            <a:ext cx="110459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900" b="0">
                <a:latin typeface="Arial Unicode MS"/>
                <a:ea typeface="Arial Unicode MS"/>
              </a:rPr>
              <a:t>汇报内容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371600"/>
            <a:ext cx="10762488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0" dirty="0" err="1">
                <a:latin typeface="Arial Unicode MS"/>
                <a:ea typeface="Arial Unicode MS"/>
              </a:rPr>
              <a:t>四项基本任务的完成情况</a:t>
            </a:r>
            <a:r>
              <a:rPr sz="1900" b="0" dirty="0">
                <a:latin typeface="Arial Unicode MS"/>
                <a:ea typeface="Arial Unicode MS"/>
              </a:rPr>
              <a:t>：</a:t>
            </a:r>
          </a:p>
          <a:p>
            <a:r>
              <a:rPr sz="1900" b="0" dirty="0">
                <a:latin typeface="Arial Unicode MS"/>
                <a:ea typeface="Arial Unicode MS"/>
              </a:rPr>
              <a:t>① </a:t>
            </a:r>
            <a:r>
              <a:rPr sz="1900" b="0" dirty="0" err="1">
                <a:latin typeface="Arial Unicode MS"/>
                <a:ea typeface="Arial Unicode MS"/>
              </a:rPr>
              <a:t>退化曲线可视化与个体差异识别</a:t>
            </a:r>
            <a:endParaRPr sz="1900" b="0" dirty="0">
              <a:latin typeface="Arial Unicode MS"/>
              <a:ea typeface="Arial Unicode MS"/>
            </a:endParaRPr>
          </a:p>
          <a:p>
            <a:r>
              <a:rPr sz="1900" b="0" dirty="0">
                <a:latin typeface="Arial Unicode MS"/>
                <a:ea typeface="Arial Unicode MS"/>
              </a:rPr>
              <a:t>② </a:t>
            </a:r>
            <a:r>
              <a:rPr sz="1900" b="0" dirty="0" err="1">
                <a:latin typeface="Arial Unicode MS"/>
                <a:ea typeface="Arial Unicode MS"/>
              </a:rPr>
              <a:t>特征提取、两种模型构建与比较</a:t>
            </a:r>
            <a:endParaRPr sz="1900" b="0" dirty="0">
              <a:latin typeface="Arial Unicode MS"/>
              <a:ea typeface="Arial Unicode MS"/>
            </a:endParaRPr>
          </a:p>
          <a:p>
            <a:r>
              <a:rPr sz="1900" b="0" dirty="0">
                <a:latin typeface="Arial Unicode MS"/>
                <a:ea typeface="Arial Unicode MS"/>
              </a:rPr>
              <a:t>③ </a:t>
            </a:r>
            <a:r>
              <a:rPr sz="1900" b="0" dirty="0" err="1">
                <a:latin typeface="Arial Unicode MS"/>
                <a:ea typeface="Arial Unicode MS"/>
              </a:rPr>
              <a:t>提前预警与寿命外推场景下的不确定性与风险</a:t>
            </a:r>
            <a:endParaRPr sz="1900" b="0" dirty="0">
              <a:latin typeface="Arial Unicode MS"/>
              <a:ea typeface="Arial Unicode MS"/>
            </a:endParaRPr>
          </a:p>
          <a:p>
            <a:r>
              <a:rPr sz="1900" b="0" dirty="0">
                <a:latin typeface="Arial Unicode MS"/>
                <a:ea typeface="Arial Unicode MS"/>
              </a:rPr>
              <a:t>④ </a:t>
            </a:r>
            <a:r>
              <a:rPr sz="1900" b="0" dirty="0" err="1">
                <a:latin typeface="Arial Unicode MS"/>
                <a:ea typeface="Arial Unicode MS"/>
              </a:rPr>
              <a:t>使用、维护与更换策略的建议</a:t>
            </a:r>
            <a:endParaRPr sz="1900" b="0" dirty="0">
              <a:latin typeface="Arial Unicode MS"/>
              <a:ea typeface="Arial Unicode MS"/>
            </a:endParaRPr>
          </a:p>
          <a:p>
            <a:r>
              <a:rPr sz="1900" b="0" dirty="0" err="1">
                <a:latin typeface="Arial Unicode MS"/>
                <a:ea typeface="Arial Unicode MS"/>
              </a:rPr>
              <a:t>最后给出成员分工、复现方式与仓库链接</a:t>
            </a:r>
            <a:r>
              <a:rPr sz="1900" b="0" dirty="0">
                <a:latin typeface="Arial Unicode MS"/>
                <a:ea typeface="Arial Unicode MS"/>
              </a:rPr>
              <a:t>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5508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latin typeface="Arial Unicode MS"/>
                <a:ea typeface="Arial Unicode MS"/>
              </a:rPr>
              <a:t>题目三  无人设备电池健康评估与剩余寿命预测   2026.10.31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46536" y="6355080"/>
            <a:ext cx="7132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latin typeface="Arial Unicode MS"/>
                <a:ea typeface="Arial Unicode M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66928" y="384048"/>
            <a:ext cx="110459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900" b="0">
                <a:latin typeface="Arial Unicode MS"/>
                <a:ea typeface="Arial Unicode MS"/>
              </a:rPr>
              <a:t>数据与清洗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371600"/>
            <a:ext cx="10762488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latin typeface="Arial Unicode MS"/>
                <a:ea typeface="Arial Unicode MS"/>
              </a:rPr>
              <a:t>· 数据：NASA 四块锂电池放电循环记录，共 636 行，字段为编号、循环次数、容量（Ah）、温度（℃）。</a:t>
            </a:r>
          </a:p>
          <a:p>
            <a:r>
              <a:rPr sz="1600" b="0">
                <a:latin typeface="Arial Unicode MS"/>
                <a:ea typeface="Arial Unicode MS"/>
              </a:rPr>
              <a:t>· 规模：B0005、B0006、B0007 各 168 次循环，B0018 仅 132 次；温度恒为 24℃。</a:t>
            </a:r>
          </a:p>
          <a:p>
            <a:r>
              <a:rPr sz="1600" b="0">
                <a:latin typeface="Arial Unicode MS"/>
                <a:ea typeface="Arial Unicode MS"/>
              </a:rPr>
              <a:t>· 参考口径：数据不含厂家额定容量，一律以「首循环容量」为参考，不称为真实 SOH。</a:t>
            </a:r>
          </a:p>
          <a:p>
            <a:r>
              <a:rPr sz="1600" b="0">
                <a:latin typeface="Arial Unicode MS"/>
                <a:ea typeface="Arial Unicode MS"/>
              </a:rPr>
              <a:t>· 清洗检查：列名与顺序、缺失 0、完全重复 0、同电池同循环冲突 0、容量为正、循环从 1 连续。</a:t>
            </a:r>
          </a:p>
          <a:p>
            <a:r>
              <a:rPr sz="1600" b="0">
                <a:latin typeface="Arial Unicode MS"/>
                <a:ea typeface="Arial Unicode MS"/>
              </a:rPr>
              <a:t>· 缺失一律不填补；填 0 等于伪造观测值。</a:t>
            </a:r>
          </a:p>
          <a:p>
            <a:r>
              <a:rPr sz="1600" b="0">
                <a:latin typeface="Arial Unicode MS"/>
                <a:ea typeface="Arial Unicode MS"/>
              </a:rPr>
              <a:t>· 保留局部回升（B0005 22 次、B0006 18 次、B0007 34 次、B0018 21 次），不据此解释原因。</a:t>
            </a:r>
          </a:p>
          <a:p>
            <a:r>
              <a:rPr sz="1600" b="0">
                <a:latin typeface="Arial Unicode MS"/>
                <a:ea typeface="Arial Unicode MS"/>
              </a:rPr>
              <a:t>· 统计跳变：相邻变化量的 IQR 规则标记待核查 58 条、极端 30 条，阈值只用前 60% 数据估计；</a:t>
            </a:r>
          </a:p>
          <a:p>
            <a:r>
              <a:rPr sz="1600" b="0">
                <a:latin typeface="Arial Unicode MS"/>
                <a:ea typeface="Arial Unicode MS"/>
              </a:rPr>
              <a:t>  限幅版仅作对照，模型继续使用原值保留版。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5508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latin typeface="Arial Unicode MS"/>
                <a:ea typeface="Arial Unicode MS"/>
              </a:rPr>
              <a:t>题目三  无人设备电池健康评估与剩余寿命预测   2026.10.31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46536" y="6355080"/>
            <a:ext cx="7132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latin typeface="Arial Unicode MS"/>
                <a:ea typeface="Arial Unicode M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66928" y="384048"/>
            <a:ext cx="110459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0">
                <a:latin typeface="Arial Unicode MS"/>
                <a:ea typeface="Arial Unicode MS"/>
              </a:rPr>
              <a:t>可视化：容量退化与个体差异</a:t>
            </a:r>
          </a:p>
        </p:txBody>
      </p:sp>
      <p:pic>
        <p:nvPicPr>
          <p:cNvPr id="4" name="Picture 3" descr="01_capacity_all_cyc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234440"/>
            <a:ext cx="6126480" cy="334171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903720" y="1325880"/>
            <a:ext cx="44805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latin typeface="Arial Unicode MS"/>
                <a:ea typeface="Arial Unicode MS"/>
              </a:rPr>
              <a:t>四块电池的容量—循环曲线，全部观测值。</a:t>
            </a:r>
          </a:p>
          <a:p>
            <a:r>
              <a:rPr sz="1500" b="0">
                <a:latin typeface="Arial Unicode MS"/>
                <a:ea typeface="Arial Unicode MS"/>
              </a:rPr>
              <a:t>B0006 下降最快，B0007 最慢。</a:t>
            </a:r>
          </a:p>
          <a:p>
            <a:r>
              <a:rPr sz="1500" b="0">
                <a:latin typeface="Arial Unicode MS"/>
                <a:ea typeface="Arial Unicode MS"/>
              </a:rPr>
              <a:t>B0018 只观测到 132 次，</a:t>
            </a:r>
          </a:p>
          <a:p>
            <a:r>
              <a:rPr sz="1500" b="0">
                <a:latin typeface="Arial Unicode MS"/>
                <a:ea typeface="Arial Unicode MS"/>
              </a:rPr>
              <a:t>线条自然结束，不补齐、不插值。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5532120"/>
            <a:ext cx="1076248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latin typeface="Arial Unicode MS"/>
                <a:ea typeface="Arial Unicode MS"/>
              </a:rPr>
              <a:t>数据：NASA 四块锂电池放电循环记录，共 636 行；纵轴为实测容量（Ah）。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35508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latin typeface="Arial Unicode MS"/>
                <a:ea typeface="Arial Unicode MS"/>
              </a:rPr>
              <a:t>题目三  无人设备电池健康评估与剩余寿命预测   2026.10.31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46536" y="6355080"/>
            <a:ext cx="7132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latin typeface="Arial Unicode MS"/>
                <a:ea typeface="Arial Unicode M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66928" y="384048"/>
            <a:ext cx="110459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0">
                <a:latin typeface="Arial Unicode MS"/>
                <a:ea typeface="Arial Unicode MS"/>
              </a:rPr>
              <a:t>统一窗口后的差异量化</a:t>
            </a:r>
          </a:p>
        </p:txBody>
      </p:sp>
      <p:pic>
        <p:nvPicPr>
          <p:cNvPr id="4" name="Picture 3" descr="03_loss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234440"/>
            <a:ext cx="6126480" cy="336956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903720" y="1325880"/>
            <a:ext cx="44805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latin typeface="Arial Unicode MS"/>
                <a:ea typeface="Arial Unicode MS"/>
              </a:rPr>
              <a:t>共同窗口取所有电池都有的前 132 次，</a:t>
            </a:r>
          </a:p>
          <a:p>
            <a:r>
              <a:rPr sz="1500" b="0">
                <a:latin typeface="Arial Unicode MS"/>
                <a:ea typeface="Arial Unicode MS"/>
              </a:rPr>
              <a:t>保证比较公平。</a:t>
            </a:r>
          </a:p>
          <a:p>
            <a:r>
              <a:rPr sz="1500" b="0">
                <a:latin typeface="Arial Unicode MS"/>
                <a:ea typeface="Arial Unicode MS"/>
              </a:rPr>
              <a:t>同样经历 131 个循环间隔：</a:t>
            </a:r>
          </a:p>
          <a:p>
            <a:r>
              <a:rPr sz="1500" b="0">
                <a:latin typeface="Arial Unicode MS"/>
                <a:ea typeface="Arial Unicode MS"/>
              </a:rPr>
              <a:t>B0006 容量损失 35.36%，最多；</a:t>
            </a:r>
          </a:p>
          <a:p>
            <a:r>
              <a:rPr sz="1500" b="0">
                <a:latin typeface="Arial Unicode MS"/>
                <a:ea typeface="Arial Unicode MS"/>
              </a:rPr>
              <a:t>B0007 损失 21.90%，最少。</a:t>
            </a:r>
          </a:p>
          <a:p>
            <a:r>
              <a:rPr sz="1500" b="0">
                <a:latin typeface="Arial Unicode MS"/>
                <a:ea typeface="Arial Unicode MS"/>
              </a:rPr>
              <a:t>最多与最少相差 13.5 个百分点。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5532120"/>
            <a:ext cx="1076248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latin typeface="Arial Unicode MS"/>
                <a:ea typeface="Arial Unicode MS"/>
              </a:rPr>
              <a:t>同一横坐标下的容量损失与平均每循环损失量，差异主要来自电池个体本身。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35508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latin typeface="Arial Unicode MS"/>
                <a:ea typeface="Arial Unicode MS"/>
              </a:rPr>
              <a:t>题目三  无人设备电池健康评估与剩余寿命预测   2026.10.31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46536" y="6355080"/>
            <a:ext cx="7132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latin typeface="Arial Unicode MS"/>
                <a:ea typeface="Arial Unicode M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66928" y="384048"/>
            <a:ext cx="110459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0">
                <a:latin typeface="Arial Unicode MS"/>
                <a:ea typeface="Arial Unicode MS"/>
              </a:rPr>
              <a:t>特征与时间划分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371600"/>
            <a:ext cx="10762488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latin typeface="Arial Unicode MS"/>
                <a:ea typeface="Arial Unicode MS"/>
              </a:rPr>
              <a:t>· 任务：预测第 t 次循环容量时，只允许使用第 t 次之前已经测到的容量。</a:t>
            </a:r>
          </a:p>
          <a:p>
            <a:r>
              <a:rPr sz="1600" b="0">
                <a:latin typeface="Arial Unicode MS"/>
                <a:ea typeface="Arial Unicode MS"/>
              </a:rPr>
              <a:t>· 特征：上一次容量 lag1、前 5 次均值 mean5、前 5 次最小二乘斜率 slope5、循环序号 cycle。</a:t>
            </a:r>
          </a:p>
          <a:p>
            <a:r>
              <a:rPr sz="1600" b="0">
                <a:latin typeface="Arial Unicode MS"/>
                <a:ea typeface="Arial Unicode MS"/>
              </a:rPr>
              <a:t>· 防泄漏：先 shift(1) 再 rolling(5)，滚动窗口绝不越过当前预测目标。</a:t>
            </a:r>
          </a:p>
          <a:p>
            <a:r>
              <a:rPr sz="1600" b="0">
                <a:latin typeface="Arial Unicode MS"/>
                <a:ea typeface="Arial Unicode MS"/>
              </a:rPr>
              <a:t>· 时间划分：每块电池按时间顺序 60% 训练、20% 验证、20% 测试，不打乱顺序。</a:t>
            </a:r>
          </a:p>
          <a:p>
            <a:r>
              <a:rPr sz="1600" b="0">
                <a:latin typeface="Arial Unicode MS"/>
                <a:ea typeface="Arial Unicode MS"/>
              </a:rPr>
              <a:t>· 例：B0005 训练第 6–100 次、验证 101–134 次、测试 135–168 次。</a:t>
            </a:r>
          </a:p>
          <a:p>
            <a:r>
              <a:rPr sz="1600" b="0">
                <a:latin typeface="Arial Unicode MS"/>
                <a:ea typeface="Arial Unicode MS"/>
              </a:rPr>
              <a:t>· 丢弃每块电池前 5 条没有完整历史窗口的记录，共 616 条样本、129 个测试目标。</a:t>
            </a:r>
          </a:p>
          <a:p>
            <a:r>
              <a:rPr sz="1600" b="0">
                <a:latin typeface="Arial Unicode MS"/>
                <a:ea typeface="Arial Unicode MS"/>
              </a:rPr>
              <a:t>· 测试前在训练加验证段重新拟合，测试估计器固定不动。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5508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latin typeface="Arial Unicode MS"/>
                <a:ea typeface="Arial Unicode MS"/>
              </a:rPr>
              <a:t>题目三  无人设备电池健康评估与剩余寿命预测   2026.10.31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46536" y="6355080"/>
            <a:ext cx="7132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latin typeface="Arial Unicode MS"/>
                <a:ea typeface="Arial Unicode M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66928" y="384048"/>
            <a:ext cx="110459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0">
                <a:latin typeface="Arial Unicode MS"/>
                <a:ea typeface="Arial Unicode MS"/>
              </a:rPr>
              <a:t>三种方法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371600"/>
            <a:ext cx="10762488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latin typeface="Arial Unicode MS"/>
                <a:ea typeface="Arial Unicode MS"/>
              </a:rPr>
              <a:t>· 容量保持基线：把上一次实测容量直接当作预测值；它不训练任何参数，是必须跨过的下限。</a:t>
            </a:r>
          </a:p>
          <a:p>
            <a:r>
              <a:rPr sz="1600" b="0">
                <a:latin typeface="Arial Unicode MS"/>
                <a:ea typeface="Arial Unicode MS"/>
              </a:rPr>
              <a:t>· 普通最小二乘回归：四个相同输入的线性模型，无正则化、无参数搜索，可写出显式公式。</a:t>
            </a:r>
          </a:p>
          <a:p>
            <a:r>
              <a:rPr sz="1600" b="0">
                <a:latin typeface="Arial Unicode MS"/>
                <a:ea typeface="Arial Unicode MS"/>
              </a:rPr>
              <a:t>· 随机森林回归：300 棵树、固定随机种子 25121619，验证段比较 6 组树深与叶大小组合后选参。</a:t>
            </a:r>
          </a:p>
          <a:p>
            <a:r>
              <a:rPr sz="1600" b="0">
                <a:latin typeface="Arial Unicode MS"/>
                <a:ea typeface="Arial Unicode MS"/>
              </a:rPr>
              <a:t>· 三者使用完全相同的输入、相同的时间划分、相同的评价指标。</a:t>
            </a:r>
          </a:p>
          <a:p>
            <a:r>
              <a:rPr sz="1600" b="0">
                <a:latin typeface="Arial Unicode MS"/>
                <a:ea typeface="Arial Unicode MS"/>
              </a:rPr>
              <a:t>· 每块电池单独建模，指标先逐电池计算再做等权平均；129 个测试目标不代表 129 块独立电池。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5508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latin typeface="Arial Unicode MS"/>
                <a:ea typeface="Arial Unicode MS"/>
              </a:rPr>
              <a:t>题目三  无人设备电池健康评估与剩余寿命预测   2026.10.31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46536" y="6355080"/>
            <a:ext cx="7132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latin typeface="Arial Unicode MS"/>
                <a:ea typeface="Arial Unicode M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66928" y="384048"/>
            <a:ext cx="110459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0">
                <a:latin typeface="Arial Unicode MS"/>
                <a:ea typeface="Arial Unicode MS"/>
              </a:rPr>
              <a:t>预测误差对比</a:t>
            </a:r>
          </a:p>
        </p:txBody>
      </p:sp>
      <p:pic>
        <p:nvPicPr>
          <p:cNvPr id="4" name="Picture 3" descr="rmse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234440"/>
            <a:ext cx="6126480" cy="273889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903720" y="1325880"/>
            <a:ext cx="44805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latin typeface="Arial Unicode MS"/>
                <a:ea typeface="Arial Unicode MS"/>
              </a:rPr>
              <a:t>平均 RMSE：</a:t>
            </a:r>
          </a:p>
          <a:p>
            <a:r>
              <a:rPr sz="1500" b="0">
                <a:latin typeface="Arial Unicode MS"/>
                <a:ea typeface="Arial Unicode MS"/>
              </a:rPr>
              <a:t>基线 0.014425 Ah</a:t>
            </a:r>
          </a:p>
          <a:p>
            <a:r>
              <a:rPr sz="1500" b="0">
                <a:latin typeface="Arial Unicode MS"/>
                <a:ea typeface="Arial Unicode MS"/>
              </a:rPr>
              <a:t>回归 0.017370 Ah</a:t>
            </a:r>
          </a:p>
          <a:p>
            <a:r>
              <a:rPr sz="1500" b="0">
                <a:latin typeface="Arial Unicode MS"/>
                <a:ea typeface="Arial Unicode MS"/>
              </a:rPr>
              <a:t>森林 0.058766 Ah。</a:t>
            </a:r>
          </a:p>
          <a:p>
            <a:r>
              <a:rPr sz="1500" b="0">
                <a:latin typeface="Arial Unicode MS"/>
                <a:ea typeface="Arial Unicode MS"/>
              </a:rPr>
              <a:t>平均 MAE 排序相同。</a:t>
            </a:r>
          </a:p>
          <a:p>
            <a:r>
              <a:rPr sz="1500" b="0">
                <a:latin typeface="Arial Unicode MS"/>
                <a:ea typeface="Arial Unicode MS"/>
              </a:rPr>
              <a:t>两个主模型都没有赢过</a:t>
            </a:r>
          </a:p>
          <a:p>
            <a:r>
              <a:rPr sz="1500" b="0">
                <a:latin typeface="Arial Unicode MS"/>
                <a:ea typeface="Arial Unicode MS"/>
              </a:rPr>
              <a:t>不需要训练的朴素基线。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5532120"/>
            <a:ext cx="1076248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latin typeface="Arial Unicode MS"/>
                <a:ea typeface="Arial Unicode MS"/>
              </a:rPr>
              <a:t>各项指标均由逐点预测独立重算；129 个测试目标，24 组指标核对一致。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35508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latin typeface="Arial Unicode MS"/>
                <a:ea typeface="Arial Unicode MS"/>
              </a:rPr>
              <a:t>题目三  无人设备电池健康评估与剩余寿命预测   2026.10.31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46536" y="6355080"/>
            <a:ext cx="7132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latin typeface="Arial Unicode MS"/>
                <a:ea typeface="Arial Unicode M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80060" y="274638"/>
            <a:ext cx="110459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0">
                <a:latin typeface="Arial Unicode MS"/>
                <a:ea typeface="Arial Unicode MS"/>
              </a:rPr>
              <a:t>森林为什么会输</a:t>
            </a:r>
          </a:p>
        </p:txBody>
      </p:sp>
      <p:pic>
        <p:nvPicPr>
          <p:cNvPr id="4" name="Picture 3" descr="B0006_predic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234440"/>
            <a:ext cx="6126480" cy="234247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903720" y="1325880"/>
            <a:ext cx="44805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latin typeface="Arial Unicode MS"/>
                <a:ea typeface="Arial Unicode MS"/>
              </a:rPr>
              <a:t>树的预测值被限制在训练标签范围内，</a:t>
            </a:r>
          </a:p>
          <a:p>
            <a:r>
              <a:rPr sz="1500" b="0">
                <a:latin typeface="Arial Unicode MS"/>
                <a:ea typeface="Arial Unicode MS"/>
              </a:rPr>
              <a:t>无法外推到更低的容量水平。</a:t>
            </a:r>
          </a:p>
          <a:p>
            <a:r>
              <a:rPr sz="1500" b="0">
                <a:latin typeface="Arial Unicode MS"/>
                <a:ea typeface="Arial Unicode MS"/>
              </a:rPr>
              <a:t>实测跌破训练范围后，</a:t>
            </a:r>
          </a:p>
          <a:p>
            <a:r>
              <a:rPr sz="1500" b="0">
                <a:latin typeface="Arial Unicode MS"/>
                <a:ea typeface="Arial Unicode MS"/>
              </a:rPr>
              <a:t>预测仍停在 1.33 Ah 附近。</a:t>
            </a:r>
          </a:p>
          <a:p>
            <a:r>
              <a:rPr sz="1500" b="0">
                <a:latin typeface="Arial Unicode MS"/>
                <a:ea typeface="Arial Unicode MS"/>
              </a:rPr>
              <a:t>改进方向：改预测差分 Q(t)−Q(t−1)，</a:t>
            </a:r>
          </a:p>
          <a:p>
            <a:r>
              <a:rPr sz="1500" b="0">
                <a:latin typeface="Arial Unicode MS"/>
                <a:ea typeface="Arial Unicode MS"/>
              </a:rPr>
              <a:t>等价于「基线＋修正项」。</a:t>
            </a:r>
          </a:p>
          <a:p>
            <a:r>
              <a:rPr sz="1500" b="0">
                <a:latin typeface="Arial Unicode MS"/>
                <a:ea typeface="Arial Unicode MS"/>
              </a:rPr>
              <a:t>本次结果如实保留，未回调参。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5532120"/>
            <a:ext cx="1076248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latin typeface="Arial Unicode MS"/>
                <a:ea typeface="Arial Unicode MS"/>
              </a:rPr>
              <a:t>B0006 的实测、基线与两种模型预测；纵轴为容量（Ah）。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35508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latin typeface="Arial Unicode MS"/>
                <a:ea typeface="Arial Unicode MS"/>
              </a:rPr>
              <a:t>题目三  无人设备电池健康评估与剩余寿命预测   2026.10.31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46536" y="6355080"/>
            <a:ext cx="7132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latin typeface="Arial Unicode MS"/>
                <a:ea typeface="Arial Unicode MS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66928" y="384048"/>
            <a:ext cx="110459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0">
                <a:latin typeface="Arial Unicode MS"/>
                <a:ea typeface="Arial Unicode MS"/>
              </a:rPr>
              <a:t>不确定性一：误差方向与高估风险</a:t>
            </a:r>
          </a:p>
        </p:txBody>
      </p:sp>
      <p:pic>
        <p:nvPicPr>
          <p:cNvPr id="4" name="Picture 3" descr="01_error_ris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234440"/>
            <a:ext cx="6126480" cy="25527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903720" y="1325880"/>
            <a:ext cx="44805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latin typeface="Arial Unicode MS"/>
                <a:ea typeface="Arial Unicode MS"/>
              </a:rPr>
              <a:t>平均偏差（预测−实测）：</a:t>
            </a:r>
          </a:p>
          <a:p>
            <a:r>
              <a:rPr sz="1500" b="0">
                <a:latin typeface="Arial Unicode MS"/>
                <a:ea typeface="Arial Unicode MS"/>
              </a:rPr>
              <a:t>回归 −0.0111 Ah，偏低估；</a:t>
            </a:r>
          </a:p>
          <a:p>
            <a:r>
              <a:rPr sz="1500" b="0">
                <a:latin typeface="Arial Unicode MS"/>
                <a:ea typeface="Arial Unicode MS"/>
              </a:rPr>
              <a:t>森林 +0.0444 Ah，高估；</a:t>
            </a:r>
          </a:p>
          <a:p>
            <a:r>
              <a:rPr sz="1500" b="0">
                <a:latin typeface="Arial Unicode MS"/>
                <a:ea typeface="Arial Unicode MS"/>
              </a:rPr>
              <a:t>基线 +0.0023 Ah。</a:t>
            </a:r>
          </a:p>
          <a:p>
            <a:r>
              <a:rPr sz="1500" b="0">
                <a:latin typeface="Arial Unicode MS"/>
                <a:ea typeface="Arial Unicode MS"/>
              </a:rPr>
              <a:t>森林在三块电池的全部</a:t>
            </a:r>
          </a:p>
          <a:p>
            <a:r>
              <a:rPr sz="1500" b="0">
                <a:latin typeface="Arial Unicode MS"/>
                <a:ea typeface="Arial Unicode MS"/>
              </a:rPr>
              <a:t>测试点上高估容量，</a:t>
            </a:r>
          </a:p>
          <a:p>
            <a:r>
              <a:rPr sz="1500" b="0">
                <a:latin typeface="Arial Unicode MS"/>
                <a:ea typeface="Arial Unicode MS"/>
              </a:rPr>
              <a:t>B0006 最大高估 0.173 Ah。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5532120"/>
            <a:ext cx="1076248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latin typeface="Arial Unicode MS"/>
                <a:ea typeface="Arial Unicode MS"/>
              </a:rPr>
              <a:t>高估容量比低估更危险，不能因为回归整体偏低估就断言它更安全。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35508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latin typeface="Arial Unicode MS"/>
                <a:ea typeface="Arial Unicode MS"/>
              </a:rPr>
              <a:t>题目三  无人设备电池健康评估与剩余寿命预测   2026.10.31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46536" y="6355080"/>
            <a:ext cx="7132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latin typeface="Arial Unicode MS"/>
                <a:ea typeface="Arial Unicode M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66928" y="384048"/>
            <a:ext cx="110459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0">
                <a:latin typeface="Arial Unicode MS"/>
                <a:ea typeface="Arial Unicode MS"/>
              </a:rPr>
              <a:t>不确定性二：提前预警与寿命外推</a:t>
            </a:r>
          </a:p>
        </p:txBody>
      </p:sp>
      <p:pic>
        <p:nvPicPr>
          <p:cNvPr id="4" name="Picture 3" descr="03_lifetime_sensitiv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234440"/>
            <a:ext cx="6126480" cy="40843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903720" y="1325880"/>
            <a:ext cx="44805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latin typeface="Arial Unicode MS"/>
                <a:ea typeface="Arial Unicode MS"/>
              </a:rPr>
              <a:t>首次跌破 80% 研究阈值：</a:t>
            </a:r>
          </a:p>
          <a:p>
            <a:r>
              <a:rPr sz="1500" b="0">
                <a:latin typeface="Arial Unicode MS"/>
                <a:ea typeface="Arial Unicode MS"/>
              </a:rPr>
              <a:t>第 101、61、124、75 次循环，</a:t>
            </a:r>
          </a:p>
          <a:p>
            <a:r>
              <a:rPr sz="1500" b="0">
                <a:latin typeface="Arial Unicode MS"/>
                <a:ea typeface="Arial Unicode MS"/>
              </a:rPr>
              <a:t>均早于测试段起点 135 / 106，</a:t>
            </a:r>
          </a:p>
          <a:p>
            <a:r>
              <a:rPr sz="1500" b="0">
                <a:latin typeface="Arial Unicode MS"/>
                <a:ea typeface="Arial Unicode MS"/>
              </a:rPr>
              <a:t>单步预测无法验证提前预警。</a:t>
            </a:r>
          </a:p>
          <a:p>
            <a:r>
              <a:rPr sz="1500" b="0">
                <a:latin typeface="Arial Unicode MS"/>
                <a:ea typeface="Arial Unicode MS"/>
              </a:rPr>
              <a:t>外推随历史长度剧烈变化：</a:t>
            </a:r>
          </a:p>
          <a:p>
            <a:r>
              <a:rPr sz="1500" b="0">
                <a:latin typeface="Arial Unicode MS"/>
                <a:ea typeface="Arial Unicode MS"/>
              </a:rPr>
              <a:t>B0005 前 30% 估第 228.6 次、</a:t>
            </a:r>
          </a:p>
          <a:p>
            <a:r>
              <a:rPr sz="1500" b="0">
                <a:latin typeface="Arial Unicode MS"/>
                <a:ea typeface="Arial Unicode MS"/>
              </a:rPr>
              <a:t>前 50% 估 115.1 次，实测 101 次。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5532120"/>
            <a:ext cx="1076248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latin typeface="Arial Unicode MS"/>
                <a:ea typeface="Arial Unicode MS"/>
              </a:rPr>
              <a:t>该范围反映外推敏感性，不是置信区间；241 个滚动起点仅有 4 个真实事件。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35508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latin typeface="Arial Unicode MS"/>
                <a:ea typeface="Arial Unicode MS"/>
              </a:rPr>
              <a:t>题目三  无人设备电池健康评估与剩余寿命预测   2026.10.31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46536" y="6355080"/>
            <a:ext cx="7132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latin typeface="Arial Unicode MS"/>
                <a:ea typeface="Arial Unicode M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66928" y="384048"/>
            <a:ext cx="110459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0">
                <a:latin typeface="Arial Unicode MS"/>
                <a:ea typeface="Arial Unicode MS"/>
              </a:rPr>
              <a:t>使用、维护与更换建议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371600"/>
            <a:ext cx="10762488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latin typeface="Arial Unicode MS"/>
                <a:ea typeface="Arial Unicode MS"/>
              </a:rPr>
              <a:t>· 保留容量保持作参照基线：它不需要训练，平均误差最低，可作为判断任何模型的下限。</a:t>
            </a:r>
          </a:p>
          <a:p>
            <a:r>
              <a:rPr sz="1600" b="0">
                <a:latin typeface="Arial Unicode MS"/>
                <a:ea typeface="Arial Unicode MS"/>
              </a:rPr>
              <a:t>· 逐电池查看预测偏差与最大高估，不能只看平均 RMSE；本次森林后期持续高估，不能据此乐观安排续航。</a:t>
            </a:r>
          </a:p>
          <a:p>
            <a:r>
              <a:rPr sz="1600" b="0">
                <a:latin typeface="Arial Unicode MS"/>
                <a:ea typeface="Arial Unicode MS"/>
              </a:rPr>
              <a:t>· 接近研究阈值（首循环容量的 80%）时用新一轮实测复核再决策，不要凭早期线性交点确定更换日期。</a:t>
            </a:r>
          </a:p>
          <a:p>
            <a:r>
              <a:rPr sz="1600" b="0">
                <a:latin typeface="Arial Unicode MS"/>
                <a:ea typeface="Arial Unicode MS"/>
              </a:rPr>
              <a:t>· 不要把容量误差换算成飞行分钟数或剩余寿命；数据集缺少任务能耗、电流与内阻信息。</a:t>
            </a:r>
          </a:p>
          <a:p>
            <a:r>
              <a:rPr sz="1600" b="0">
                <a:latin typeface="Arial Unicode MS"/>
                <a:ea typeface="Arial Unicode MS"/>
              </a:rPr>
              <a:t>· 需要新电池与更多工况外部验证后才可推广；结论只适用于这四块电池、24℃ 与本次时间划分。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5508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latin typeface="Arial Unicode MS"/>
                <a:ea typeface="Arial Unicode MS"/>
              </a:rPr>
              <a:t>题目三  无人设备电池健康评估与剩余寿命预测   2026.10.31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46536" y="6355080"/>
            <a:ext cx="7132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latin typeface="Arial Unicode MS"/>
                <a:ea typeface="Arial Unicode M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66928" y="384048"/>
            <a:ext cx="110459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0">
                <a:latin typeface="Arial Unicode MS"/>
                <a:ea typeface="Arial Unicode MS"/>
              </a:rPr>
              <a:t>成员分工、复现与仓库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21792" y="1325880"/>
          <a:ext cx="10762488" cy="1821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874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874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874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4340">
                <a:tc>
                  <a:txBody>
                    <a:bodyPr/>
                    <a:lstStyle/>
                    <a:p>
                      <a:r>
                        <a:rPr sz="1400" b="1">
                          <a:latin typeface="Arial Unicode MS"/>
                          <a:ea typeface="Arial Unicode MS"/>
                        </a:rPr>
                        <a:t>成员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>
                          <a:latin typeface="Arial Unicode MS"/>
                          <a:ea typeface="Arial Unicode MS"/>
                        </a:rPr>
                        <a:t>承担模块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>
                          <a:latin typeface="Arial Unicode MS"/>
                          <a:ea typeface="Arial Unicode MS"/>
                        </a:rPr>
                        <a:t>对应提交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r>
                        <a:rPr sz="1400" b="0">
                          <a:latin typeface="Arial Unicode MS"/>
                          <a:ea typeface="Arial Unicode MS"/>
                        </a:rPr>
                        <a:t>杨晓真 25121619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 dirty="0">
                          <a:latin typeface="Arial Unicode MS"/>
                          <a:ea typeface="Arial Unicode MS"/>
                        </a:rPr>
                        <a:t>建模与比较（06/07/08）、</a:t>
                      </a:r>
                      <a:r>
                        <a:rPr sz="1400" b="0" dirty="0" err="1">
                          <a:latin typeface="Arial Unicode MS"/>
                          <a:ea typeface="Arial Unicode MS"/>
                        </a:rPr>
                        <a:t>报告与过程PPT</a:t>
                      </a:r>
                      <a:endParaRPr sz="1400" b="0" dirty="0">
                        <a:latin typeface="Arial Unicode MS"/>
                        <a:ea typeface="Arial Unicode M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 dirty="0">
                          <a:latin typeface="Arial Unicode MS"/>
                          <a:ea typeface="Arial Unicode MS"/>
                        </a:rPr>
                        <a:t>0b358f3 8e4d38e a1a2940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r>
                        <a:rPr sz="1400" b="0">
                          <a:latin typeface="Arial Unicode MS"/>
                          <a:ea typeface="Arial Unicode MS"/>
                        </a:rPr>
                        <a:t>待填（本机 xxl-im）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 dirty="0">
                          <a:latin typeface="Arial Unicode MS"/>
                          <a:ea typeface="Arial Unicode MS"/>
                        </a:rPr>
                        <a:t>数据读取与清洗（01/01b）、</a:t>
                      </a:r>
                      <a:r>
                        <a:rPr sz="1400" b="0" dirty="0" err="1">
                          <a:latin typeface="Arial Unicode MS"/>
                          <a:ea typeface="Arial Unicode MS"/>
                        </a:rPr>
                        <a:t>检查用例与章节</a:t>
                      </a:r>
                      <a:endParaRPr sz="1400" b="0" dirty="0">
                        <a:latin typeface="Arial Unicode MS"/>
                        <a:ea typeface="Arial Unicode M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 dirty="0">
                          <a:latin typeface="Arial Unicode MS"/>
                          <a:ea typeface="Arial Unicode MS"/>
                        </a:rPr>
                        <a:t>4efe518 994f659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r>
                        <a:rPr sz="1400" b="0">
                          <a:latin typeface="Arial Unicode MS"/>
                          <a:ea typeface="Arial Unicode MS"/>
                        </a:rPr>
                        <a:t>待填（Buln1120）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 dirty="0">
                          <a:latin typeface="Arial Unicode MS"/>
                          <a:ea typeface="Arial Unicode MS"/>
                        </a:rPr>
                        <a:t>第九步评估与不确定性（09）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 dirty="0">
                          <a:latin typeface="Arial Unicode MS"/>
                          <a:ea typeface="Arial Unicode MS"/>
                        </a:rPr>
                        <a:t>90ff04a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21792" y="3337560"/>
            <a:ext cx="10762488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latin typeface="Arial Unicode MS"/>
                <a:ea typeface="Arial Unicode MS"/>
              </a:rPr>
              <a:t>· 全仓 37 项自动化测试通过：清洗 7 项、跳变对照 3 项、回归 5 项、森林 4 项、第九步 18 项。</a:t>
            </a:r>
          </a:p>
          <a:p>
            <a:r>
              <a:rPr sz="1500" b="0">
                <a:latin typeface="Arial Unicode MS"/>
                <a:ea typeface="Arial Unicode MS"/>
              </a:rPr>
              <a:t>· 运行顺序：01 → 01b → 02 → 06 → 07 → 08 → 09，再执行 python -m unittest discover -s tests。</a:t>
            </a:r>
          </a:p>
          <a:p>
            <a:r>
              <a:rPr sz="1500" b="0">
                <a:latin typeface="Arial Unicode MS"/>
                <a:ea typeface="Arial Unicode MS"/>
              </a:rPr>
              <a:t>· 依赖：numpy、pandas、matplotlib、scikit-learn，图表默认使用 Arial Unicode MS。</a:t>
            </a:r>
          </a:p>
          <a:p>
            <a:r>
              <a:rPr sz="1500" b="0">
                <a:latin typeface="Arial Unicode MS"/>
                <a:ea typeface="Arial Unicode MS"/>
              </a:rPr>
              <a:t>· 仓库：https://github.com/yxz666-Y/python-midterm-pre</a:t>
            </a:r>
          </a:p>
          <a:p>
            <a:r>
              <a:rPr sz="1500" b="0">
                <a:latin typeface="Arial Unicode MS"/>
                <a:ea typeface="Arial Unicode MS"/>
              </a:rPr>
              <a:t>· 结论局限：只有四块电池、单一温度与一次时间划分，尚未做滚动起点重验与多工况外部验证。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35508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latin typeface="Arial Unicode MS"/>
                <a:ea typeface="Arial Unicode MS"/>
              </a:rPr>
              <a:t>题目三  无人设备电池健康评估与剩余寿命预测   2026.10.31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46536" y="6355080"/>
            <a:ext cx="7132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latin typeface="Arial Unicode MS"/>
                <a:ea typeface="Arial Unicode MS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173</TotalTime>
  <Words>769</Words>
  <Application>Microsoft Office PowerPoint</Application>
  <PresentationFormat>宽屏</PresentationFormat>
  <Paragraphs>132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17" baseType="lpstr">
      <vt:lpstr>Arial Unicode MS</vt:lpstr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Eileen Ye</cp:lastModifiedBy>
  <cp:revision>2</cp:revision>
  <dcterms:created xsi:type="dcterms:W3CDTF">2013-01-27T09:14:16Z</dcterms:created>
  <dcterms:modified xsi:type="dcterms:W3CDTF">2026-10-30T10:10:55Z</dcterms:modified>
  <cp:category/>
</cp:coreProperties>
</file>